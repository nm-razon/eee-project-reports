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1794" y="2475433"/>
            <a:ext cx="747585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0910" y="1749298"/>
            <a:ext cx="10330180" cy="4620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orld-of-photonics.com/en/photonics-industry-portal/detail/euv-lithography.html" TargetMode="External"/><Relationship Id="rId13" Type="http://schemas.openxmlformats.org/officeDocument/2006/relationships/hyperlink" Target="https://www.linkedin.com/pulse/lithography-process-technology-processors-kawarjeet-yadav" TargetMode="External"/><Relationship Id="rId3" Type="http://schemas.openxmlformats.org/officeDocument/2006/relationships/hyperlink" Target="https://ppl-ai-file-upload.s3.amazonaws.com/web/direct-files/collection_17c980c9-13c3-494e-9935-5794d024f58a/3a9fdf71-c052-47dd-aa33-eeed721a71bd/LP_EEE413_1_Spring2026.pdf" TargetMode="External"/><Relationship Id="rId7" Type="http://schemas.openxmlformats.org/officeDocument/2006/relationships/hyperlink" Target="https://en.wikipedia.org/wiki/3_nm_process" TargetMode="External"/><Relationship Id="rId12" Type="http://schemas.openxmlformats.org/officeDocument/2006/relationships/hyperlink" Target="https://www.imec-int.com/en/articles/entering-high-na-euv-lithography-era" TargetMode="External"/><Relationship Id="rId2" Type="http://schemas.openxmlformats.org/officeDocument/2006/relationships/hyperlink" Target="https://www.asml.com/en/products/euv-lithography-systems" TargetMode="External"/><Relationship Id="rId16" Type="http://schemas.openxmlformats.org/officeDocument/2006/relationships/hyperlink" Target="https://www.oist.jp/news-center/news/2024/7/29/innovative-euv-lithography-technology-dramatically-increases-energy-efficiency-and-reduces-capit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sml.com/products/euv-lithography-systems/twinscan-nxe3400c" TargetMode="External"/><Relationship Id="rId11" Type="http://schemas.openxmlformats.org/officeDocument/2006/relationships/hyperlink" Target="https://stellarix.com/insights/articles/next-generation-lithography-an-efficient-choice-for-fabrication/" TargetMode="External"/><Relationship Id="rId5" Type="http://schemas.openxmlformats.org/officeDocument/2006/relationships/hyperlink" Target="https://dynotech-solutions.com/blogs/innovations-in-semiconductor-lithography-machines-and-equipment/" TargetMode="External"/><Relationship Id="rId15" Type="http://schemas.openxmlformats.org/officeDocument/2006/relationships/hyperlink" Target="https://www.asml.com/en/en/products/euv-lithography-systems" TargetMode="External"/><Relationship Id="rId10" Type="http://schemas.openxmlformats.org/officeDocument/2006/relationships/hyperlink" Target="https://www.imec-int.com/en/articles/high-na-euvl-next-major-step-lithography" TargetMode="External"/><Relationship Id="rId4" Type="http://schemas.openxmlformats.org/officeDocument/2006/relationships/hyperlink" Target="https://www.asml.com/products/euv-lithography-systems/twinscan-exe-5000" TargetMode="External"/><Relationship Id="rId9" Type="http://schemas.openxmlformats.org/officeDocument/2006/relationships/hyperlink" Target="https://www.youtube.com/watch?v=JZs1AaulW2s" TargetMode="External"/><Relationship Id="rId14" Type="http://schemas.openxmlformats.org/officeDocument/2006/relationships/hyperlink" Target="https://en.wikipedia.org/wiki/Extreme_ultraviolet_lithography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0663"/>
              <a:ext cx="5253227" cy="53766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9220" y="-1"/>
              <a:ext cx="7002780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6493509" y="4329810"/>
            <a:ext cx="9963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Al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Imran: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6715" y="4603826"/>
            <a:ext cx="19812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ID: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2022-1-80-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016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44710" y="4878704"/>
            <a:ext cx="198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ID:</a:t>
            </a:r>
            <a:r>
              <a:rPr sz="1800" b="1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2022-2-80-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007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93509" y="4603826"/>
            <a:ext cx="25355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Md.</a:t>
            </a:r>
            <a:r>
              <a:rPr sz="1800" b="1" spc="-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Moshfiqur</a:t>
            </a:r>
            <a:r>
              <a:rPr sz="1800" b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Rahman: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Faisal</a:t>
            </a:r>
            <a:r>
              <a:rPr sz="1800" b="1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Hasan: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Niaz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Morshed</a:t>
            </a:r>
            <a:r>
              <a:rPr sz="1800" b="1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Razon: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65668" y="5153025"/>
            <a:ext cx="197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ID:</a:t>
            </a:r>
            <a:r>
              <a:rPr sz="1800" b="1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2022-2-80-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008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3228" y="3799458"/>
            <a:ext cx="342836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Group</a:t>
            </a:r>
            <a:r>
              <a:rPr sz="24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rebuchet MS"/>
                <a:cs typeface="Trebuchet MS"/>
              </a:rPr>
              <a:t>No:</a:t>
            </a:r>
            <a:r>
              <a:rPr sz="2400" b="1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400" b="1" spc="-3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2400">
              <a:latin typeface="Trebuchet MS"/>
              <a:cs typeface="Trebuchet MS"/>
            </a:endParaRPr>
          </a:p>
          <a:p>
            <a:pPr marL="1459230">
              <a:lnSpc>
                <a:spcPct val="100000"/>
              </a:lnSpc>
              <a:spcBef>
                <a:spcPts val="1295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ID:</a:t>
            </a:r>
            <a:r>
              <a:rPr sz="1800" b="1" spc="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2022-1-80-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013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454396" y="675131"/>
            <a:ext cx="6570345" cy="681355"/>
          </a:xfrm>
          <a:prstGeom prst="rect">
            <a:avLst/>
          </a:prstGeom>
          <a:solidFill>
            <a:srgbClr val="FFFFFF">
              <a:alpha val="25097"/>
            </a:srgbClr>
          </a:solidFill>
          <a:ln w="12700">
            <a:solidFill>
              <a:srgbClr val="FFFFFF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270"/>
              </a:spcBef>
            </a:pPr>
            <a:r>
              <a:rPr sz="2800" b="1" dirty="0">
                <a:latin typeface="Trebuchet MS"/>
                <a:cs typeface="Trebuchet MS"/>
              </a:rPr>
              <a:t>Extreme</a:t>
            </a:r>
            <a:r>
              <a:rPr sz="2800" b="1" spc="-70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Ultraviolet</a:t>
            </a:r>
            <a:r>
              <a:rPr sz="2800" b="1" spc="-85" dirty="0">
                <a:latin typeface="Trebuchet MS"/>
                <a:cs typeface="Trebuchet MS"/>
              </a:rPr>
              <a:t> </a:t>
            </a:r>
            <a:r>
              <a:rPr sz="2800" b="1" dirty="0">
                <a:latin typeface="Trebuchet MS"/>
                <a:cs typeface="Trebuchet MS"/>
              </a:rPr>
              <a:t>(EUV)</a:t>
            </a:r>
            <a:r>
              <a:rPr sz="2800" b="1" spc="-105" dirty="0">
                <a:latin typeface="Trebuchet MS"/>
                <a:cs typeface="Trebuchet MS"/>
              </a:rPr>
              <a:t> </a:t>
            </a:r>
            <a:r>
              <a:rPr sz="2800" b="1" spc="-10" dirty="0">
                <a:latin typeface="Trebuchet MS"/>
                <a:cs typeface="Trebuchet MS"/>
              </a:rPr>
              <a:t>Lithography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8280" y="2223642"/>
            <a:ext cx="50780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Course:</a:t>
            </a:r>
            <a:r>
              <a:rPr sz="180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EEE</a:t>
            </a:r>
            <a:r>
              <a:rPr sz="18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Trebuchet MS"/>
                <a:cs typeface="Trebuchet MS"/>
              </a:rPr>
              <a:t>413</a:t>
            </a:r>
            <a:endParaRPr sz="18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Course</a:t>
            </a:r>
            <a:r>
              <a:rPr sz="18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Title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1800" b="1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Fundamentals</a:t>
            </a:r>
            <a:r>
              <a:rPr sz="1800" b="1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800" b="1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Nanotechnology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Semester:</a:t>
            </a:r>
            <a:r>
              <a:rPr sz="1800" b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rebuchet MS"/>
                <a:cs typeface="Trebuchet MS"/>
              </a:rPr>
              <a:t>Spring</a:t>
            </a:r>
            <a:r>
              <a:rPr sz="1800" b="1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Trebuchet MS"/>
                <a:cs typeface="Trebuchet MS"/>
              </a:rPr>
              <a:t>2026</a:t>
            </a:r>
            <a:endParaRPr sz="18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Trebuchet MS"/>
                <a:cs typeface="Trebuchet MS"/>
              </a:rPr>
              <a:t>Section:1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B551B0-8CDA-4127-A540-ABCB23F49CBD}"/>
              </a:ext>
            </a:extLst>
          </p:cNvPr>
          <p:cNvSpPr txBox="1"/>
          <p:nvPr/>
        </p:nvSpPr>
        <p:spPr>
          <a:xfrm>
            <a:off x="7276464" y="5887034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Presented On 22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2543" y="1999233"/>
            <a:ext cx="584390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Lithography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semiconductor manufacturing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create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intricate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patterns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silicon </a:t>
            </a:r>
            <a:r>
              <a:rPr sz="2000" spc="-55" dirty="0">
                <a:latin typeface="Calibri"/>
                <a:cs typeface="Calibri"/>
              </a:rPr>
              <a:t>wafer.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involves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light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mask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form </a:t>
            </a:r>
            <a:r>
              <a:rPr sz="2000" dirty="0">
                <a:latin typeface="Calibri"/>
                <a:cs typeface="Calibri"/>
              </a:rPr>
              <a:t>patterns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photosensitive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material.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2359" y="1057655"/>
            <a:ext cx="4282440" cy="549402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841247"/>
            <a:ext cx="6960234" cy="7975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2953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9"/>
              </a:spcBef>
            </a:pPr>
            <a:r>
              <a:rPr sz="3200" b="1" dirty="0">
                <a:latin typeface="Calibri"/>
                <a:cs typeface="Calibri"/>
              </a:rPr>
              <a:t>What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Lithography?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1161" y="4530344"/>
            <a:ext cx="5646420" cy="1550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Lithography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critical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semiconductor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manufacturing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determines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chip </a:t>
            </a:r>
            <a:r>
              <a:rPr sz="2000" spc="-10" dirty="0">
                <a:latin typeface="Calibri"/>
                <a:cs typeface="Calibri"/>
              </a:rPr>
              <a:t>features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lithography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enables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smaller </a:t>
            </a:r>
            <a:r>
              <a:rPr sz="2000" dirty="0">
                <a:latin typeface="Calibri"/>
                <a:cs typeface="Calibri"/>
              </a:rPr>
              <a:t>technology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better </a:t>
            </a:r>
            <a:r>
              <a:rPr sz="2000" dirty="0">
                <a:latin typeface="Calibri"/>
                <a:cs typeface="Calibri"/>
              </a:rPr>
              <a:t>power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efficiency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modern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processors.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824" y="3852671"/>
            <a:ext cx="5349240" cy="52451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85"/>
              </a:spcBef>
            </a:pPr>
            <a:r>
              <a:rPr sz="2800" b="1" spc="-10" dirty="0">
                <a:latin typeface="Calibri"/>
                <a:cs typeface="Calibri"/>
              </a:rPr>
              <a:t>Relevance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Chip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Manufacturing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B92764-114F-3675-EE96-3518CEDD13A0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228600"/>
            <a:ext cx="10022205" cy="649537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45"/>
              </a:spcBef>
            </a:pPr>
            <a:r>
              <a:rPr sz="3600" spc="-35" dirty="0">
                <a:latin typeface="Calibri"/>
                <a:cs typeface="Calibri"/>
              </a:rPr>
              <a:t>Technologies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Used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Chip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Manufacturing</a:t>
            </a:r>
            <a:r>
              <a:rPr sz="3600" spc="-10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Over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Time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9676" y="5641949"/>
            <a:ext cx="94126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Early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patterning</a:t>
            </a:r>
            <a:r>
              <a:rPr sz="20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methods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lacked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precision</a:t>
            </a:r>
            <a:r>
              <a:rPr sz="20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F4E79"/>
                </a:solidFill>
                <a:latin typeface="Calibri"/>
                <a:cs typeface="Calibri"/>
              </a:rPr>
              <a:t>scalability,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leading</a:t>
            </a:r>
            <a:r>
              <a:rPr sz="2000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to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adoption</a:t>
            </a:r>
            <a:r>
              <a:rPr sz="2000" spc="-6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optical lithography</a:t>
            </a:r>
            <a:r>
              <a:rPr sz="2000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for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E79"/>
                </a:solidFill>
                <a:latin typeface="Calibri"/>
                <a:cs typeface="Calibri"/>
              </a:rPr>
              <a:t>modern</a:t>
            </a:r>
            <a:r>
              <a:rPr sz="2000" spc="-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semiconductor</a:t>
            </a:r>
            <a:r>
              <a:rPr sz="2000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E79"/>
                </a:solidFill>
                <a:latin typeface="Calibri"/>
                <a:cs typeface="Calibri"/>
              </a:rPr>
              <a:t>fabrication.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2658" y="1325923"/>
            <a:ext cx="7272764" cy="413573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1C7746B-FC4E-E8B7-B0B4-596BAFE8E7CF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323" rIns="0" bIns="0" rtlCol="0">
            <a:spAutoFit/>
          </a:bodyPr>
          <a:lstStyle/>
          <a:p>
            <a:pPr marL="226695" indent="-228600">
              <a:lnSpc>
                <a:spcPts val="1530"/>
              </a:lnSpc>
              <a:spcBef>
                <a:spcPts val="100"/>
              </a:spcBef>
              <a:buFont typeface="Arial MT"/>
              <a:buChar char="•"/>
              <a:tabLst>
                <a:tab pos="227329" algn="l"/>
              </a:tabLst>
            </a:pPr>
            <a:r>
              <a:rPr spc="-10" dirty="0"/>
              <a:t>Mechanical</a:t>
            </a:r>
            <a:r>
              <a:rPr spc="-20" dirty="0"/>
              <a:t> </a:t>
            </a:r>
            <a:r>
              <a:rPr spc="-10" dirty="0"/>
              <a:t>Patterning</a:t>
            </a:r>
            <a:r>
              <a:rPr spc="-5" dirty="0"/>
              <a:t> </a:t>
            </a:r>
            <a:r>
              <a:rPr spc="-10" dirty="0"/>
              <a:t>(1940s–1950s):</a:t>
            </a:r>
          </a:p>
          <a:p>
            <a:pPr marL="226695" marR="5080">
              <a:lnSpc>
                <a:spcPct val="70000"/>
              </a:lnSpc>
              <a:spcBef>
                <a:spcPts val="270"/>
              </a:spcBef>
            </a:pPr>
            <a:r>
              <a:rPr b="0" dirty="0">
                <a:latin typeface="Calibri"/>
                <a:cs typeface="Calibri"/>
              </a:rPr>
              <a:t>Early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electronic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components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were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made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using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mechanical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cutting,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drilling,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metal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masks.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Feature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sizes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were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large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precision </a:t>
            </a:r>
            <a:r>
              <a:rPr b="0" dirty="0">
                <a:latin typeface="Calibri"/>
                <a:cs typeface="Calibri"/>
              </a:rPr>
              <a:t>was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limited.</a:t>
            </a:r>
          </a:p>
          <a:p>
            <a:pPr marL="226695" indent="-228600">
              <a:lnSpc>
                <a:spcPts val="1530"/>
              </a:lnSpc>
              <a:spcBef>
                <a:spcPts val="455"/>
              </a:spcBef>
              <a:buFont typeface="Arial MT"/>
              <a:buChar char="•"/>
              <a:tabLst>
                <a:tab pos="227329" algn="l"/>
              </a:tabLst>
            </a:pPr>
            <a:r>
              <a:rPr dirty="0"/>
              <a:t>Chemical</a:t>
            </a:r>
            <a:r>
              <a:rPr spc="-50" dirty="0"/>
              <a:t> </a:t>
            </a:r>
            <a:r>
              <a:rPr dirty="0"/>
              <a:t>Etching</a:t>
            </a:r>
            <a:r>
              <a:rPr spc="-20" dirty="0"/>
              <a:t> </a:t>
            </a:r>
            <a:r>
              <a:rPr dirty="0"/>
              <a:t>&amp;</a:t>
            </a:r>
            <a:r>
              <a:rPr spc="-20" dirty="0"/>
              <a:t> </a:t>
            </a:r>
            <a:r>
              <a:rPr dirty="0"/>
              <a:t>Shadow</a:t>
            </a:r>
            <a:r>
              <a:rPr spc="-40" dirty="0"/>
              <a:t> </a:t>
            </a:r>
            <a:r>
              <a:rPr dirty="0"/>
              <a:t>Masking</a:t>
            </a:r>
            <a:r>
              <a:rPr spc="-30" dirty="0"/>
              <a:t> </a:t>
            </a:r>
            <a:r>
              <a:rPr spc="-10" dirty="0"/>
              <a:t>(1950s–1960s):</a:t>
            </a:r>
          </a:p>
          <a:p>
            <a:pPr marL="226695" marR="18415">
              <a:lnSpc>
                <a:spcPct val="70000"/>
              </a:lnSpc>
              <a:spcBef>
                <a:spcPts val="270"/>
              </a:spcBef>
            </a:pPr>
            <a:r>
              <a:rPr b="0" dirty="0">
                <a:latin typeface="Calibri"/>
                <a:cs typeface="Calibri"/>
              </a:rPr>
              <a:t>Simple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metal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masks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were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placed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over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substrates,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unwanted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material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was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removed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using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chemical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etching.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This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method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lacked </a:t>
            </a:r>
            <a:r>
              <a:rPr b="0" dirty="0">
                <a:latin typeface="Calibri"/>
                <a:cs typeface="Calibri"/>
              </a:rPr>
              <a:t>accuracy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for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small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features.</a:t>
            </a:r>
          </a:p>
          <a:p>
            <a:pPr marL="226695" indent="-228600">
              <a:lnSpc>
                <a:spcPts val="1530"/>
              </a:lnSpc>
              <a:spcBef>
                <a:spcPts val="459"/>
              </a:spcBef>
              <a:buFont typeface="Arial MT"/>
              <a:buChar char="•"/>
              <a:tabLst>
                <a:tab pos="227329" algn="l"/>
              </a:tabLst>
            </a:pPr>
            <a:r>
              <a:rPr spc="-10" dirty="0"/>
              <a:t>Photographic</a:t>
            </a:r>
            <a:r>
              <a:rPr spc="-50" dirty="0"/>
              <a:t> </a:t>
            </a:r>
            <a:r>
              <a:rPr dirty="0"/>
              <a:t>Contact</a:t>
            </a:r>
            <a:r>
              <a:rPr spc="-40" dirty="0"/>
              <a:t> </a:t>
            </a:r>
            <a:r>
              <a:rPr dirty="0"/>
              <a:t>Printing</a:t>
            </a:r>
            <a:r>
              <a:rPr spc="-70" dirty="0"/>
              <a:t> </a:t>
            </a:r>
            <a:r>
              <a:rPr spc="-10" dirty="0"/>
              <a:t>(1960s):</a:t>
            </a:r>
          </a:p>
          <a:p>
            <a:pPr marL="226695" marR="113664">
              <a:lnSpc>
                <a:spcPct val="70000"/>
              </a:lnSpc>
              <a:spcBef>
                <a:spcPts val="270"/>
              </a:spcBef>
            </a:pPr>
            <a:r>
              <a:rPr b="0" dirty="0">
                <a:latin typeface="Calibri"/>
                <a:cs typeface="Calibri"/>
              </a:rPr>
              <a:t>Borrowed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from</a:t>
            </a:r>
            <a:r>
              <a:rPr b="0" spc="-20" dirty="0">
                <a:latin typeface="Calibri"/>
                <a:cs typeface="Calibri"/>
              </a:rPr>
              <a:t> photography,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light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was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used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photosensitive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materials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transfer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patterns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by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placing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mask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directly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on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the </a:t>
            </a:r>
            <a:r>
              <a:rPr b="0" spc="-45" dirty="0">
                <a:latin typeface="Calibri"/>
                <a:cs typeface="Calibri"/>
              </a:rPr>
              <a:t>wafer.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This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was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first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step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toward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true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lithography.</a:t>
            </a:r>
          </a:p>
          <a:p>
            <a:pPr marL="226695" indent="-228600">
              <a:lnSpc>
                <a:spcPts val="1530"/>
              </a:lnSpc>
              <a:spcBef>
                <a:spcPts val="465"/>
              </a:spcBef>
              <a:buFont typeface="Arial MT"/>
              <a:buChar char="•"/>
              <a:tabLst>
                <a:tab pos="227329" algn="l"/>
              </a:tabLst>
            </a:pPr>
            <a:r>
              <a:rPr dirty="0"/>
              <a:t>Electron</a:t>
            </a:r>
            <a:r>
              <a:rPr spc="-25" dirty="0"/>
              <a:t> </a:t>
            </a:r>
            <a:r>
              <a:rPr dirty="0"/>
              <a:t>Beam</a:t>
            </a:r>
            <a:r>
              <a:rPr spc="-50" dirty="0"/>
              <a:t> </a:t>
            </a:r>
            <a:r>
              <a:rPr spc="-10" dirty="0"/>
              <a:t>Patterning</a:t>
            </a:r>
            <a:r>
              <a:rPr spc="-55" dirty="0"/>
              <a:t> </a:t>
            </a:r>
            <a:r>
              <a:rPr spc="-10" dirty="0"/>
              <a:t>(1960s–1970s):</a:t>
            </a:r>
          </a:p>
          <a:p>
            <a:pPr marL="226695" marR="130175">
              <a:lnSpc>
                <a:spcPct val="70000"/>
              </a:lnSpc>
              <a:spcBef>
                <a:spcPts val="270"/>
              </a:spcBef>
            </a:pPr>
            <a:r>
              <a:rPr b="0" dirty="0">
                <a:latin typeface="Calibri"/>
                <a:cs typeface="Calibri"/>
              </a:rPr>
              <a:t>Electron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beams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were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used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directly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write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patterns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without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masks.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While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very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precise,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process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was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slow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not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suitable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spc="-25" dirty="0">
                <a:latin typeface="Calibri"/>
                <a:cs typeface="Calibri"/>
              </a:rPr>
              <a:t>for </a:t>
            </a:r>
            <a:r>
              <a:rPr b="0" dirty="0">
                <a:latin typeface="Calibri"/>
                <a:cs typeface="Calibri"/>
              </a:rPr>
              <a:t>mass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production.</a:t>
            </a:r>
          </a:p>
          <a:p>
            <a:pPr marL="226695" indent="-228600">
              <a:lnSpc>
                <a:spcPts val="1530"/>
              </a:lnSpc>
              <a:spcBef>
                <a:spcPts val="459"/>
              </a:spcBef>
              <a:buFont typeface="Arial MT"/>
              <a:buChar char="•"/>
              <a:tabLst>
                <a:tab pos="227329" algn="l"/>
              </a:tabLst>
            </a:pPr>
            <a:r>
              <a:rPr spc="-10" dirty="0"/>
              <a:t>X-</a:t>
            </a:r>
            <a:r>
              <a:rPr dirty="0"/>
              <a:t>ray</a:t>
            </a:r>
            <a:r>
              <a:rPr spc="-50" dirty="0"/>
              <a:t> </a:t>
            </a:r>
            <a:r>
              <a:rPr spc="-10" dirty="0"/>
              <a:t>Lithography</a:t>
            </a:r>
            <a:r>
              <a:rPr spc="-50" dirty="0"/>
              <a:t> </a:t>
            </a:r>
            <a:r>
              <a:rPr spc="-10" dirty="0"/>
              <a:t>(1970s–1980s):</a:t>
            </a:r>
          </a:p>
          <a:p>
            <a:pPr marL="226695">
              <a:lnSpc>
                <a:spcPts val="1530"/>
              </a:lnSpc>
            </a:pPr>
            <a:r>
              <a:rPr b="0" spc="-10" dirty="0">
                <a:latin typeface="Calibri"/>
                <a:cs typeface="Calibri"/>
              </a:rPr>
              <a:t>X-rays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enabled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smaller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features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than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visible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light,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but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systems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were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complex,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expensive,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difficult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align.</a:t>
            </a:r>
          </a:p>
          <a:p>
            <a:pPr marL="226695" indent="-228600">
              <a:lnSpc>
                <a:spcPts val="1530"/>
              </a:lnSpc>
              <a:spcBef>
                <a:spcPts val="455"/>
              </a:spcBef>
              <a:buFont typeface="Arial MT"/>
              <a:buChar char="•"/>
              <a:tabLst>
                <a:tab pos="227329" algn="l"/>
              </a:tabLst>
            </a:pPr>
            <a:r>
              <a:rPr dirty="0"/>
              <a:t>Deep</a:t>
            </a:r>
            <a:r>
              <a:rPr spc="-35" dirty="0"/>
              <a:t> </a:t>
            </a:r>
            <a:r>
              <a:rPr spc="-10" dirty="0"/>
              <a:t>Ultraviolet</a:t>
            </a:r>
            <a:r>
              <a:rPr spc="-20" dirty="0"/>
              <a:t> </a:t>
            </a:r>
            <a:r>
              <a:rPr dirty="0"/>
              <a:t>(DUV)</a:t>
            </a:r>
            <a:r>
              <a:rPr spc="-25" dirty="0"/>
              <a:t> </a:t>
            </a:r>
            <a:r>
              <a:rPr spc="-10" dirty="0"/>
              <a:t>Lithography</a:t>
            </a:r>
            <a:r>
              <a:rPr spc="-25" dirty="0"/>
              <a:t> </a:t>
            </a:r>
            <a:r>
              <a:rPr spc="-10" dirty="0"/>
              <a:t>(1980s–2010s):</a:t>
            </a:r>
          </a:p>
          <a:p>
            <a:pPr marL="226695" marR="187325">
              <a:lnSpc>
                <a:spcPct val="70000"/>
              </a:lnSpc>
              <a:spcBef>
                <a:spcPts val="270"/>
              </a:spcBef>
            </a:pPr>
            <a:r>
              <a:rPr b="0" dirty="0">
                <a:latin typeface="Calibri"/>
                <a:cs typeface="Calibri"/>
              </a:rPr>
              <a:t>Uses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193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nm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ArF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or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248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nm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KrF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lasers.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The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optical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uses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lenses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mirrors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project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mask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patterns.</a:t>
            </a:r>
            <a:r>
              <a:rPr b="0" spc="-6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High-</a:t>
            </a:r>
            <a:r>
              <a:rPr b="0" spc="-10" dirty="0">
                <a:latin typeface="Calibri"/>
                <a:cs typeface="Calibri"/>
              </a:rPr>
              <a:t>volume manufacturing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allowed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features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down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to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about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7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nm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10" dirty="0">
                <a:latin typeface="Calibri"/>
                <a:cs typeface="Calibri"/>
              </a:rPr>
              <a:t> multi-patterning,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but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scaling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below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7</a:t>
            </a:r>
            <a:r>
              <a:rPr b="0" spc="-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nm</a:t>
            </a:r>
            <a:r>
              <a:rPr b="0" spc="-10" dirty="0">
                <a:latin typeface="Calibri"/>
                <a:cs typeface="Calibri"/>
              </a:rPr>
              <a:t> required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multiple</a:t>
            </a:r>
            <a:r>
              <a:rPr b="0" spc="-10" dirty="0">
                <a:latin typeface="Calibri"/>
                <a:cs typeface="Calibri"/>
              </a:rPr>
              <a:t> exposures.</a:t>
            </a:r>
          </a:p>
          <a:p>
            <a:pPr marL="226695" indent="-228600">
              <a:lnSpc>
                <a:spcPts val="1530"/>
              </a:lnSpc>
              <a:spcBef>
                <a:spcPts val="465"/>
              </a:spcBef>
              <a:buFont typeface="Arial MT"/>
              <a:buChar char="•"/>
              <a:tabLst>
                <a:tab pos="227329" algn="l"/>
              </a:tabLst>
            </a:pPr>
            <a:r>
              <a:rPr dirty="0"/>
              <a:t>Extreme</a:t>
            </a:r>
            <a:r>
              <a:rPr spc="-25" dirty="0"/>
              <a:t> </a:t>
            </a:r>
            <a:r>
              <a:rPr spc="-10" dirty="0"/>
              <a:t>Ultraviolet</a:t>
            </a:r>
            <a:r>
              <a:rPr spc="-35" dirty="0"/>
              <a:t> </a:t>
            </a:r>
            <a:r>
              <a:rPr dirty="0"/>
              <a:t>(EUV)</a:t>
            </a:r>
            <a:r>
              <a:rPr spc="-40" dirty="0"/>
              <a:t> </a:t>
            </a:r>
            <a:r>
              <a:rPr spc="-10" dirty="0"/>
              <a:t>Lithography</a:t>
            </a:r>
            <a:r>
              <a:rPr spc="-30" dirty="0"/>
              <a:t> </a:t>
            </a:r>
            <a:r>
              <a:rPr spc="-10" dirty="0"/>
              <a:t>(2018–present):</a:t>
            </a:r>
          </a:p>
          <a:p>
            <a:pPr marL="226695" marR="269875">
              <a:lnSpc>
                <a:spcPct val="70000"/>
              </a:lnSpc>
              <a:spcBef>
                <a:spcPts val="270"/>
              </a:spcBef>
            </a:pPr>
            <a:r>
              <a:rPr b="0" dirty="0">
                <a:latin typeface="Calibri"/>
                <a:cs typeface="Calibri"/>
              </a:rPr>
              <a:t>Uses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13.5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nm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EUV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light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with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fully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reflective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optical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system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vacuum.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Enables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sub-7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nm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features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in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single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exposure,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offering </a:t>
            </a:r>
            <a:r>
              <a:rPr b="0" dirty="0">
                <a:latin typeface="Calibri"/>
                <a:cs typeface="Calibri"/>
              </a:rPr>
              <a:t>higher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resolution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fewer</a:t>
            </a:r>
            <a:r>
              <a:rPr b="0" spc="-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patterning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steps,</a:t>
            </a:r>
            <a:r>
              <a:rPr b="0" spc="-3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but</a:t>
            </a:r>
            <a:r>
              <a:rPr b="0" spc="-3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is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more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expensive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and</a:t>
            </a:r>
            <a:r>
              <a:rPr b="0" spc="-4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requires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extreme</a:t>
            </a:r>
            <a:r>
              <a:rPr b="0" spc="-10" dirty="0">
                <a:latin typeface="Calibri"/>
                <a:cs typeface="Calibri"/>
              </a:rPr>
              <a:t> precision.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023" y="566927"/>
            <a:ext cx="9650095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0"/>
              </a:spcBef>
            </a:pPr>
            <a:r>
              <a:rPr sz="3600" spc="-35" dirty="0">
                <a:latin typeface="Calibri"/>
                <a:cs typeface="Calibri"/>
              </a:rPr>
              <a:t>Technologies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Used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Chip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Manufacturing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E5A8238-3C17-CBCD-D857-FF60555097EC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524" y="493776"/>
            <a:ext cx="9650095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250"/>
              </a:spcBef>
            </a:pPr>
            <a:r>
              <a:rPr sz="3600" dirty="0">
                <a:latin typeface="Calibri"/>
                <a:cs typeface="Calibri"/>
              </a:rPr>
              <a:t>Recent</a:t>
            </a:r>
            <a:r>
              <a:rPr sz="3600" spc="-13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Generations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Photolithography</a:t>
            </a:r>
            <a:endParaRPr sz="3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38682" y="1959610"/>
          <a:ext cx="9718039" cy="4493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4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4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7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Lithography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Basic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Functional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8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Theoretical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DUV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(193i)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4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05104">
                        <a:lnSpc>
                          <a:spcPct val="99400"/>
                        </a:lnSpc>
                        <a:spcBef>
                          <a:spcPts val="14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193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ultraviolet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light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standard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dry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optics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mask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patterns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onto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photoresist;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limited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resolution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wavelength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numerical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aperture.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DUV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Immersion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4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8036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Similar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DUV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adds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liquid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(water)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lens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wafer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increase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numerical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aperture,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improving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resolution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allowing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smaller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feature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sizes.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8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EUV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47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5420">
                        <a:lnSpc>
                          <a:spcPct val="99500"/>
                        </a:lnSpc>
                        <a:spcBef>
                          <a:spcPts val="140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extremely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short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13.5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wavelength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light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plasma;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relies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reflective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mirrors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instead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lenses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print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very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small patterns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nodes.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1EBAB6C6-A2E8-1449-34B7-44D9777BF260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515112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dirty="0">
                <a:latin typeface="Calibri"/>
                <a:cs typeface="Calibri"/>
              </a:rPr>
              <a:t>Recent</a:t>
            </a:r>
            <a:r>
              <a:rPr sz="3600" b="1" spc="-1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Generations</a:t>
            </a:r>
            <a:r>
              <a:rPr sz="3600" b="1" spc="-114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of</a:t>
            </a:r>
            <a:r>
              <a:rPr sz="3600" b="1" spc="-1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Photolithography</a:t>
            </a:r>
            <a:endParaRPr sz="3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9010" y="1749298"/>
          <a:ext cx="10241279" cy="461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DUV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(193i)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DUV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Immersion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EUV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Years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~2003–2010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~2010–2020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~2019–present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Wavelength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193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193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13.5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~0.93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~1.35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~0.33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Processor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examples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90–45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22–7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5–2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6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Main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limitation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Resolution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Multiple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patterning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power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19378B4B-AE2B-D49A-45C7-BDD6B75B7E28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3108" y="633983"/>
            <a:ext cx="6958965" cy="7975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435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30"/>
              </a:spcBef>
            </a:pPr>
            <a:r>
              <a:rPr sz="3200" b="1" dirty="0">
                <a:latin typeface="Trebuchet MS"/>
                <a:cs typeface="Trebuchet MS"/>
              </a:rPr>
              <a:t>Steps</a:t>
            </a:r>
            <a:r>
              <a:rPr sz="3200" b="1" spc="-2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in</a:t>
            </a:r>
            <a:r>
              <a:rPr sz="3200" b="1" spc="-20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Photolithography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855063"/>
            <a:ext cx="3051810" cy="41414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54330" algn="l"/>
              </a:tabLst>
            </a:pPr>
            <a:r>
              <a:rPr sz="2000" dirty="0">
                <a:latin typeface="Trebuchet MS"/>
                <a:cs typeface="Trebuchet MS"/>
              </a:rPr>
              <a:t>Substrate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Cleaning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spc="-10" dirty="0">
                <a:latin typeface="Trebuchet MS"/>
                <a:cs typeface="Trebuchet MS"/>
              </a:rPr>
              <a:t>Photoresist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Covering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dirty="0">
                <a:latin typeface="Trebuchet MS"/>
                <a:cs typeface="Trebuchet MS"/>
              </a:rPr>
              <a:t>Soft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Bake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spc="-10" dirty="0">
                <a:latin typeface="Trebuchet MS"/>
                <a:cs typeface="Trebuchet MS"/>
              </a:rPr>
              <a:t>Mask</a:t>
            </a:r>
            <a:r>
              <a:rPr sz="2000" spc="-13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Alignment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spc="-10" dirty="0">
                <a:latin typeface="Trebuchet MS"/>
                <a:cs typeface="Trebuchet MS"/>
              </a:rPr>
              <a:t>Exposure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spc="-30" dirty="0">
                <a:latin typeface="Trebuchet MS"/>
                <a:cs typeface="Trebuchet MS"/>
              </a:rPr>
              <a:t>Post-</a:t>
            </a:r>
            <a:r>
              <a:rPr sz="2000" dirty="0">
                <a:latin typeface="Trebuchet MS"/>
                <a:cs typeface="Trebuchet MS"/>
              </a:rPr>
              <a:t>Exposure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Bake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4330" algn="l"/>
              </a:tabLst>
            </a:pPr>
            <a:r>
              <a:rPr sz="2000" dirty="0">
                <a:latin typeface="Trebuchet MS"/>
                <a:cs typeface="Trebuchet MS"/>
              </a:rPr>
              <a:t>Hard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Bake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dirty="0">
                <a:latin typeface="Trebuchet MS"/>
                <a:cs typeface="Trebuchet MS"/>
              </a:rPr>
              <a:t>Etching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Implantation</a:t>
            </a:r>
            <a:endParaRPr sz="2000">
              <a:latin typeface="Trebuchet MS"/>
              <a:cs typeface="Trebuchet MS"/>
            </a:endParaRPr>
          </a:p>
          <a:p>
            <a:pPr marL="354330" indent="-34163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330" algn="l"/>
              </a:tabLst>
            </a:pPr>
            <a:r>
              <a:rPr sz="2000" dirty="0">
                <a:latin typeface="Trebuchet MS"/>
                <a:cs typeface="Trebuchet MS"/>
              </a:rPr>
              <a:t>Photoresist</a:t>
            </a:r>
            <a:r>
              <a:rPr sz="2000" spc="-1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Stripping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8696" y="1910466"/>
            <a:ext cx="5404520" cy="453336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7C2E64B9-A3B5-C355-44AB-EF84CE416DBD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988" y="1082039"/>
            <a:ext cx="9408160" cy="79756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35"/>
              </a:spcBef>
            </a:pPr>
            <a:r>
              <a:rPr sz="3200" b="1" spc="-10" dirty="0">
                <a:latin typeface="Trebuchet MS"/>
                <a:cs typeface="Trebuchet MS"/>
              </a:rPr>
              <a:t>Parameters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of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EUV</a:t>
            </a:r>
            <a:r>
              <a:rPr sz="3200" b="1" spc="-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Lithography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3550" y="2949277"/>
            <a:ext cx="2976859" cy="11761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0259" y="2347696"/>
            <a:ext cx="7320915" cy="383349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431800" algn="l"/>
              </a:tabLst>
            </a:pPr>
            <a:r>
              <a:rPr sz="2000" spc="-10" dirty="0">
                <a:latin typeface="Trebuchet MS"/>
                <a:cs typeface="Trebuchet MS"/>
              </a:rPr>
              <a:t>Wavelength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Of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light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(</a:t>
            </a:r>
            <a:r>
              <a:rPr sz="2000" b="1" spc="-25" dirty="0">
                <a:latin typeface="Cambria"/>
                <a:cs typeface="Cambria"/>
              </a:rPr>
              <a:t>λ</a:t>
            </a:r>
            <a:r>
              <a:rPr sz="2000" spc="-25" dirty="0">
                <a:latin typeface="Trebuchet MS"/>
                <a:cs typeface="Trebuchet MS"/>
              </a:rPr>
              <a:t>)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Numerical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Apertures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(</a:t>
            </a:r>
            <a:r>
              <a:rPr sz="2000" b="1" spc="-20" dirty="0">
                <a:latin typeface="Trebuchet MS"/>
                <a:cs typeface="Trebuchet MS"/>
              </a:rPr>
              <a:t>NA</a:t>
            </a:r>
            <a:r>
              <a:rPr sz="2000" spc="-20" dirty="0">
                <a:latin typeface="Trebuchet MS"/>
                <a:cs typeface="Trebuchet MS"/>
              </a:rPr>
              <a:t>)</a:t>
            </a:r>
            <a:endParaRPr sz="2000" dirty="0">
              <a:latin typeface="Trebuchet MS"/>
              <a:cs typeface="Trebuchet MS"/>
            </a:endParaRPr>
          </a:p>
          <a:p>
            <a:pPr marL="431800" indent="-419100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31800" algn="l"/>
              </a:tabLst>
            </a:pPr>
            <a:r>
              <a:rPr sz="2000" spc="-10" dirty="0">
                <a:latin typeface="Trebuchet MS"/>
                <a:cs typeface="Trebuchet MS"/>
              </a:rPr>
              <a:t>Processing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Factor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(K)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Resolution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/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Rayleigh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Criterion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(</a:t>
            </a:r>
            <a:r>
              <a:rPr sz="2000" b="1" spc="-20" dirty="0">
                <a:latin typeface="Trebuchet MS"/>
                <a:cs typeface="Trebuchet MS"/>
              </a:rPr>
              <a:t>CD</a:t>
            </a:r>
            <a:r>
              <a:rPr sz="2000" spc="-20" dirty="0">
                <a:latin typeface="Trebuchet MS"/>
                <a:cs typeface="Trebuchet MS"/>
              </a:rPr>
              <a:t>)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Source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power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Overlay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Accuracy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54965" algn="l"/>
              </a:tabLst>
            </a:pPr>
            <a:r>
              <a:rPr sz="2000" dirty="0">
                <a:latin typeface="Trebuchet MS"/>
                <a:cs typeface="Trebuchet MS"/>
              </a:rPr>
              <a:t>Throughput</a:t>
            </a:r>
            <a:r>
              <a:rPr sz="2000" spc="-9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(Wafers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Hour)</a:t>
            </a:r>
            <a:endParaRPr sz="2000" dirty="0">
              <a:latin typeface="Trebuchet MS"/>
              <a:cs typeface="Trebuchet MS"/>
            </a:endParaRPr>
          </a:p>
          <a:p>
            <a:pPr marL="3405504">
              <a:lnSpc>
                <a:spcPct val="100000"/>
              </a:lnSpc>
              <a:spcBef>
                <a:spcPts val="1895"/>
              </a:spcBef>
            </a:pPr>
            <a:r>
              <a:rPr sz="2400" b="1" dirty="0">
                <a:solidFill>
                  <a:srgbClr val="2E5496"/>
                </a:solidFill>
                <a:latin typeface="Calibri"/>
                <a:cs typeface="Calibri"/>
              </a:rPr>
              <a:t>Higher</a:t>
            </a:r>
            <a:r>
              <a:rPr sz="2400" b="1" spc="-5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5496"/>
                </a:solidFill>
                <a:latin typeface="Calibri"/>
                <a:cs typeface="Calibri"/>
              </a:rPr>
              <a:t>NA</a:t>
            </a:r>
            <a:r>
              <a:rPr sz="24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5496"/>
                </a:solidFill>
                <a:latin typeface="Calibri"/>
                <a:cs typeface="Calibri"/>
              </a:rPr>
              <a:t>means</a:t>
            </a:r>
            <a:r>
              <a:rPr sz="24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E5496"/>
                </a:solidFill>
                <a:latin typeface="Calibri"/>
                <a:cs typeface="Calibri"/>
              </a:rPr>
              <a:t>lower</a:t>
            </a:r>
            <a:r>
              <a:rPr sz="2400" b="1" spc="-55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E5496"/>
                </a:solidFill>
                <a:latin typeface="Calibri"/>
                <a:cs typeface="Calibri"/>
              </a:rPr>
              <a:t>nodes.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45042" y="2377439"/>
            <a:ext cx="1243965" cy="1149350"/>
            <a:chOff x="8845042" y="2377439"/>
            <a:chExt cx="1243965" cy="1149350"/>
          </a:xfrm>
        </p:grpSpPr>
        <p:sp>
          <p:nvSpPr>
            <p:cNvPr id="6" name="object 6"/>
            <p:cNvSpPr/>
            <p:nvPr/>
          </p:nvSpPr>
          <p:spPr>
            <a:xfrm>
              <a:off x="8851392" y="2944367"/>
              <a:ext cx="954405" cy="576580"/>
            </a:xfrm>
            <a:custGeom>
              <a:avLst/>
              <a:gdLst/>
              <a:ahLst/>
              <a:cxnLst/>
              <a:rect l="l" t="t" r="r" b="b"/>
              <a:pathLst>
                <a:path w="954404" h="576579">
                  <a:moveTo>
                    <a:pt x="0" y="288036"/>
                  </a:moveTo>
                  <a:lnTo>
                    <a:pt x="14571" y="217096"/>
                  </a:lnTo>
                  <a:lnTo>
                    <a:pt x="55898" y="152605"/>
                  </a:lnTo>
                  <a:lnTo>
                    <a:pt x="85477" y="123451"/>
                  </a:lnTo>
                  <a:lnTo>
                    <a:pt x="120403" y="96718"/>
                  </a:lnTo>
                  <a:lnTo>
                    <a:pt x="160228" y="72675"/>
                  </a:lnTo>
                  <a:lnTo>
                    <a:pt x="204505" y="51591"/>
                  </a:lnTo>
                  <a:lnTo>
                    <a:pt x="252787" y="33737"/>
                  </a:lnTo>
                  <a:lnTo>
                    <a:pt x="304626" y="19381"/>
                  </a:lnTo>
                  <a:lnTo>
                    <a:pt x="359575" y="8793"/>
                  </a:lnTo>
                  <a:lnTo>
                    <a:pt x="417186" y="2243"/>
                  </a:lnTo>
                  <a:lnTo>
                    <a:pt x="477011" y="0"/>
                  </a:lnTo>
                  <a:lnTo>
                    <a:pt x="536837" y="2243"/>
                  </a:lnTo>
                  <a:lnTo>
                    <a:pt x="594448" y="8793"/>
                  </a:lnTo>
                  <a:lnTo>
                    <a:pt x="649397" y="19381"/>
                  </a:lnTo>
                  <a:lnTo>
                    <a:pt x="701236" y="33737"/>
                  </a:lnTo>
                  <a:lnTo>
                    <a:pt x="749518" y="51591"/>
                  </a:lnTo>
                  <a:lnTo>
                    <a:pt x="793795" y="72675"/>
                  </a:lnTo>
                  <a:lnTo>
                    <a:pt x="833620" y="96718"/>
                  </a:lnTo>
                  <a:lnTo>
                    <a:pt x="868546" y="123451"/>
                  </a:lnTo>
                  <a:lnTo>
                    <a:pt x="898125" y="152605"/>
                  </a:lnTo>
                  <a:lnTo>
                    <a:pt x="921909" y="183910"/>
                  </a:lnTo>
                  <a:lnTo>
                    <a:pt x="950306" y="251894"/>
                  </a:lnTo>
                  <a:lnTo>
                    <a:pt x="954024" y="288036"/>
                  </a:lnTo>
                  <a:lnTo>
                    <a:pt x="950306" y="324177"/>
                  </a:lnTo>
                  <a:lnTo>
                    <a:pt x="921909" y="392161"/>
                  </a:lnTo>
                  <a:lnTo>
                    <a:pt x="898125" y="423466"/>
                  </a:lnTo>
                  <a:lnTo>
                    <a:pt x="868546" y="452620"/>
                  </a:lnTo>
                  <a:lnTo>
                    <a:pt x="833620" y="479353"/>
                  </a:lnTo>
                  <a:lnTo>
                    <a:pt x="793795" y="503396"/>
                  </a:lnTo>
                  <a:lnTo>
                    <a:pt x="749518" y="524480"/>
                  </a:lnTo>
                  <a:lnTo>
                    <a:pt x="701236" y="542334"/>
                  </a:lnTo>
                  <a:lnTo>
                    <a:pt x="649397" y="556690"/>
                  </a:lnTo>
                  <a:lnTo>
                    <a:pt x="594448" y="567278"/>
                  </a:lnTo>
                  <a:lnTo>
                    <a:pt x="536837" y="573828"/>
                  </a:lnTo>
                  <a:lnTo>
                    <a:pt x="477011" y="576072"/>
                  </a:lnTo>
                  <a:lnTo>
                    <a:pt x="417186" y="573828"/>
                  </a:lnTo>
                  <a:lnTo>
                    <a:pt x="359575" y="567278"/>
                  </a:lnTo>
                  <a:lnTo>
                    <a:pt x="304626" y="556690"/>
                  </a:lnTo>
                  <a:lnTo>
                    <a:pt x="252787" y="542334"/>
                  </a:lnTo>
                  <a:lnTo>
                    <a:pt x="204505" y="524480"/>
                  </a:lnTo>
                  <a:lnTo>
                    <a:pt x="160228" y="503396"/>
                  </a:lnTo>
                  <a:lnTo>
                    <a:pt x="120403" y="479353"/>
                  </a:lnTo>
                  <a:lnTo>
                    <a:pt x="85477" y="452620"/>
                  </a:lnTo>
                  <a:lnTo>
                    <a:pt x="55898" y="423466"/>
                  </a:lnTo>
                  <a:lnTo>
                    <a:pt x="32114" y="392161"/>
                  </a:lnTo>
                  <a:lnTo>
                    <a:pt x="3717" y="324177"/>
                  </a:lnTo>
                  <a:lnTo>
                    <a:pt x="0" y="28803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24594" y="2377439"/>
              <a:ext cx="764540" cy="572135"/>
            </a:xfrm>
            <a:custGeom>
              <a:avLst/>
              <a:gdLst/>
              <a:ahLst/>
              <a:cxnLst/>
              <a:rect l="l" t="t" r="r" b="b"/>
              <a:pathLst>
                <a:path w="764540" h="572135">
                  <a:moveTo>
                    <a:pt x="699416" y="40446"/>
                  </a:moveTo>
                  <a:lnTo>
                    <a:pt x="0" y="561848"/>
                  </a:lnTo>
                  <a:lnTo>
                    <a:pt x="7620" y="572008"/>
                  </a:lnTo>
                  <a:lnTo>
                    <a:pt x="706998" y="50634"/>
                  </a:lnTo>
                  <a:lnTo>
                    <a:pt x="699416" y="40446"/>
                  </a:lnTo>
                  <a:close/>
                </a:path>
                <a:path w="764540" h="572135">
                  <a:moveTo>
                    <a:pt x="747702" y="32893"/>
                  </a:moveTo>
                  <a:lnTo>
                    <a:pt x="709549" y="32893"/>
                  </a:lnTo>
                  <a:lnTo>
                    <a:pt x="717169" y="43052"/>
                  </a:lnTo>
                  <a:lnTo>
                    <a:pt x="706998" y="50634"/>
                  </a:lnTo>
                  <a:lnTo>
                    <a:pt x="725931" y="76073"/>
                  </a:lnTo>
                  <a:lnTo>
                    <a:pt x="747702" y="32893"/>
                  </a:lnTo>
                  <a:close/>
                </a:path>
                <a:path w="764540" h="572135">
                  <a:moveTo>
                    <a:pt x="709549" y="32893"/>
                  </a:moveTo>
                  <a:lnTo>
                    <a:pt x="699416" y="40446"/>
                  </a:lnTo>
                  <a:lnTo>
                    <a:pt x="706998" y="50634"/>
                  </a:lnTo>
                  <a:lnTo>
                    <a:pt x="717169" y="43052"/>
                  </a:lnTo>
                  <a:lnTo>
                    <a:pt x="709549" y="32893"/>
                  </a:lnTo>
                  <a:close/>
                </a:path>
                <a:path w="764540" h="572135">
                  <a:moveTo>
                    <a:pt x="764285" y="0"/>
                  </a:moveTo>
                  <a:lnTo>
                    <a:pt x="680465" y="14986"/>
                  </a:lnTo>
                  <a:lnTo>
                    <a:pt x="699416" y="40446"/>
                  </a:lnTo>
                  <a:lnTo>
                    <a:pt x="709549" y="32893"/>
                  </a:lnTo>
                  <a:lnTo>
                    <a:pt x="747702" y="32893"/>
                  </a:lnTo>
                  <a:lnTo>
                    <a:pt x="76428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885426" y="2062988"/>
            <a:ext cx="612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E5496"/>
                </a:solidFill>
                <a:latin typeface="Calibri"/>
                <a:cs typeface="Calibri"/>
              </a:rPr>
              <a:t>13</a:t>
            </a:r>
            <a:r>
              <a:rPr sz="1800" spc="-20" dirty="0">
                <a:solidFill>
                  <a:srgbClr val="2E549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E5496"/>
                </a:solidFill>
                <a:latin typeface="Calibri"/>
                <a:cs typeface="Calibri"/>
              </a:rPr>
              <a:t>nm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C16E54-6DBA-5C4B-0A53-07EFADEAD870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305F06A-74E6-1339-B4E5-1E2A43FB2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C953CE-10C8-71FF-2153-0214D28293C1}"/>
              </a:ext>
            </a:extLst>
          </p:cNvPr>
          <p:cNvSpPr/>
          <p:nvPr/>
        </p:nvSpPr>
        <p:spPr>
          <a:xfrm>
            <a:off x="762000" y="152400"/>
            <a:ext cx="10210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n-US" sz="36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  <a:r>
              <a:rPr lang="en-US" sz="36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36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Photolithography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24">
            <a:extLst>
              <a:ext uri="{FF2B5EF4-FFF2-40B4-BE49-F238E27FC236}">
                <a16:creationId xmlns:a16="http://schemas.microsoft.com/office/drawing/2014/main" id="{67C1A893-B4D3-0919-4E92-E16FAA03293B}"/>
              </a:ext>
            </a:extLst>
          </p:cNvPr>
          <p:cNvPicPr/>
          <p:nvPr/>
        </p:nvPicPr>
        <p:blipFill>
          <a:blip r:embed="rId3" cstate="print"/>
          <a:srcRect l="2973" b="19540"/>
          <a:stretch>
            <a:fillRect/>
          </a:stretch>
        </p:blipFill>
        <p:spPr>
          <a:xfrm>
            <a:off x="7081684" y="914400"/>
            <a:ext cx="4972863" cy="4254295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E21CC8-E8CF-C177-4449-31557F7D8157}"/>
              </a:ext>
            </a:extLst>
          </p:cNvPr>
          <p:cNvSpPr/>
          <p:nvPr/>
        </p:nvSpPr>
        <p:spPr>
          <a:xfrm>
            <a:off x="228600" y="1412158"/>
            <a:ext cx="2209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EUV</a:t>
            </a:r>
            <a:r>
              <a:rPr lang="en-US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en-US" b="1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AB23A3-B4E4-73CD-C40E-9AA7C6553717}"/>
              </a:ext>
            </a:extLst>
          </p:cNvPr>
          <p:cNvSpPr/>
          <p:nvPr/>
        </p:nvSpPr>
        <p:spPr>
          <a:xfrm>
            <a:off x="228600" y="2592029"/>
            <a:ext cx="2209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Collector &amp; Illumination optics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793BE2-ED6A-42D8-901A-71468708C7D2}"/>
              </a:ext>
            </a:extLst>
          </p:cNvPr>
          <p:cNvSpPr/>
          <p:nvPr/>
        </p:nvSpPr>
        <p:spPr>
          <a:xfrm>
            <a:off x="228600" y="3580171"/>
            <a:ext cx="2209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Reflective mask (reticle)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ED9D90-5C89-C038-1623-D327F0F604B2}"/>
              </a:ext>
            </a:extLst>
          </p:cNvPr>
          <p:cNvSpPr/>
          <p:nvPr/>
        </p:nvSpPr>
        <p:spPr>
          <a:xfrm>
            <a:off x="228600" y="4651272"/>
            <a:ext cx="2209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0F7AB3-4CDB-82A1-8233-CD01C882F5D1}"/>
              </a:ext>
            </a:extLst>
          </p:cNvPr>
          <p:cNvSpPr/>
          <p:nvPr/>
        </p:nvSpPr>
        <p:spPr>
          <a:xfrm>
            <a:off x="228600" y="5746954"/>
            <a:ext cx="2209800" cy="685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Wafer stage &amp; photoresist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E0271D-7666-20A2-03A2-1517544FA00D}"/>
              </a:ext>
            </a:extLst>
          </p:cNvPr>
          <p:cNvSpPr/>
          <p:nvPr/>
        </p:nvSpPr>
        <p:spPr>
          <a:xfrm>
            <a:off x="2585884" y="1226577"/>
            <a:ext cx="4495800" cy="1079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a powerful light source (EUV) is used to produce light with a very small wavelength. This small wavelength helps to create fine details on the wafer.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F4606E-E092-A8D2-B218-47EEBD562A7A}"/>
              </a:ext>
            </a:extLst>
          </p:cNvPr>
          <p:cNvSpPr/>
          <p:nvPr/>
        </p:nvSpPr>
        <p:spPr>
          <a:xfrm>
            <a:off x="2590800" y="2492477"/>
            <a:ext cx="4495800" cy="914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is collected by special optics. Then, illumination optics focus the light to ensure it shines directly onto the mask.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513CCE-BAF7-B168-90CE-241F06D7FBE5}"/>
              </a:ext>
            </a:extLst>
          </p:cNvPr>
          <p:cNvSpPr/>
          <p:nvPr/>
        </p:nvSpPr>
        <p:spPr>
          <a:xfrm>
            <a:off x="2590800" y="3555589"/>
            <a:ext cx="4495800" cy="914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mask has a pattern that reflects light onto the wafer to create the design.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159DAB-6BD2-954C-10E7-1B243F3D6F25}"/>
              </a:ext>
            </a:extLst>
          </p:cNvPr>
          <p:cNvSpPr/>
          <p:nvPr/>
        </p:nvSpPr>
        <p:spPr>
          <a:xfrm>
            <a:off x="2585884" y="4574458"/>
            <a:ext cx="4495800" cy="914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passes through optics that reduce and focus the pattern onto the wafer.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FA9D60-BDF5-E50A-7FF1-2D5CB837773F}"/>
              </a:ext>
            </a:extLst>
          </p:cNvPr>
          <p:cNvSpPr/>
          <p:nvPr/>
        </p:nvSpPr>
        <p:spPr>
          <a:xfrm>
            <a:off x="2585884" y="5593327"/>
            <a:ext cx="4495800" cy="9143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wafer with photoresist hardens when exposed to light, forming the pattern.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0FE458-3BAB-D548-97FC-DB293F801C3E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54992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60248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EUV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Light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Source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5227" y="1916430"/>
            <a:ext cx="496633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715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EUV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Light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Source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enough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13.5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nm </a:t>
            </a:r>
            <a:r>
              <a:rPr sz="2000" dirty="0">
                <a:latin typeface="Calibri"/>
                <a:cs typeface="Calibri"/>
              </a:rPr>
              <a:t>photons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maintain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manufacturing </a:t>
            </a:r>
            <a:r>
              <a:rPr sz="2000" dirty="0">
                <a:latin typeface="Calibri"/>
                <a:cs typeface="Calibri"/>
              </a:rPr>
              <a:t>throughput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greatest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engineering feats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history.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sz="2000" b="1" dirty="0">
                <a:latin typeface="Calibri"/>
                <a:cs typeface="Calibri"/>
              </a:rPr>
              <a:t>Construction: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Laser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Produced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Plasma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(LPP)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source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high-</a:t>
            </a:r>
            <a:r>
              <a:rPr sz="2000" dirty="0">
                <a:latin typeface="Calibri"/>
                <a:cs typeface="Calibri"/>
              </a:rPr>
              <a:t>speed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range.</a:t>
            </a:r>
            <a:endParaRPr sz="2000">
              <a:latin typeface="Calibri"/>
              <a:cs typeface="Calibri"/>
            </a:endParaRPr>
          </a:p>
          <a:p>
            <a:pPr marL="12700" marR="16510">
              <a:lnSpc>
                <a:spcPct val="100000"/>
              </a:lnSpc>
              <a:spcBef>
                <a:spcPts val="2400"/>
              </a:spcBef>
            </a:pPr>
            <a:r>
              <a:rPr sz="2000" b="1" dirty="0">
                <a:latin typeface="Calibri"/>
                <a:cs typeface="Calibri"/>
              </a:rPr>
              <a:t>Droplet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Generator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nozzle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ejects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tiny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droplets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molten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(Sn),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microns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wide,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rate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50,000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droplets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second.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18503" y="1982723"/>
            <a:ext cx="5602224" cy="32004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36F828E-994D-8809-C0F0-5A4AA263252B}"/>
              </a:ext>
            </a:extLst>
          </p:cNvPr>
          <p:cNvSpPr/>
          <p:nvPr/>
        </p:nvSpPr>
        <p:spPr>
          <a:xfrm>
            <a:off x="11353800" y="6161727"/>
            <a:ext cx="5334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60248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EUV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Light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Source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2020900"/>
            <a:ext cx="907097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Dual-</a:t>
            </a:r>
            <a:r>
              <a:rPr sz="2400" b="1" dirty="0">
                <a:latin typeface="Calibri"/>
                <a:cs typeface="Calibri"/>
              </a:rPr>
              <a:t>Pulse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Laser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high-</a:t>
            </a:r>
            <a:r>
              <a:rPr sz="2400" dirty="0">
                <a:latin typeface="Calibri"/>
                <a:cs typeface="Calibri"/>
              </a:rPr>
              <a:t>power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CO2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twice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droplet.</a:t>
            </a:r>
            <a:endParaRPr sz="2400" dirty="0">
              <a:latin typeface="Calibri"/>
              <a:cs typeface="Calibri"/>
            </a:endParaRPr>
          </a:p>
          <a:p>
            <a:pPr marL="756285" marR="635000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756285" algn="l"/>
              </a:tabLst>
            </a:pPr>
            <a:r>
              <a:rPr sz="2400" i="1" spc="-10" dirty="0">
                <a:latin typeface="Calibri"/>
                <a:cs typeface="Calibri"/>
              </a:rPr>
              <a:t>Pre-</a:t>
            </a:r>
            <a:r>
              <a:rPr sz="2400" i="1" dirty="0">
                <a:latin typeface="Calibri"/>
                <a:cs typeface="Calibri"/>
              </a:rPr>
              <a:t>pulse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droplet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flatten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"pancake"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shape, </a:t>
            </a:r>
            <a:r>
              <a:rPr sz="2400" dirty="0">
                <a:latin typeface="Calibri"/>
                <a:cs typeface="Calibri"/>
              </a:rPr>
              <a:t>increasing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surface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area.</a:t>
            </a:r>
            <a:endParaRPr sz="2400" dirty="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buFont typeface="Arial MT"/>
              <a:buChar char="•"/>
              <a:tabLst>
                <a:tab pos="756285" algn="l"/>
              </a:tabLst>
            </a:pPr>
            <a:r>
              <a:rPr sz="2400" i="1" dirty="0">
                <a:latin typeface="Calibri"/>
                <a:cs typeface="Calibri"/>
              </a:rPr>
              <a:t>Main</a:t>
            </a:r>
            <a:r>
              <a:rPr sz="2400" i="1" spc="-4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pulse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massive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blast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energy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ionizes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turning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plasma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EUV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light.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104" y="4108703"/>
            <a:ext cx="7892796" cy="256032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0BCB07C-9AA2-BBB5-6D47-AC85FA0CB9E5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54100" y="2234641"/>
            <a:ext cx="5621655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Debris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Control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plasma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creates </a:t>
            </a:r>
            <a:r>
              <a:rPr sz="2400" dirty="0">
                <a:latin typeface="Calibri"/>
                <a:cs typeface="Calibri"/>
              </a:rPr>
              <a:t>tin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"shrapnel"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expensive </a:t>
            </a:r>
            <a:r>
              <a:rPr sz="2400" dirty="0">
                <a:latin typeface="Calibri"/>
                <a:cs typeface="Calibri"/>
              </a:rPr>
              <a:t>optics.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hydrogen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curtain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deflect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particles.</a:t>
            </a: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2885"/>
              </a:spcBef>
            </a:pPr>
            <a:r>
              <a:rPr sz="2400" b="1" dirty="0">
                <a:latin typeface="Calibri"/>
                <a:cs typeface="Calibri"/>
              </a:rPr>
              <a:t>Power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Conversion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electricity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EUV </a:t>
            </a:r>
            <a:r>
              <a:rPr sz="2400" dirty="0">
                <a:latin typeface="Calibri"/>
                <a:cs typeface="Calibri"/>
              </a:rPr>
              <a:t>light.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energy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5360" y="460248"/>
            <a:ext cx="10241280" cy="713657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245"/>
              </a:spcBef>
            </a:pPr>
            <a:r>
              <a:rPr sz="3600" b="1" dirty="0">
                <a:latin typeface="Calibri"/>
                <a:cs typeface="Calibri"/>
              </a:rPr>
              <a:t>Challenges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to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Create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13</a:t>
            </a:r>
            <a:r>
              <a:rPr lang="en-US" sz="3600" b="1" dirty="0">
                <a:latin typeface="Calibri"/>
                <a:cs typeface="Calibri"/>
              </a:rPr>
              <a:t>.5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nm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Light</a:t>
            </a:r>
            <a:endParaRPr sz="3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1197" y="2100291"/>
            <a:ext cx="2867018" cy="322404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5BC283A-CAB0-E8DE-C495-5036701C13CE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32816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45"/>
              </a:spcBef>
            </a:pPr>
            <a:r>
              <a:rPr sz="3600" b="1" spc="-10" dirty="0">
                <a:latin typeface="Calibri"/>
                <a:cs typeface="Calibri"/>
              </a:rPr>
              <a:t>Illuminator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and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Projection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1842896"/>
            <a:ext cx="451040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309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Extreme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Ultraviolet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(EUV) </a:t>
            </a:r>
            <a:r>
              <a:rPr sz="2400" spc="-10" dirty="0">
                <a:latin typeface="Calibri"/>
                <a:cs typeface="Calibri"/>
              </a:rPr>
              <a:t>lithography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machine,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illuminator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projection </a:t>
            </a:r>
            <a:r>
              <a:rPr sz="2400" b="1" dirty="0">
                <a:latin typeface="Calibri"/>
                <a:cs typeface="Calibri"/>
              </a:rPr>
              <a:t>optics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mirror-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guide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13.5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nm </a:t>
            </a:r>
            <a:r>
              <a:rPr sz="2400" dirty="0">
                <a:latin typeface="Calibri"/>
                <a:cs typeface="Calibri"/>
              </a:rPr>
              <a:t>light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nanometer-</a:t>
            </a:r>
            <a:r>
              <a:rPr sz="2400" spc="-10" dirty="0">
                <a:latin typeface="Calibri"/>
                <a:cs typeface="Calibri"/>
              </a:rPr>
              <a:t>scale </a:t>
            </a:r>
            <a:r>
              <a:rPr sz="2400" dirty="0">
                <a:latin typeface="Calibri"/>
                <a:cs typeface="Calibri"/>
              </a:rPr>
              <a:t>circuit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patterns.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EUV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light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absorbed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materials,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including </a:t>
            </a:r>
            <a:r>
              <a:rPr sz="2400" dirty="0">
                <a:latin typeface="Calibri"/>
                <a:cs typeface="Calibri"/>
              </a:rPr>
              <a:t>air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glass,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consist </a:t>
            </a:r>
            <a:r>
              <a:rPr sz="2400" dirty="0">
                <a:latin typeface="Calibri"/>
                <a:cs typeface="Calibri"/>
              </a:rPr>
              <a:t>entirely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ultra-</a:t>
            </a:r>
            <a:r>
              <a:rPr sz="2400" dirty="0">
                <a:latin typeface="Calibri"/>
                <a:cs typeface="Calibri"/>
              </a:rPr>
              <a:t>precise,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multilayer reflective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mirrors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Bagger Reflectors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4504" y="2571265"/>
            <a:ext cx="4976641" cy="25585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95135" y="5688888"/>
            <a:ext cx="55429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All</a:t>
            </a:r>
            <a:r>
              <a:rPr sz="20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the</a:t>
            </a:r>
            <a:r>
              <a:rPr sz="2000" b="1" spc="-3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process</a:t>
            </a:r>
            <a:r>
              <a:rPr sz="20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take</a:t>
            </a:r>
            <a:r>
              <a:rPr sz="2000" b="1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place</a:t>
            </a:r>
            <a:r>
              <a:rPr sz="2000" b="1" spc="-4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in</a:t>
            </a:r>
            <a:r>
              <a:rPr sz="20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a</a:t>
            </a:r>
            <a:r>
              <a:rPr sz="20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E79"/>
                </a:solidFill>
                <a:latin typeface="Calibri"/>
                <a:cs typeface="Calibri"/>
              </a:rPr>
              <a:t>high-vacuum</a:t>
            </a:r>
            <a:r>
              <a:rPr sz="2000" b="1" spc="-5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F4E79"/>
                </a:solidFill>
                <a:latin typeface="Calibri"/>
                <a:cs typeface="Calibri"/>
              </a:rPr>
              <a:t>chamber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565797-7690-2434-B34A-4E66012B6E90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32816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spc="-10" dirty="0">
                <a:latin typeface="Calibri"/>
                <a:cs typeface="Calibri"/>
              </a:rPr>
              <a:t>Construction:</a:t>
            </a:r>
            <a:r>
              <a:rPr sz="3600" b="1" spc="-1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Bragg</a:t>
            </a:r>
            <a:r>
              <a:rPr sz="3600" b="1" spc="-114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Reflectors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1842896"/>
            <a:ext cx="5024120" cy="404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Bragg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Reflectors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mirrors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aren't </a:t>
            </a:r>
            <a:r>
              <a:rPr sz="2400" dirty="0">
                <a:latin typeface="Calibri"/>
                <a:cs typeface="Calibri"/>
              </a:rPr>
              <a:t>smooth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EUV.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Instead,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Mirrors:</a:t>
            </a:r>
            <a:endParaRPr sz="2400">
              <a:latin typeface="Calibri"/>
              <a:cs typeface="Calibri"/>
            </a:endParaRPr>
          </a:p>
          <a:p>
            <a:pPr marL="299085" marR="440055" indent="-287020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~40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alternating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layers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Molybdenum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(Mo)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Silicon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(Si).</a:t>
            </a:r>
            <a:endParaRPr sz="2400">
              <a:latin typeface="Calibri"/>
              <a:cs typeface="Calibri"/>
            </a:endParaRPr>
          </a:p>
          <a:p>
            <a:pPr marL="299085" marR="1310640" indent="-287020" algn="just">
              <a:lnSpc>
                <a:spcPct val="100000"/>
              </a:lnSpc>
              <a:buFont typeface="Wingdings"/>
              <a:buChar char="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precisely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few </a:t>
            </a:r>
            <a:r>
              <a:rPr sz="2400" spc="-10" dirty="0">
                <a:latin typeface="Calibri"/>
                <a:cs typeface="Calibri"/>
              </a:rPr>
              <a:t>nanometers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 </a:t>
            </a:r>
            <a:r>
              <a:rPr sz="2400" dirty="0">
                <a:latin typeface="Calibri"/>
                <a:cs typeface="Calibri"/>
              </a:rPr>
              <a:t>constructive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interference.</a:t>
            </a:r>
            <a:endParaRPr sz="2400">
              <a:latin typeface="Calibri"/>
              <a:cs typeface="Calibri"/>
            </a:endParaRPr>
          </a:p>
          <a:p>
            <a:pPr marL="299085" marR="155575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</a:tabLst>
            </a:pPr>
            <a:r>
              <a:rPr sz="2400" dirty="0">
                <a:latin typeface="Calibri"/>
                <a:cs typeface="Calibri"/>
              </a:rPr>
              <a:t>Reflectivity: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"perfect" </a:t>
            </a:r>
            <a:r>
              <a:rPr sz="2400" dirty="0">
                <a:latin typeface="Calibri"/>
                <a:cs typeface="Calibri"/>
              </a:rPr>
              <a:t>mirrors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reflect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70%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light.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absorbed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heat.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4223" y="2132076"/>
            <a:ext cx="5288280" cy="31897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42961" y="5637987"/>
            <a:ext cx="2680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Reflectivity</a:t>
            </a:r>
            <a:r>
              <a:rPr sz="1800" b="1" spc="-6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~70%</a:t>
            </a:r>
            <a:r>
              <a:rPr sz="1800" b="1" spc="-3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per</a:t>
            </a:r>
            <a:r>
              <a:rPr sz="1800" b="1" spc="-4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F4E79"/>
                </a:solidFill>
                <a:latin typeface="Calibri"/>
                <a:cs typeface="Calibri"/>
              </a:rPr>
              <a:t>mirror System</a:t>
            </a:r>
            <a:r>
              <a:rPr sz="1800" b="1" spc="-5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efficiency</a:t>
            </a:r>
            <a:r>
              <a:rPr sz="1800" b="1" spc="-70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F4E79"/>
                </a:solidFill>
                <a:latin typeface="Calibri"/>
                <a:cs typeface="Calibri"/>
              </a:rPr>
              <a:t>~2%</a:t>
            </a:r>
            <a:r>
              <a:rPr sz="1800" b="1" spc="-25" dirty="0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1F4E79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BAD3F9-457E-EFFC-7D9E-52A75D8D0198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60248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spc="-10" dirty="0">
                <a:latin typeface="Calibri"/>
                <a:cs typeface="Calibri"/>
              </a:rPr>
              <a:t>Operations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of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Optical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System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4100" y="2451353"/>
            <a:ext cx="483362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Mask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Unlike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DUV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transparent),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EUV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masks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reflective.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pattern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etched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absorber 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multi-</a:t>
            </a:r>
            <a:r>
              <a:rPr sz="2400" dirty="0">
                <a:latin typeface="Calibri"/>
                <a:cs typeface="Calibri"/>
              </a:rPr>
              <a:t>layer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mirror.</a:t>
            </a:r>
            <a:endParaRPr sz="2400">
              <a:latin typeface="Calibri"/>
              <a:cs typeface="Calibri"/>
            </a:endParaRPr>
          </a:p>
          <a:p>
            <a:pPr marL="12700" marR="159385" algn="just">
              <a:lnSpc>
                <a:spcPct val="100000"/>
              </a:lnSpc>
              <a:spcBef>
                <a:spcPts val="2880"/>
              </a:spcBef>
            </a:pPr>
            <a:r>
              <a:rPr sz="2400" b="1" dirty="0">
                <a:latin typeface="Calibri"/>
                <a:cs typeface="Calibri"/>
              </a:rPr>
              <a:t>Projection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Optics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mirrors </a:t>
            </a:r>
            <a:r>
              <a:rPr sz="2400" dirty="0">
                <a:latin typeface="Calibri"/>
                <a:cs typeface="Calibri"/>
              </a:rPr>
              <a:t>reduces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(usually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4x)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focuses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silicon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wafer.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2304316"/>
            <a:ext cx="5638800" cy="381071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C104B2F-A645-EBA9-0FA8-9DD79635D056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05384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spc="-10" dirty="0">
                <a:latin typeface="Calibri"/>
                <a:cs typeface="Calibri"/>
              </a:rPr>
              <a:t>Challenges</a:t>
            </a:r>
            <a:r>
              <a:rPr sz="3600" b="1" spc="-9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of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Optical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System</a:t>
            </a:r>
            <a:endParaRPr sz="3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9010" y="1868170"/>
          <a:ext cx="10241914" cy="4371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5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Challenge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Solution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Light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Absorption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Light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dies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air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glass.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203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entire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optical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path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near-total vacuum.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Thermal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Expansion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3751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Heat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absorbed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light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warps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mirrors.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4193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Mirrors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Ultra-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Low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Expansion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(ULE)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glass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actively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cooled.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5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7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Surface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Roughness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Atomic-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scale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bumps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cause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blur.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92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366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Mirrors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polished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precision equivalent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"a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bump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size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marble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road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spanning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New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York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San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Francisco."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7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Pellicle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9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Dust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mask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ruins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chip.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9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3114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specialized,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ultra-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silicon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carbon-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nanotube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membrane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(pellicle)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protects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mask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letting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EUV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pass.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ABA2AA35-8F01-84BD-71CC-F54245093D52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360" y="487680"/>
            <a:ext cx="10241280" cy="92392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600" b="1" dirty="0">
                <a:latin typeface="Calibri"/>
                <a:cs typeface="Calibri"/>
              </a:rPr>
              <a:t>EUV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Evolution:</a:t>
            </a:r>
            <a:r>
              <a:rPr sz="3600" b="1" spc="-45" dirty="0">
                <a:latin typeface="Calibri"/>
                <a:cs typeface="Calibri"/>
              </a:rPr>
              <a:t> </a:t>
            </a:r>
            <a:r>
              <a:rPr sz="3600" b="1" spc="-25" dirty="0">
                <a:latin typeface="Calibri"/>
                <a:cs typeface="Calibri"/>
              </a:rPr>
              <a:t>Low-</a:t>
            </a:r>
            <a:r>
              <a:rPr sz="3600" b="1" dirty="0">
                <a:latin typeface="Calibri"/>
                <a:cs typeface="Calibri"/>
              </a:rPr>
              <a:t>NA</a:t>
            </a:r>
            <a:r>
              <a:rPr sz="3600" b="1" spc="-5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to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spc="-25" dirty="0">
                <a:latin typeface="Calibri"/>
                <a:cs typeface="Calibri"/>
              </a:rPr>
              <a:t>High-NA</a:t>
            </a:r>
            <a:endParaRPr sz="36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9010" y="1749298"/>
          <a:ext cx="10241279" cy="462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91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Low-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</a:t>
                      </a:r>
                      <a:r>
                        <a:rPr sz="18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EUV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(NXE:3400B/C)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Advanced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Low-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EUV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(NXE:3600D)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7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High-NA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EUV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(EXE:5000)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Years</a:t>
                      </a:r>
                      <a:r>
                        <a:rPr sz="18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Application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2019–present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(HVM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ramp-up)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2022–present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(volume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production)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2025–present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(initial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shipments)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Numerical</a:t>
                      </a:r>
                      <a:r>
                        <a:rPr sz="1800" b="1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Aperture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(NA)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0.33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0.33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0.55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Resolution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(half-pitch)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~13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79184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~13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(improved productivity)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71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~8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78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Throughput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(wafers/hour)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~125–170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~170–200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~185–220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184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4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080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Processor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Examples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3175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TSMC/Samsung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nm/3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(e.g.,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A16,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Snapdragon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Gen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 marR="31686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TSMC/Samsung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nm/2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(e.g.,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A18,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NVIDIA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Blackwell)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Intel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14A/1.4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TSMC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5143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1.6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(sub-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nm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logic)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3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7C9E8448-06ED-4583-66E7-2D4DA9A01095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6051" y="533400"/>
            <a:ext cx="4471670" cy="649537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45"/>
              </a:spcBef>
            </a:pPr>
            <a:r>
              <a:rPr sz="3600" spc="-10" dirty="0">
                <a:latin typeface="Calibri"/>
                <a:cs typeface="Calibri"/>
              </a:rPr>
              <a:t>Reference</a:t>
            </a:r>
            <a:r>
              <a:rPr lang="en-US" sz="3600" spc="-10" dirty="0">
                <a:latin typeface="Calibri"/>
                <a:cs typeface="Calibri"/>
              </a:rPr>
              <a:t>s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538" y="1577721"/>
            <a:ext cx="11490960" cy="417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1600" dirty="0"/>
              <a:t>[1] ASML, “EUV lithography systems – Products,” ASML. [Online]. Available: </a:t>
            </a:r>
            <a:r>
              <a:rPr lang="en-US" sz="1600" dirty="0">
                <a:hlinkClick r:id="rId2"/>
              </a:rPr>
              <a:t>https://www.asml.com/en/products/euv-lithography-systems</a:t>
            </a:r>
            <a:r>
              <a:rPr lang="en-US" sz="1600" dirty="0"/>
              <a:t>. [Accessed: Feb. 10, 2026]. </a:t>
            </a:r>
            <a:r>
              <a:rPr lang="en-US" sz="1600" dirty="0">
                <a:hlinkClick r:id="rId3"/>
              </a:rPr>
              <a:t>ppl-ai-file-upload.s3.amazonaws</a:t>
            </a:r>
            <a:endParaRPr lang="en-US" sz="1600" dirty="0"/>
          </a:p>
          <a:p>
            <a:r>
              <a:rPr lang="en-US" sz="1600" dirty="0"/>
              <a:t>[2] ASML, “TWINSCAN EXE:5000 – EUV lithography systems,” ASML. [Online]. Available: </a:t>
            </a:r>
            <a:r>
              <a:rPr lang="en-US" sz="1600" dirty="0">
                <a:hlinkClick r:id="rId4"/>
              </a:rPr>
              <a:t>https://www.asml.com/products/euv-lithography-systems/twinscan-exe-5000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5"/>
              </a:rPr>
              <a:t>dynotech</a:t>
            </a:r>
            <a:r>
              <a:rPr lang="en-US" sz="1600" dirty="0">
                <a:hlinkClick r:id="rId5"/>
              </a:rPr>
              <a:t>-solutions</a:t>
            </a:r>
            <a:endParaRPr lang="en-US" sz="1600" dirty="0"/>
          </a:p>
          <a:p>
            <a:r>
              <a:rPr lang="en-US" sz="1600" dirty="0"/>
              <a:t>[3] ASML, “TWINSCAN NXE:3400C – EUV lithography,” ASML. [Online]. Available: </a:t>
            </a:r>
            <a:r>
              <a:rPr lang="en-US" sz="1600" dirty="0">
                <a:hlinkClick r:id="rId6"/>
              </a:rPr>
              <a:t>https://www.asml.com/products/euv-lithography-systems/twinscan-nxe3400c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7"/>
              </a:rPr>
              <a:t>en.wikipedia</a:t>
            </a:r>
            <a:endParaRPr lang="en-US" sz="1600" dirty="0"/>
          </a:p>
          <a:p>
            <a:r>
              <a:rPr lang="en-US" sz="1600" dirty="0"/>
              <a:t>[4] World of Photonics, “EUV lithography—how does it work?,” World of Photonics. [Online]. Available: </a:t>
            </a:r>
            <a:r>
              <a:rPr lang="en-US" sz="1600" dirty="0">
                <a:hlinkClick r:id="rId8"/>
              </a:rPr>
              <a:t>https://world-of-photonics.com/en/photonics-industry-portal/detail/euv-lithography.html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9"/>
              </a:rPr>
              <a:t>youtube</a:t>
            </a:r>
            <a:endParaRPr lang="en-US" sz="1600" dirty="0"/>
          </a:p>
          <a:p>
            <a:r>
              <a:rPr lang="en-US" sz="1600" dirty="0"/>
              <a:t>[5] </a:t>
            </a:r>
            <a:r>
              <a:rPr lang="en-US" sz="1600" dirty="0" err="1"/>
              <a:t>imec</a:t>
            </a:r>
            <a:r>
              <a:rPr lang="en-US" sz="1600" dirty="0"/>
              <a:t>, “High-NA EUV lithography: the next major step in lithography,” </a:t>
            </a:r>
            <a:r>
              <a:rPr lang="en-US" sz="1600" dirty="0" err="1"/>
              <a:t>imec</a:t>
            </a:r>
            <a:r>
              <a:rPr lang="en-US" sz="1600" dirty="0"/>
              <a:t>. [Online]. Available: </a:t>
            </a:r>
            <a:r>
              <a:rPr lang="en-US" sz="1600" dirty="0">
                <a:hlinkClick r:id="rId10"/>
              </a:rPr>
              <a:t>https://www.imec-int.com/en/articles/high-na-euvl-next-major-step-lithography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11"/>
              </a:rPr>
              <a:t>stellarix</a:t>
            </a:r>
            <a:endParaRPr lang="en-US" sz="1600" dirty="0"/>
          </a:p>
          <a:p>
            <a:r>
              <a:rPr lang="en-US" sz="1600" dirty="0"/>
              <a:t>[6] </a:t>
            </a:r>
            <a:r>
              <a:rPr lang="en-US" sz="1600" dirty="0" err="1"/>
              <a:t>imec</a:t>
            </a:r>
            <a:r>
              <a:rPr lang="en-US" sz="1600" dirty="0"/>
              <a:t>, “Entering the High NA EUV Lithography era,” </a:t>
            </a:r>
            <a:r>
              <a:rPr lang="en-US" sz="1600" dirty="0" err="1"/>
              <a:t>imec</a:t>
            </a:r>
            <a:r>
              <a:rPr lang="en-US" sz="1600" dirty="0"/>
              <a:t>. [Online]. Available: </a:t>
            </a:r>
            <a:r>
              <a:rPr lang="en-US" sz="1600" dirty="0">
                <a:hlinkClick r:id="rId12"/>
              </a:rPr>
              <a:t>https://www.imec-int.com/en/articles/entering-high-na-euv-lithography-era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13"/>
              </a:rPr>
              <a:t>linkedin</a:t>
            </a:r>
            <a:endParaRPr lang="en-US" sz="1600" dirty="0"/>
          </a:p>
          <a:p>
            <a:r>
              <a:rPr lang="en-US" sz="1600" dirty="0"/>
              <a:t>[7] Wikipedia, “Extreme ultraviolet lithography,” Wikipedia. [Online]. Available: </a:t>
            </a:r>
            <a:r>
              <a:rPr lang="en-US" sz="1600" dirty="0">
                <a:hlinkClick r:id="rId14"/>
              </a:rPr>
              <a:t>https://en.wikipedia.org/wiki/Extreme_ultraviolet_lithography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15"/>
              </a:rPr>
              <a:t>asml</a:t>
            </a:r>
            <a:endParaRPr lang="en-US" sz="1600" dirty="0"/>
          </a:p>
          <a:p>
            <a:r>
              <a:rPr lang="en-US" sz="1600" dirty="0"/>
              <a:t>[8] </a:t>
            </a:r>
            <a:r>
              <a:rPr lang="en-US" sz="1600" dirty="0" err="1"/>
              <a:t>Dynotech</a:t>
            </a:r>
            <a:r>
              <a:rPr lang="en-US" sz="1600" dirty="0"/>
              <a:t> Solutions, “Innovations in Semiconductor Lithography Machines and Equipment,” </a:t>
            </a:r>
            <a:r>
              <a:rPr lang="en-US" sz="1600" dirty="0" err="1"/>
              <a:t>Dynotech</a:t>
            </a:r>
            <a:r>
              <a:rPr lang="en-US" sz="1600" dirty="0"/>
              <a:t> Solutions, Sep. 30, 2024. [Online]. Available: </a:t>
            </a:r>
            <a:r>
              <a:rPr lang="en-US" sz="1600" dirty="0">
                <a:hlinkClick r:id="rId5"/>
              </a:rPr>
              <a:t>https://dynotech-solutions.com/blogs/innovations-in-semiconductor-lithography-machines-and-equipment/</a:t>
            </a:r>
            <a:r>
              <a:rPr lang="en-US" sz="1600" dirty="0"/>
              <a:t>. [Accessed: Feb. 10, 2026]. </a:t>
            </a:r>
            <a:r>
              <a:rPr lang="en-US" sz="1600" dirty="0" err="1">
                <a:hlinkClick r:id="rId16"/>
              </a:rPr>
              <a:t>oist</a:t>
            </a:r>
            <a:endParaRPr lang="en-US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541A92-F501-7F30-5EB3-DDB4123D05BD}"/>
              </a:ext>
            </a:extLst>
          </p:cNvPr>
          <p:cNvSpPr/>
          <p:nvPr/>
        </p:nvSpPr>
        <p:spPr>
          <a:xfrm>
            <a:off x="11353800" y="6161727"/>
            <a:ext cx="609600" cy="4145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170" dirty="0"/>
              <a:t> </a:t>
            </a:r>
            <a:r>
              <a:rPr spc="-780" dirty="0"/>
              <a:t>Y</a:t>
            </a:r>
            <a:r>
              <a:rPr spc="30" dirty="0"/>
              <a:t>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1850</Words>
  <Application>Microsoft Office PowerPoint</Application>
  <PresentationFormat>Widescreen</PresentationFormat>
  <Paragraphs>215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Black</vt:lpstr>
      <vt:lpstr>Arial MT</vt:lpstr>
      <vt:lpstr>Calibri</vt:lpstr>
      <vt:lpstr>Cambria</vt:lpstr>
      <vt:lpstr>Times New Roman</vt:lpstr>
      <vt:lpstr>Trebuchet MS</vt:lpstr>
      <vt:lpstr>Wingdings</vt:lpstr>
      <vt:lpstr>Office Theme</vt:lpstr>
      <vt:lpstr>Extreme Ultraviolet (EUV) Lithography</vt:lpstr>
      <vt:lpstr>What is Lithography?</vt:lpstr>
      <vt:lpstr>Technologies Used in Chip Manufacturing Over Time</vt:lpstr>
      <vt:lpstr>Technologies Used in Chip Manufacturing</vt:lpstr>
      <vt:lpstr>Recent Generations of Photolithography</vt:lpstr>
      <vt:lpstr>Recent Generations of Photolithography</vt:lpstr>
      <vt:lpstr>Steps in Photolithography</vt:lpstr>
      <vt:lpstr>Parameters of EUV Lithography</vt:lpstr>
      <vt:lpstr>PowerPoint Presentation</vt:lpstr>
      <vt:lpstr>The EUV Light Source</vt:lpstr>
      <vt:lpstr>The EUV Light Source</vt:lpstr>
      <vt:lpstr>Challenges to Create 13.5 nm Light</vt:lpstr>
      <vt:lpstr>Illuminator and Projection</vt:lpstr>
      <vt:lpstr>Construction: Bragg Reflectors</vt:lpstr>
      <vt:lpstr>Operations of The Optical System</vt:lpstr>
      <vt:lpstr>Challenges of The Optical System</vt:lpstr>
      <vt:lpstr>EUV Evolution: Low-NA to High-NA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Niaz Morshed Razon</dc:creator>
  <cp:lastModifiedBy>Md. Niaz Morshed Razon</cp:lastModifiedBy>
  <cp:revision>3</cp:revision>
  <dcterms:created xsi:type="dcterms:W3CDTF">2026-02-21T06:01:12Z</dcterms:created>
  <dcterms:modified xsi:type="dcterms:W3CDTF">2026-02-21T22:34:55Z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2026-02-21T00:00:00Z</vt:filetime>
  </property>
  <property fmtid="{D5CDD505-2E9C-101B-9397-08002B2CF9AE}" pid="5" name="Producer">
    <vt:lpwstr>Microsoft® PowerPoint® 2021</vt:lpwstr>
  </property>
</Properties>
</file>