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8" r:id="rId7"/>
    <p:sldId id="269" r:id="rId8"/>
    <p:sldId id="279" r:id="rId9"/>
    <p:sldId id="278" r:id="rId10"/>
    <p:sldId id="258" r:id="rId11"/>
    <p:sldId id="261" r:id="rId12"/>
    <p:sldId id="259" r:id="rId13"/>
    <p:sldId id="263" r:id="rId14"/>
    <p:sldId id="264" r:id="rId15"/>
    <p:sldId id="267" r:id="rId16"/>
    <p:sldId id="271" r:id="rId17"/>
    <p:sldId id="274" r:id="rId18"/>
    <p:sldId id="273" r:id="rId19"/>
    <p:sldId id="275" r:id="rId20"/>
    <p:sldId id="276" r:id="rId21"/>
    <p:sldId id="277" r:id="rId22"/>
    <p:sldId id="282"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5330BD-6A79-4522-8F7B-2A85E2CB5119}"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F66B5608-2652-49B6-B18B-33F01BC71044}">
      <dgm:prSet/>
      <dgm:spPr/>
      <dgm:t>
        <a:bodyPr/>
        <a:lstStyle/>
        <a:p>
          <a:r>
            <a:rPr lang="en-US" b="1" dirty="0"/>
            <a:t>EUV light source</a:t>
          </a:r>
        </a:p>
      </dgm:t>
    </dgm:pt>
    <dgm:pt modelId="{672AA9C9-A3C1-476A-BB15-72A2F61073A3}" type="parTrans" cxnId="{389AD096-CF06-4408-A6E5-74BF184CB84A}">
      <dgm:prSet/>
      <dgm:spPr/>
      <dgm:t>
        <a:bodyPr/>
        <a:lstStyle/>
        <a:p>
          <a:endParaRPr lang="en-US"/>
        </a:p>
      </dgm:t>
    </dgm:pt>
    <dgm:pt modelId="{DFD4C016-1051-42CB-A454-45F7BAD7EF14}" type="sibTrans" cxnId="{389AD096-CF06-4408-A6E5-74BF184CB84A}">
      <dgm:prSet/>
      <dgm:spPr/>
      <dgm:t>
        <a:bodyPr/>
        <a:lstStyle/>
        <a:p>
          <a:endParaRPr lang="en-US"/>
        </a:p>
      </dgm:t>
    </dgm:pt>
    <dgm:pt modelId="{7961568F-2BB9-4A8C-AA5E-8BF8EC476B1A}">
      <dgm:prSet/>
      <dgm:spPr/>
      <dgm:t>
        <a:bodyPr/>
        <a:lstStyle/>
        <a:p>
          <a:r>
            <a:rPr lang="en-US" b="1" dirty="0"/>
            <a:t>Collector &amp; Illumination optics</a:t>
          </a:r>
        </a:p>
      </dgm:t>
    </dgm:pt>
    <dgm:pt modelId="{E7925380-8F4C-4E4B-A3B7-A4B1814202BE}" type="parTrans" cxnId="{0F64CF7B-8CF3-47BC-BBC2-D2244DE67275}">
      <dgm:prSet/>
      <dgm:spPr/>
      <dgm:t>
        <a:bodyPr/>
        <a:lstStyle/>
        <a:p>
          <a:endParaRPr lang="en-US"/>
        </a:p>
      </dgm:t>
    </dgm:pt>
    <dgm:pt modelId="{1110F4BF-E801-44B8-BB95-40DCECB1C6ED}" type="sibTrans" cxnId="{0F64CF7B-8CF3-47BC-BBC2-D2244DE67275}">
      <dgm:prSet/>
      <dgm:spPr/>
      <dgm:t>
        <a:bodyPr/>
        <a:lstStyle/>
        <a:p>
          <a:endParaRPr lang="en-US"/>
        </a:p>
      </dgm:t>
    </dgm:pt>
    <dgm:pt modelId="{6EBD8714-47B5-4379-9D34-767276BB244A}">
      <dgm:prSet/>
      <dgm:spPr/>
      <dgm:t>
        <a:bodyPr/>
        <a:lstStyle/>
        <a:p>
          <a:r>
            <a:rPr lang="en-US" b="1" dirty="0"/>
            <a:t>Reflective mask (reticle)</a:t>
          </a:r>
        </a:p>
      </dgm:t>
    </dgm:pt>
    <dgm:pt modelId="{AF200A65-F9BD-4C40-B823-7DF76C1D6DC0}" type="parTrans" cxnId="{81A4185D-0963-4157-90F9-4669C02B6EB9}">
      <dgm:prSet/>
      <dgm:spPr/>
      <dgm:t>
        <a:bodyPr/>
        <a:lstStyle/>
        <a:p>
          <a:endParaRPr lang="en-US"/>
        </a:p>
      </dgm:t>
    </dgm:pt>
    <dgm:pt modelId="{D2BC3699-0209-4622-9A1E-87FCC1544382}" type="sibTrans" cxnId="{81A4185D-0963-4157-90F9-4669C02B6EB9}">
      <dgm:prSet/>
      <dgm:spPr/>
      <dgm:t>
        <a:bodyPr/>
        <a:lstStyle/>
        <a:p>
          <a:endParaRPr lang="en-US"/>
        </a:p>
      </dgm:t>
    </dgm:pt>
    <dgm:pt modelId="{CC04ED7D-24DD-49DD-AD05-40DC1A2CD06A}">
      <dgm:prSet/>
      <dgm:spPr/>
      <dgm:t>
        <a:bodyPr/>
        <a:lstStyle/>
        <a:p>
          <a:r>
            <a:rPr lang="en-US" b="1" dirty="0"/>
            <a:t>Projection optics</a:t>
          </a:r>
        </a:p>
      </dgm:t>
    </dgm:pt>
    <dgm:pt modelId="{CBB796ED-0783-4CDE-88D1-7C3622DB8A37}" type="parTrans" cxnId="{B17B98F8-77B4-4EA8-9A41-72BED5216547}">
      <dgm:prSet/>
      <dgm:spPr/>
      <dgm:t>
        <a:bodyPr/>
        <a:lstStyle/>
        <a:p>
          <a:endParaRPr lang="en-US"/>
        </a:p>
      </dgm:t>
    </dgm:pt>
    <dgm:pt modelId="{5C6A1891-2558-4FC0-8373-77C005D6FD05}" type="sibTrans" cxnId="{B17B98F8-77B4-4EA8-9A41-72BED5216547}">
      <dgm:prSet/>
      <dgm:spPr/>
      <dgm:t>
        <a:bodyPr/>
        <a:lstStyle/>
        <a:p>
          <a:endParaRPr lang="en-US"/>
        </a:p>
      </dgm:t>
    </dgm:pt>
    <dgm:pt modelId="{4FB2B616-8EE6-4FA5-B437-8919F577E220}">
      <dgm:prSet/>
      <dgm:spPr/>
      <dgm:t>
        <a:bodyPr/>
        <a:lstStyle/>
        <a:p>
          <a:r>
            <a:rPr lang="en-US" b="1" dirty="0"/>
            <a:t>Wafer stage &amp; photoresist</a:t>
          </a:r>
        </a:p>
      </dgm:t>
    </dgm:pt>
    <dgm:pt modelId="{FFA8E819-3DB3-4AF3-ADE6-4296D14E1F21}" type="parTrans" cxnId="{D9C98CE4-4B79-4D58-B8D7-6A786372B1A1}">
      <dgm:prSet/>
      <dgm:spPr/>
      <dgm:t>
        <a:bodyPr/>
        <a:lstStyle/>
        <a:p>
          <a:endParaRPr lang="en-US"/>
        </a:p>
      </dgm:t>
    </dgm:pt>
    <dgm:pt modelId="{26C3A67E-31BA-4138-B781-9E75400055F2}" type="sibTrans" cxnId="{D9C98CE4-4B79-4D58-B8D7-6A786372B1A1}">
      <dgm:prSet/>
      <dgm:spPr/>
      <dgm:t>
        <a:bodyPr/>
        <a:lstStyle/>
        <a:p>
          <a:endParaRPr lang="en-US"/>
        </a:p>
      </dgm:t>
    </dgm:pt>
    <dgm:pt modelId="{C1BD5BA1-48D8-483C-A4DC-254C2D610449}" type="pres">
      <dgm:prSet presAssocID="{105330BD-6A79-4522-8F7B-2A85E2CB5119}" presName="rootnode" presStyleCnt="0">
        <dgm:presLayoutVars>
          <dgm:chMax/>
          <dgm:chPref/>
          <dgm:dir/>
          <dgm:animLvl val="lvl"/>
        </dgm:presLayoutVars>
      </dgm:prSet>
      <dgm:spPr/>
    </dgm:pt>
    <dgm:pt modelId="{B865F10E-F637-4671-AEE8-9FB35F806A6F}" type="pres">
      <dgm:prSet presAssocID="{F66B5608-2652-49B6-B18B-33F01BC71044}" presName="composite" presStyleCnt="0"/>
      <dgm:spPr/>
    </dgm:pt>
    <dgm:pt modelId="{A16E6597-C477-40AD-A367-F791B862C29B}" type="pres">
      <dgm:prSet presAssocID="{F66B5608-2652-49B6-B18B-33F01BC71044}" presName="bentUpArrow1" presStyleLbl="alignImgPlace1" presStyleIdx="0" presStyleCnt="4"/>
      <dgm:spPr/>
    </dgm:pt>
    <dgm:pt modelId="{AF1B9212-8ADF-4E64-B95F-E724B42BEBAD}" type="pres">
      <dgm:prSet presAssocID="{F66B5608-2652-49B6-B18B-33F01BC71044}" presName="ParentText" presStyleLbl="node1" presStyleIdx="0" presStyleCnt="5" custScaleX="171974" custLinFactNeighborX="23048" custLinFactNeighborY="-1098">
        <dgm:presLayoutVars>
          <dgm:chMax val="1"/>
          <dgm:chPref val="1"/>
          <dgm:bulletEnabled val="1"/>
        </dgm:presLayoutVars>
      </dgm:prSet>
      <dgm:spPr/>
    </dgm:pt>
    <dgm:pt modelId="{C1E45157-C4DE-499F-8781-2DB1342433C4}" type="pres">
      <dgm:prSet presAssocID="{F66B5608-2652-49B6-B18B-33F01BC71044}" presName="ChildText" presStyleLbl="revTx" presStyleIdx="0" presStyleCnt="4">
        <dgm:presLayoutVars>
          <dgm:chMax val="0"/>
          <dgm:chPref val="0"/>
          <dgm:bulletEnabled val="1"/>
        </dgm:presLayoutVars>
      </dgm:prSet>
      <dgm:spPr/>
    </dgm:pt>
    <dgm:pt modelId="{AAA45A85-5FC6-44CF-A0E4-D53CE1873FBD}" type="pres">
      <dgm:prSet presAssocID="{DFD4C016-1051-42CB-A454-45F7BAD7EF14}" presName="sibTrans" presStyleCnt="0"/>
      <dgm:spPr/>
    </dgm:pt>
    <dgm:pt modelId="{7344E12C-C2BA-468A-990B-64924FC798DF}" type="pres">
      <dgm:prSet presAssocID="{7961568F-2BB9-4A8C-AA5E-8BF8EC476B1A}" presName="composite" presStyleCnt="0"/>
      <dgm:spPr/>
    </dgm:pt>
    <dgm:pt modelId="{06FA80B9-03DA-425C-AB4A-C89F7FE3ADA9}" type="pres">
      <dgm:prSet presAssocID="{7961568F-2BB9-4A8C-AA5E-8BF8EC476B1A}" presName="bentUpArrow1" presStyleLbl="alignImgPlace1" presStyleIdx="1" presStyleCnt="4"/>
      <dgm:spPr/>
    </dgm:pt>
    <dgm:pt modelId="{72D729F0-FFA9-45FE-9969-D2D765FF0CFD}" type="pres">
      <dgm:prSet presAssocID="{7961568F-2BB9-4A8C-AA5E-8BF8EC476B1A}" presName="ParentText" presStyleLbl="node1" presStyleIdx="1" presStyleCnt="5" custScaleX="157303" custLinFactNeighborX="10654" custLinFactNeighborY="-325">
        <dgm:presLayoutVars>
          <dgm:chMax val="1"/>
          <dgm:chPref val="1"/>
          <dgm:bulletEnabled val="1"/>
        </dgm:presLayoutVars>
      </dgm:prSet>
      <dgm:spPr/>
    </dgm:pt>
    <dgm:pt modelId="{3A1D3E02-3E1E-44D0-9083-BAE5B505CB8A}" type="pres">
      <dgm:prSet presAssocID="{7961568F-2BB9-4A8C-AA5E-8BF8EC476B1A}" presName="ChildText" presStyleLbl="revTx" presStyleIdx="1" presStyleCnt="4">
        <dgm:presLayoutVars>
          <dgm:chMax val="0"/>
          <dgm:chPref val="0"/>
          <dgm:bulletEnabled val="1"/>
        </dgm:presLayoutVars>
      </dgm:prSet>
      <dgm:spPr/>
    </dgm:pt>
    <dgm:pt modelId="{E7BA670F-2EF2-4E83-BC85-4032068138E5}" type="pres">
      <dgm:prSet presAssocID="{1110F4BF-E801-44B8-BB95-40DCECB1C6ED}" presName="sibTrans" presStyleCnt="0"/>
      <dgm:spPr/>
    </dgm:pt>
    <dgm:pt modelId="{95BEE77A-6FFF-4A79-9E16-5412AC28138E}" type="pres">
      <dgm:prSet presAssocID="{6EBD8714-47B5-4379-9D34-767276BB244A}" presName="composite" presStyleCnt="0"/>
      <dgm:spPr/>
    </dgm:pt>
    <dgm:pt modelId="{95D59478-A654-4FA8-8020-2DA2A7BABAAE}" type="pres">
      <dgm:prSet presAssocID="{6EBD8714-47B5-4379-9D34-767276BB244A}" presName="bentUpArrow1" presStyleLbl="alignImgPlace1" presStyleIdx="2" presStyleCnt="4"/>
      <dgm:spPr/>
    </dgm:pt>
    <dgm:pt modelId="{C300D67C-6F10-4037-8063-6A9BA0F3BDBC}" type="pres">
      <dgm:prSet presAssocID="{6EBD8714-47B5-4379-9D34-767276BB244A}" presName="ParentText" presStyleLbl="node1" presStyleIdx="2" presStyleCnt="5" custScaleX="162711" custLinFactNeighborX="6849" custLinFactNeighborY="148">
        <dgm:presLayoutVars>
          <dgm:chMax val="1"/>
          <dgm:chPref val="1"/>
          <dgm:bulletEnabled val="1"/>
        </dgm:presLayoutVars>
      </dgm:prSet>
      <dgm:spPr/>
    </dgm:pt>
    <dgm:pt modelId="{5D841E55-6A4E-41AE-92A5-61FD2531AC50}" type="pres">
      <dgm:prSet presAssocID="{6EBD8714-47B5-4379-9D34-767276BB244A}" presName="ChildText" presStyleLbl="revTx" presStyleIdx="2" presStyleCnt="4">
        <dgm:presLayoutVars>
          <dgm:chMax val="0"/>
          <dgm:chPref val="0"/>
          <dgm:bulletEnabled val="1"/>
        </dgm:presLayoutVars>
      </dgm:prSet>
      <dgm:spPr/>
    </dgm:pt>
    <dgm:pt modelId="{CB4BF302-1428-42CF-A9F2-0CF82CABC3DD}" type="pres">
      <dgm:prSet presAssocID="{D2BC3699-0209-4622-9A1E-87FCC1544382}" presName="sibTrans" presStyleCnt="0"/>
      <dgm:spPr/>
    </dgm:pt>
    <dgm:pt modelId="{3F2FEF7D-14AC-4D39-A038-7F8A7E6C9255}" type="pres">
      <dgm:prSet presAssocID="{CC04ED7D-24DD-49DD-AD05-40DC1A2CD06A}" presName="composite" presStyleCnt="0"/>
      <dgm:spPr/>
    </dgm:pt>
    <dgm:pt modelId="{AF36E407-0D95-4C87-B8B9-2A69C9AA135A}" type="pres">
      <dgm:prSet presAssocID="{CC04ED7D-24DD-49DD-AD05-40DC1A2CD06A}" presName="bentUpArrow1" presStyleLbl="alignImgPlace1" presStyleIdx="3" presStyleCnt="4" custLinFactNeighborX="14601" custLinFactNeighborY="-2788"/>
      <dgm:spPr/>
    </dgm:pt>
    <dgm:pt modelId="{C96981D9-9AFC-4A35-AAD4-60AC7404CA15}" type="pres">
      <dgm:prSet presAssocID="{CC04ED7D-24DD-49DD-AD05-40DC1A2CD06A}" presName="ParentText" presStyleLbl="node1" presStyleIdx="3" presStyleCnt="5" custScaleX="142243" custLinFactNeighborX="4797" custLinFactNeighborY="-2415">
        <dgm:presLayoutVars>
          <dgm:chMax val="1"/>
          <dgm:chPref val="1"/>
          <dgm:bulletEnabled val="1"/>
        </dgm:presLayoutVars>
      </dgm:prSet>
      <dgm:spPr/>
    </dgm:pt>
    <dgm:pt modelId="{D8E428D2-C221-4016-B88B-11CECC01D23C}" type="pres">
      <dgm:prSet presAssocID="{CC04ED7D-24DD-49DD-AD05-40DC1A2CD06A}" presName="ChildText" presStyleLbl="revTx" presStyleIdx="3" presStyleCnt="4">
        <dgm:presLayoutVars>
          <dgm:chMax val="0"/>
          <dgm:chPref val="0"/>
          <dgm:bulletEnabled val="1"/>
        </dgm:presLayoutVars>
      </dgm:prSet>
      <dgm:spPr/>
    </dgm:pt>
    <dgm:pt modelId="{43F947D3-6BB2-421C-9CEC-90F7ADE3ED05}" type="pres">
      <dgm:prSet presAssocID="{5C6A1891-2558-4FC0-8373-77C005D6FD05}" presName="sibTrans" presStyleCnt="0"/>
      <dgm:spPr/>
    </dgm:pt>
    <dgm:pt modelId="{A87DE615-65B2-4610-B0AD-F4FDAFE054DF}" type="pres">
      <dgm:prSet presAssocID="{4FB2B616-8EE6-4FA5-B437-8919F577E220}" presName="composite" presStyleCnt="0"/>
      <dgm:spPr/>
    </dgm:pt>
    <dgm:pt modelId="{45561FBD-5AE0-41B6-920B-ACF177F28E73}" type="pres">
      <dgm:prSet presAssocID="{4FB2B616-8EE6-4FA5-B437-8919F577E220}" presName="ParentText" presStyleLbl="node1" presStyleIdx="4" presStyleCnt="5" custScaleX="159731" custLinFactNeighborX="10066" custLinFactNeighborY="1265">
        <dgm:presLayoutVars>
          <dgm:chMax val="1"/>
          <dgm:chPref val="1"/>
          <dgm:bulletEnabled val="1"/>
        </dgm:presLayoutVars>
      </dgm:prSet>
      <dgm:spPr/>
    </dgm:pt>
  </dgm:ptLst>
  <dgm:cxnLst>
    <dgm:cxn modelId="{E8A7870C-984D-4E84-8269-2AC578CFCE1F}" type="presOf" srcId="{F66B5608-2652-49B6-B18B-33F01BC71044}" destId="{AF1B9212-8ADF-4E64-B95F-E724B42BEBAD}" srcOrd="0" destOrd="0" presId="urn:microsoft.com/office/officeart/2005/8/layout/StepDownProcess"/>
    <dgm:cxn modelId="{81A4185D-0963-4157-90F9-4669C02B6EB9}" srcId="{105330BD-6A79-4522-8F7B-2A85E2CB5119}" destId="{6EBD8714-47B5-4379-9D34-767276BB244A}" srcOrd="2" destOrd="0" parTransId="{AF200A65-F9BD-4C40-B823-7DF76C1D6DC0}" sibTransId="{D2BC3699-0209-4622-9A1E-87FCC1544382}"/>
    <dgm:cxn modelId="{F5BCB56A-E14A-495A-8780-37F131ABC551}" type="presOf" srcId="{7961568F-2BB9-4A8C-AA5E-8BF8EC476B1A}" destId="{72D729F0-FFA9-45FE-9969-D2D765FF0CFD}" srcOrd="0" destOrd="0" presId="urn:microsoft.com/office/officeart/2005/8/layout/StepDownProcess"/>
    <dgm:cxn modelId="{0F64CF7B-8CF3-47BC-BBC2-D2244DE67275}" srcId="{105330BD-6A79-4522-8F7B-2A85E2CB5119}" destId="{7961568F-2BB9-4A8C-AA5E-8BF8EC476B1A}" srcOrd="1" destOrd="0" parTransId="{E7925380-8F4C-4E4B-A3B7-A4B1814202BE}" sibTransId="{1110F4BF-E801-44B8-BB95-40DCECB1C6ED}"/>
    <dgm:cxn modelId="{E38F3184-51AA-455F-98AE-3956C6A62E48}" type="presOf" srcId="{6EBD8714-47B5-4379-9D34-767276BB244A}" destId="{C300D67C-6F10-4037-8063-6A9BA0F3BDBC}" srcOrd="0" destOrd="0" presId="urn:microsoft.com/office/officeart/2005/8/layout/StepDownProcess"/>
    <dgm:cxn modelId="{389AD096-CF06-4408-A6E5-74BF184CB84A}" srcId="{105330BD-6A79-4522-8F7B-2A85E2CB5119}" destId="{F66B5608-2652-49B6-B18B-33F01BC71044}" srcOrd="0" destOrd="0" parTransId="{672AA9C9-A3C1-476A-BB15-72A2F61073A3}" sibTransId="{DFD4C016-1051-42CB-A454-45F7BAD7EF14}"/>
    <dgm:cxn modelId="{18AAD3C3-AECD-4B51-9BF1-A87D1F82D294}" type="presOf" srcId="{105330BD-6A79-4522-8F7B-2A85E2CB5119}" destId="{C1BD5BA1-48D8-483C-A4DC-254C2D610449}" srcOrd="0" destOrd="0" presId="urn:microsoft.com/office/officeart/2005/8/layout/StepDownProcess"/>
    <dgm:cxn modelId="{9E9C0BDB-362A-49AE-B3AD-04398B0E7965}" type="presOf" srcId="{4FB2B616-8EE6-4FA5-B437-8919F577E220}" destId="{45561FBD-5AE0-41B6-920B-ACF177F28E73}" srcOrd="0" destOrd="0" presId="urn:microsoft.com/office/officeart/2005/8/layout/StepDownProcess"/>
    <dgm:cxn modelId="{D9C98CE4-4B79-4D58-B8D7-6A786372B1A1}" srcId="{105330BD-6A79-4522-8F7B-2A85E2CB5119}" destId="{4FB2B616-8EE6-4FA5-B437-8919F577E220}" srcOrd="4" destOrd="0" parTransId="{FFA8E819-3DB3-4AF3-ADE6-4296D14E1F21}" sibTransId="{26C3A67E-31BA-4138-B781-9E75400055F2}"/>
    <dgm:cxn modelId="{B17B98F8-77B4-4EA8-9A41-72BED5216547}" srcId="{105330BD-6A79-4522-8F7B-2A85E2CB5119}" destId="{CC04ED7D-24DD-49DD-AD05-40DC1A2CD06A}" srcOrd="3" destOrd="0" parTransId="{CBB796ED-0783-4CDE-88D1-7C3622DB8A37}" sibTransId="{5C6A1891-2558-4FC0-8373-77C005D6FD05}"/>
    <dgm:cxn modelId="{812C89F9-D927-4C6E-A914-3DA2C25036B6}" type="presOf" srcId="{CC04ED7D-24DD-49DD-AD05-40DC1A2CD06A}" destId="{C96981D9-9AFC-4A35-AAD4-60AC7404CA15}" srcOrd="0" destOrd="0" presId="urn:microsoft.com/office/officeart/2005/8/layout/StepDownProcess"/>
    <dgm:cxn modelId="{945FDACD-C814-48BE-8B68-D813F00F43A8}" type="presParOf" srcId="{C1BD5BA1-48D8-483C-A4DC-254C2D610449}" destId="{B865F10E-F637-4671-AEE8-9FB35F806A6F}" srcOrd="0" destOrd="0" presId="urn:microsoft.com/office/officeart/2005/8/layout/StepDownProcess"/>
    <dgm:cxn modelId="{C97DEFBE-5C82-4297-8F11-A03D69014399}" type="presParOf" srcId="{B865F10E-F637-4671-AEE8-9FB35F806A6F}" destId="{A16E6597-C477-40AD-A367-F791B862C29B}" srcOrd="0" destOrd="0" presId="urn:microsoft.com/office/officeart/2005/8/layout/StepDownProcess"/>
    <dgm:cxn modelId="{4B303F39-C0DE-4310-8DF3-FE45FA567028}" type="presParOf" srcId="{B865F10E-F637-4671-AEE8-9FB35F806A6F}" destId="{AF1B9212-8ADF-4E64-B95F-E724B42BEBAD}" srcOrd="1" destOrd="0" presId="urn:microsoft.com/office/officeart/2005/8/layout/StepDownProcess"/>
    <dgm:cxn modelId="{BB77E965-FA02-4A53-8390-8AA227CA265A}" type="presParOf" srcId="{B865F10E-F637-4671-AEE8-9FB35F806A6F}" destId="{C1E45157-C4DE-499F-8781-2DB1342433C4}" srcOrd="2" destOrd="0" presId="urn:microsoft.com/office/officeart/2005/8/layout/StepDownProcess"/>
    <dgm:cxn modelId="{4CD3DEB7-B6A6-4664-B678-02B20457072E}" type="presParOf" srcId="{C1BD5BA1-48D8-483C-A4DC-254C2D610449}" destId="{AAA45A85-5FC6-44CF-A0E4-D53CE1873FBD}" srcOrd="1" destOrd="0" presId="urn:microsoft.com/office/officeart/2005/8/layout/StepDownProcess"/>
    <dgm:cxn modelId="{9429C179-97D9-4A9E-BDD3-3B371008C291}" type="presParOf" srcId="{C1BD5BA1-48D8-483C-A4DC-254C2D610449}" destId="{7344E12C-C2BA-468A-990B-64924FC798DF}" srcOrd="2" destOrd="0" presId="urn:microsoft.com/office/officeart/2005/8/layout/StepDownProcess"/>
    <dgm:cxn modelId="{6AC8E420-00A1-4FF1-90EB-D542A6906CC0}" type="presParOf" srcId="{7344E12C-C2BA-468A-990B-64924FC798DF}" destId="{06FA80B9-03DA-425C-AB4A-C89F7FE3ADA9}" srcOrd="0" destOrd="0" presId="urn:microsoft.com/office/officeart/2005/8/layout/StepDownProcess"/>
    <dgm:cxn modelId="{0FC1CC2F-4315-4F6F-86FE-84219F46E25D}" type="presParOf" srcId="{7344E12C-C2BA-468A-990B-64924FC798DF}" destId="{72D729F0-FFA9-45FE-9969-D2D765FF0CFD}" srcOrd="1" destOrd="0" presId="urn:microsoft.com/office/officeart/2005/8/layout/StepDownProcess"/>
    <dgm:cxn modelId="{69EA7086-E544-40B4-8F58-168689BB5AF9}" type="presParOf" srcId="{7344E12C-C2BA-468A-990B-64924FC798DF}" destId="{3A1D3E02-3E1E-44D0-9083-BAE5B505CB8A}" srcOrd="2" destOrd="0" presId="urn:microsoft.com/office/officeart/2005/8/layout/StepDownProcess"/>
    <dgm:cxn modelId="{4C36BC51-F650-46EF-BCD7-00EB28C8EA52}" type="presParOf" srcId="{C1BD5BA1-48D8-483C-A4DC-254C2D610449}" destId="{E7BA670F-2EF2-4E83-BC85-4032068138E5}" srcOrd="3" destOrd="0" presId="urn:microsoft.com/office/officeart/2005/8/layout/StepDownProcess"/>
    <dgm:cxn modelId="{0A1142AE-5287-4BCD-B36C-A0090157507A}" type="presParOf" srcId="{C1BD5BA1-48D8-483C-A4DC-254C2D610449}" destId="{95BEE77A-6FFF-4A79-9E16-5412AC28138E}" srcOrd="4" destOrd="0" presId="urn:microsoft.com/office/officeart/2005/8/layout/StepDownProcess"/>
    <dgm:cxn modelId="{7667476B-404C-47A3-BD08-5D8B425CB613}" type="presParOf" srcId="{95BEE77A-6FFF-4A79-9E16-5412AC28138E}" destId="{95D59478-A654-4FA8-8020-2DA2A7BABAAE}" srcOrd="0" destOrd="0" presId="urn:microsoft.com/office/officeart/2005/8/layout/StepDownProcess"/>
    <dgm:cxn modelId="{AF213264-7F1B-440E-BD90-E266FA2221A4}" type="presParOf" srcId="{95BEE77A-6FFF-4A79-9E16-5412AC28138E}" destId="{C300D67C-6F10-4037-8063-6A9BA0F3BDBC}" srcOrd="1" destOrd="0" presId="urn:microsoft.com/office/officeart/2005/8/layout/StepDownProcess"/>
    <dgm:cxn modelId="{0B72B3AE-7886-4057-A2BB-5215B337A0CC}" type="presParOf" srcId="{95BEE77A-6FFF-4A79-9E16-5412AC28138E}" destId="{5D841E55-6A4E-41AE-92A5-61FD2531AC50}" srcOrd="2" destOrd="0" presId="urn:microsoft.com/office/officeart/2005/8/layout/StepDownProcess"/>
    <dgm:cxn modelId="{1C783FD0-ED0C-4125-AB15-AB3031B2270A}" type="presParOf" srcId="{C1BD5BA1-48D8-483C-A4DC-254C2D610449}" destId="{CB4BF302-1428-42CF-A9F2-0CF82CABC3DD}" srcOrd="5" destOrd="0" presId="urn:microsoft.com/office/officeart/2005/8/layout/StepDownProcess"/>
    <dgm:cxn modelId="{F9D1CE7F-2343-4745-B7CF-F42EE2E23F04}" type="presParOf" srcId="{C1BD5BA1-48D8-483C-A4DC-254C2D610449}" destId="{3F2FEF7D-14AC-4D39-A038-7F8A7E6C9255}" srcOrd="6" destOrd="0" presId="urn:microsoft.com/office/officeart/2005/8/layout/StepDownProcess"/>
    <dgm:cxn modelId="{02F6F889-A69C-499E-BD81-E0C2CECBAF73}" type="presParOf" srcId="{3F2FEF7D-14AC-4D39-A038-7F8A7E6C9255}" destId="{AF36E407-0D95-4C87-B8B9-2A69C9AA135A}" srcOrd="0" destOrd="0" presId="urn:microsoft.com/office/officeart/2005/8/layout/StepDownProcess"/>
    <dgm:cxn modelId="{43A24586-D206-4AC3-9269-EB6501C3D580}" type="presParOf" srcId="{3F2FEF7D-14AC-4D39-A038-7F8A7E6C9255}" destId="{C96981D9-9AFC-4A35-AAD4-60AC7404CA15}" srcOrd="1" destOrd="0" presId="urn:microsoft.com/office/officeart/2005/8/layout/StepDownProcess"/>
    <dgm:cxn modelId="{E38AB6A1-3303-4CA8-ACB0-43D3F0D71526}" type="presParOf" srcId="{3F2FEF7D-14AC-4D39-A038-7F8A7E6C9255}" destId="{D8E428D2-C221-4016-B88B-11CECC01D23C}" srcOrd="2" destOrd="0" presId="urn:microsoft.com/office/officeart/2005/8/layout/StepDownProcess"/>
    <dgm:cxn modelId="{D05D14B1-1AF9-4445-9367-DDF5E6B0460A}" type="presParOf" srcId="{C1BD5BA1-48D8-483C-A4DC-254C2D610449}" destId="{43F947D3-6BB2-421C-9CEC-90F7ADE3ED05}" srcOrd="7" destOrd="0" presId="urn:microsoft.com/office/officeart/2005/8/layout/StepDownProcess"/>
    <dgm:cxn modelId="{50EDBD33-F01E-444B-BE33-7C095F12F8F6}" type="presParOf" srcId="{C1BD5BA1-48D8-483C-A4DC-254C2D610449}" destId="{A87DE615-65B2-4610-B0AD-F4FDAFE054DF}" srcOrd="8" destOrd="0" presId="urn:microsoft.com/office/officeart/2005/8/layout/StepDownProcess"/>
    <dgm:cxn modelId="{23660ED0-1AC3-4000-A347-A6922D7A8BFB}" type="presParOf" srcId="{A87DE615-65B2-4610-B0AD-F4FDAFE054DF}" destId="{45561FBD-5AE0-41B6-920B-ACF177F28E73}" srcOrd="0" destOrd="0" presId="urn:microsoft.com/office/officeart/2005/8/layout/StepDown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E6597-C477-40AD-A367-F791B862C29B}">
      <dsp:nvSpPr>
        <dsp:cNvPr id="0" name=""/>
        <dsp:cNvSpPr/>
      </dsp:nvSpPr>
      <dsp:spPr>
        <a:xfrm rot="5400000">
          <a:off x="666037" y="820124"/>
          <a:ext cx="713741" cy="81256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1B9212-8ADF-4E64-B95F-E724B42BEBAD}">
      <dsp:nvSpPr>
        <dsp:cNvPr id="0" name=""/>
        <dsp:cNvSpPr/>
      </dsp:nvSpPr>
      <dsp:spPr>
        <a:xfrm>
          <a:off x="321474" y="19692"/>
          <a:ext cx="2066303" cy="8410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EUV light source</a:t>
          </a:r>
        </a:p>
      </dsp:txBody>
      <dsp:txXfrm>
        <a:off x="362537" y="60755"/>
        <a:ext cx="1984177" cy="758899"/>
      </dsp:txXfrm>
    </dsp:sp>
    <dsp:sp modelId="{C1E45157-C4DE-499F-8781-2DB1342433C4}">
      <dsp:nvSpPr>
        <dsp:cNvPr id="0" name=""/>
        <dsp:cNvSpPr/>
      </dsp:nvSpPr>
      <dsp:spPr>
        <a:xfrm>
          <a:off x="1678459" y="109138"/>
          <a:ext cx="873871" cy="679754"/>
        </a:xfrm>
        <a:prstGeom prst="rect">
          <a:avLst/>
        </a:prstGeom>
        <a:noFill/>
        <a:ln>
          <a:noFill/>
        </a:ln>
        <a:effectLst/>
      </dsp:spPr>
      <dsp:style>
        <a:lnRef idx="0">
          <a:scrgbClr r="0" g="0" b="0"/>
        </a:lnRef>
        <a:fillRef idx="0">
          <a:scrgbClr r="0" g="0" b="0"/>
        </a:fillRef>
        <a:effectRef idx="0">
          <a:scrgbClr r="0" g="0" b="0"/>
        </a:effectRef>
        <a:fontRef idx="minor"/>
      </dsp:style>
    </dsp:sp>
    <dsp:sp modelId="{06FA80B9-03DA-425C-AB4A-C89F7FE3ADA9}">
      <dsp:nvSpPr>
        <dsp:cNvPr id="0" name=""/>
        <dsp:cNvSpPr/>
      </dsp:nvSpPr>
      <dsp:spPr>
        <a:xfrm rot="5400000">
          <a:off x="1781635" y="1764873"/>
          <a:ext cx="713741" cy="81256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D729F0-FFA9-45FE-9969-D2D765FF0CFD}">
      <dsp:nvSpPr>
        <dsp:cNvPr id="0" name=""/>
        <dsp:cNvSpPr/>
      </dsp:nvSpPr>
      <dsp:spPr>
        <a:xfrm>
          <a:off x="1376294" y="970943"/>
          <a:ext cx="1890028" cy="8410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Collector &amp; Illumination optics</a:t>
          </a:r>
        </a:p>
      </dsp:txBody>
      <dsp:txXfrm>
        <a:off x="1417357" y="1012006"/>
        <a:ext cx="1807902" cy="758899"/>
      </dsp:txXfrm>
    </dsp:sp>
    <dsp:sp modelId="{3A1D3E02-3E1E-44D0-9083-BAE5B505CB8A}">
      <dsp:nvSpPr>
        <dsp:cNvPr id="0" name=""/>
        <dsp:cNvSpPr/>
      </dsp:nvSpPr>
      <dsp:spPr>
        <a:xfrm>
          <a:off x="2794058" y="1053887"/>
          <a:ext cx="873871" cy="679754"/>
        </a:xfrm>
        <a:prstGeom prst="rect">
          <a:avLst/>
        </a:prstGeom>
        <a:noFill/>
        <a:ln>
          <a:noFill/>
        </a:ln>
        <a:effectLst/>
      </dsp:spPr>
      <dsp:style>
        <a:lnRef idx="0">
          <a:scrgbClr r="0" g="0" b="0"/>
        </a:lnRef>
        <a:fillRef idx="0">
          <a:scrgbClr r="0" g="0" b="0"/>
        </a:fillRef>
        <a:effectRef idx="0">
          <a:scrgbClr r="0" g="0" b="0"/>
        </a:effectRef>
        <a:fontRef idx="minor"/>
      </dsp:style>
    </dsp:sp>
    <dsp:sp modelId="{95D59478-A654-4FA8-8020-2DA2A7BABAAE}">
      <dsp:nvSpPr>
        <dsp:cNvPr id="0" name=""/>
        <dsp:cNvSpPr/>
      </dsp:nvSpPr>
      <dsp:spPr>
        <a:xfrm rot="5400000">
          <a:off x="3017861" y="2709622"/>
          <a:ext cx="713741" cy="81256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00D67C-6F10-4037-8063-6A9BA0F3BDBC}">
      <dsp:nvSpPr>
        <dsp:cNvPr id="0" name=""/>
        <dsp:cNvSpPr/>
      </dsp:nvSpPr>
      <dsp:spPr>
        <a:xfrm>
          <a:off x="2534312" y="1919670"/>
          <a:ext cx="1955006" cy="8410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Reflective mask (reticle)</a:t>
          </a:r>
        </a:p>
      </dsp:txBody>
      <dsp:txXfrm>
        <a:off x="2575375" y="1960733"/>
        <a:ext cx="1872880" cy="758899"/>
      </dsp:txXfrm>
    </dsp:sp>
    <dsp:sp modelId="{5D841E55-6A4E-41AE-92A5-61FD2531AC50}">
      <dsp:nvSpPr>
        <dsp:cNvPr id="0" name=""/>
        <dsp:cNvSpPr/>
      </dsp:nvSpPr>
      <dsp:spPr>
        <a:xfrm>
          <a:off x="4030284" y="1998636"/>
          <a:ext cx="873871" cy="679754"/>
        </a:xfrm>
        <a:prstGeom prst="rect">
          <a:avLst/>
        </a:prstGeom>
        <a:noFill/>
        <a:ln>
          <a:noFill/>
        </a:ln>
        <a:effectLst/>
      </dsp:spPr>
      <dsp:style>
        <a:lnRef idx="0">
          <a:scrgbClr r="0" g="0" b="0"/>
        </a:lnRef>
        <a:fillRef idx="0">
          <a:scrgbClr r="0" g="0" b="0"/>
        </a:fillRef>
        <a:effectRef idx="0">
          <a:scrgbClr r="0" g="0" b="0"/>
        </a:effectRef>
        <a:fontRef idx="minor"/>
      </dsp:style>
    </dsp:sp>
    <dsp:sp modelId="{AF36E407-0D95-4C87-B8B9-2A69C9AA135A}">
      <dsp:nvSpPr>
        <dsp:cNvPr id="0" name=""/>
        <dsp:cNvSpPr/>
      </dsp:nvSpPr>
      <dsp:spPr>
        <a:xfrm rot="5400000">
          <a:off x="4217277" y="3634472"/>
          <a:ext cx="713741" cy="812569"/>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6981D9-9AFC-4A35-AAD4-60AC7404CA15}">
      <dsp:nvSpPr>
        <dsp:cNvPr id="0" name=""/>
        <dsp:cNvSpPr/>
      </dsp:nvSpPr>
      <dsp:spPr>
        <a:xfrm>
          <a:off x="3713393" y="2842864"/>
          <a:ext cx="1709079" cy="8410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Projection optics</a:t>
          </a:r>
        </a:p>
      </dsp:txBody>
      <dsp:txXfrm>
        <a:off x="3754456" y="2883927"/>
        <a:ext cx="1626953" cy="758899"/>
      </dsp:txXfrm>
    </dsp:sp>
    <dsp:sp modelId="{D8E428D2-C221-4016-B88B-11CECC01D23C}">
      <dsp:nvSpPr>
        <dsp:cNvPr id="0" name=""/>
        <dsp:cNvSpPr/>
      </dsp:nvSpPr>
      <dsp:spPr>
        <a:xfrm>
          <a:off x="5111056" y="2943385"/>
          <a:ext cx="873871" cy="679754"/>
        </a:xfrm>
        <a:prstGeom prst="rect">
          <a:avLst/>
        </a:prstGeom>
        <a:noFill/>
        <a:ln>
          <a:noFill/>
        </a:ln>
        <a:effectLst/>
      </dsp:spPr>
      <dsp:style>
        <a:lnRef idx="0">
          <a:scrgbClr r="0" g="0" b="0"/>
        </a:lnRef>
        <a:fillRef idx="0">
          <a:scrgbClr r="0" g="0" b="0"/>
        </a:fillRef>
        <a:effectRef idx="0">
          <a:scrgbClr r="0" g="0" b="0"/>
        </a:effectRef>
        <a:fontRef idx="minor"/>
      </dsp:style>
    </dsp:sp>
    <dsp:sp modelId="{45561FBD-5AE0-41B6-920B-ACF177F28E73}">
      <dsp:nvSpPr>
        <dsp:cNvPr id="0" name=""/>
        <dsp:cNvSpPr/>
      </dsp:nvSpPr>
      <dsp:spPr>
        <a:xfrm>
          <a:off x="4904040" y="3818563"/>
          <a:ext cx="1919201" cy="8410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Wafer stage &amp; photoresist</a:t>
          </a:r>
        </a:p>
      </dsp:txBody>
      <dsp:txXfrm>
        <a:off x="4945103" y="3859626"/>
        <a:ext cx="1837075" cy="75889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8115-9296-4F6F-9270-1433E6271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4B098D-C22C-4F74-825A-D6A4E4C33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CB2681-A404-4E1C-9C7A-43BBDB7165EC}"/>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3C160C87-D97B-41F6-95D6-4A1CEFE4BF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329BD-DE01-4C9E-9582-86F01D7ED788}"/>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3499332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4C1E-044D-497B-AD58-C5584A3D30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55E02-8CD4-4375-83D5-035AB884E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6312FA-6A80-45B1-ACB7-2EB81D27CAE5}"/>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7CC8A584-9991-4401-A63A-BAB191742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9C4BC-5AB0-4841-A2C7-C9E5CE8A23AB}"/>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139580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1B9A-65E6-4013-A6FD-50123D9229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073059-CB65-4913-AFB7-98E5FC6E70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1BC10C-FE43-41E6-A4CD-35BFEC761657}"/>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FD7BACD8-46D0-47E7-B438-E0DF6110D3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D8316A-48BE-4B2E-A310-7F7AE71BE70D}"/>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331247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99E4-E3D4-4B09-B75D-EF6D402292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CBC94D-244D-4D8A-95E6-553959E2C5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F6973B-96E3-45C5-B6D5-700038D0B4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BB800D-964F-4803-B939-08369CCE2400}"/>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6" name="Footer Placeholder 5">
            <a:extLst>
              <a:ext uri="{FF2B5EF4-FFF2-40B4-BE49-F238E27FC236}">
                <a16:creationId xmlns:a16="http://schemas.microsoft.com/office/drawing/2014/main" id="{3E550515-225F-40BE-8747-F0B58DDF3D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09206-47C1-45E9-916C-E551905D831A}"/>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178281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23228-9D24-4938-A913-A76FE3FF7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9CE99B-4323-404D-A493-9360F66B8D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BA9D4E-4770-4E2E-BAF1-BDF391823B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69DA9-0388-4A57-A246-57F6DB0009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403C34-E2C7-489F-90D3-34D8A85415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41DF8E-97C7-4F02-B140-B326E5517CA9}"/>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8" name="Footer Placeholder 7">
            <a:extLst>
              <a:ext uri="{FF2B5EF4-FFF2-40B4-BE49-F238E27FC236}">
                <a16:creationId xmlns:a16="http://schemas.microsoft.com/office/drawing/2014/main" id="{D385E182-5A3C-44D1-B8FF-C8D8CA84D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AFBC48-41C2-4A55-B18A-0143DB3F13B7}"/>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496987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3ED50-DB63-4494-AD59-0A2118D9D8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ED655-AEE8-4D66-90BD-67BC026749CD}"/>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4" name="Footer Placeholder 3">
            <a:extLst>
              <a:ext uri="{FF2B5EF4-FFF2-40B4-BE49-F238E27FC236}">
                <a16:creationId xmlns:a16="http://schemas.microsoft.com/office/drawing/2014/main" id="{DD46A0E8-EC8A-46DA-8A27-EB17829B05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342B9-D289-446D-ABF5-4ABA911E1BDD}"/>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237678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7AD02-A088-41CE-8856-365425B82C74}"/>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3" name="Footer Placeholder 2">
            <a:extLst>
              <a:ext uri="{FF2B5EF4-FFF2-40B4-BE49-F238E27FC236}">
                <a16:creationId xmlns:a16="http://schemas.microsoft.com/office/drawing/2014/main" id="{67E3B7D2-2593-4282-AE55-E77D6B8F56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FB34CE-48FF-43E0-A698-6AF03EA2102B}"/>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1284465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D7068-7950-4BB9-9F4F-32C4FD2DCB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FCE8BE-924B-4097-9BC9-2DB8B1EACC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8C4787-63A3-4840-AAB4-222000EA9D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59E89-EE2A-4A15-AA10-A678A859B0A0}"/>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6" name="Footer Placeholder 5">
            <a:extLst>
              <a:ext uri="{FF2B5EF4-FFF2-40B4-BE49-F238E27FC236}">
                <a16:creationId xmlns:a16="http://schemas.microsoft.com/office/drawing/2014/main" id="{2CC8669C-1ABC-4D74-80FA-CE01DA787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CED7E5-490C-48BA-A2A2-630AFE26A366}"/>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78427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292F0-8EA1-4FFB-A1C8-4325ECFE0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EE7EA9-64B0-4563-84A2-59201C5DEA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3529B9-9C81-4D8E-B155-1E5402D96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DA052F-4D3A-479B-A305-073F4A7E812D}"/>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6" name="Footer Placeholder 5">
            <a:extLst>
              <a:ext uri="{FF2B5EF4-FFF2-40B4-BE49-F238E27FC236}">
                <a16:creationId xmlns:a16="http://schemas.microsoft.com/office/drawing/2014/main" id="{490A674E-A429-420A-BE00-1060EBC8EF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67851-873E-4763-8B82-35099E17F098}"/>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3138314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26C4-6111-4DAE-94AE-8EB1D1357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C1B9E1-F4A2-4B82-B687-E6B17D917A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5E2757-1479-429F-9FDB-60FE8359ED0E}"/>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50228BFE-61BF-47C3-B3E8-A9F8153534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5FFDC-A906-4F9A-92B8-50640E28B4C3}"/>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160860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9164D7-1CF4-4A00-9627-95D54D6C2B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ABF4C4-EC64-413B-82B0-E474BC99F5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3EE670-56FA-4700-8EC2-0EFEAC66643D}"/>
              </a:ext>
            </a:extLst>
          </p:cNvPr>
          <p:cNvSpPr>
            <a:spLocks noGrp="1"/>
          </p:cNvSpPr>
          <p:nvPr>
            <p:ph type="dt" sz="half" idx="10"/>
          </p:nvPr>
        </p:nvSpPr>
        <p:spPr/>
        <p:txBody>
          <a:body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CD299F32-DEB2-4774-95C9-C79986C58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8AE6C-7229-45FF-BF13-F7C6681C65D5}"/>
              </a:ext>
            </a:extLst>
          </p:cNvPr>
          <p:cNvSpPr>
            <a:spLocks noGrp="1"/>
          </p:cNvSpPr>
          <p:nvPr>
            <p:ph type="sldNum" sz="quarter" idx="12"/>
          </p:nvPr>
        </p:nvSpPr>
        <p:spPr/>
        <p:txBody>
          <a:bodyPr/>
          <a:lstStyle/>
          <a:p>
            <a:fld id="{0CF4C1DD-A1ED-4DC7-B148-16B00B7C4A2F}" type="slidenum">
              <a:rPr lang="en-US" smtClean="0"/>
              <a:t>‹#›</a:t>
            </a:fld>
            <a:endParaRPr lang="en-US"/>
          </a:p>
        </p:txBody>
      </p:sp>
    </p:spTree>
    <p:extLst>
      <p:ext uri="{BB962C8B-B14F-4D97-AF65-F5344CB8AC3E}">
        <p14:creationId xmlns:p14="http://schemas.microsoft.com/office/powerpoint/2010/main" val="135025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120F12-FE26-4B7E-9474-791E25BE0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CBD3DD-2414-46B2-BFA2-380FF32127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8CE277-364C-4709-BB6D-A8A8D5198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7E5695-789D-4C54-814F-1E9F7C939AA7}" type="datetimeFigureOut">
              <a:rPr lang="en-US" smtClean="0"/>
              <a:t>2/9/2026</a:t>
            </a:fld>
            <a:endParaRPr lang="en-US"/>
          </a:p>
        </p:txBody>
      </p:sp>
      <p:sp>
        <p:nvSpPr>
          <p:cNvPr id="5" name="Footer Placeholder 4">
            <a:extLst>
              <a:ext uri="{FF2B5EF4-FFF2-40B4-BE49-F238E27FC236}">
                <a16:creationId xmlns:a16="http://schemas.microsoft.com/office/drawing/2014/main" id="{5F56253A-7204-494D-92A0-A5C15F498F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CD8169-A62A-4A94-9279-C9D9D765C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F4C1DD-A1ED-4DC7-B148-16B00B7C4A2F}" type="slidenum">
              <a:rPr lang="en-US" smtClean="0"/>
              <a:t>‹#›</a:t>
            </a:fld>
            <a:endParaRPr lang="en-US"/>
          </a:p>
        </p:txBody>
      </p:sp>
    </p:spTree>
    <p:extLst>
      <p:ext uri="{BB962C8B-B14F-4D97-AF65-F5344CB8AC3E}">
        <p14:creationId xmlns:p14="http://schemas.microsoft.com/office/powerpoint/2010/main" val="3315493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3.wdp"/><Relationship Id="rId7" Type="http://schemas.openxmlformats.org/officeDocument/2006/relationships/diagramColors" Target="../diagrams/colors1.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s://world-of-photonics.com/en/photonics-industry-portal/detail/euv-lithography.html" TargetMode="External"/><Relationship Id="rId13" Type="http://schemas.openxmlformats.org/officeDocument/2006/relationships/hyperlink" Target="https://www.linkedin.com/pulse/lithography-process-technology-processors-kawarjeet-yadav" TargetMode="External"/><Relationship Id="rId3" Type="http://schemas.openxmlformats.org/officeDocument/2006/relationships/hyperlink" Target="https://ppl-ai-file-upload.s3.amazonaws.com/web/direct-files/collection_17c980c9-13c3-494e-9935-5794d024f58a/3a9fdf71-c052-47dd-aa33-eeed721a71bd/LP_EEE413_1_Spring2026.pdf" TargetMode="External"/><Relationship Id="rId7" Type="http://schemas.openxmlformats.org/officeDocument/2006/relationships/hyperlink" Target="https://en.wikipedia.org/wiki/3_nm_process" TargetMode="External"/><Relationship Id="rId12" Type="http://schemas.openxmlformats.org/officeDocument/2006/relationships/hyperlink" Target="https://www.imec-int.com/en/articles/entering-high-na-euv-lithography-era" TargetMode="External"/><Relationship Id="rId2" Type="http://schemas.openxmlformats.org/officeDocument/2006/relationships/hyperlink" Target="https://www.asml.com/en/products/euv-lithography-systems" TargetMode="External"/><Relationship Id="rId16" Type="http://schemas.openxmlformats.org/officeDocument/2006/relationships/hyperlink" Target="https://www.oist.jp/news-center/news/2024/7/29/innovative-euv-lithography-technology-dramatically-increases-energy-efficiency-and-reduces-capital" TargetMode="External"/><Relationship Id="rId1" Type="http://schemas.openxmlformats.org/officeDocument/2006/relationships/slideLayout" Target="../slideLayouts/slideLayout2.xml"/><Relationship Id="rId6" Type="http://schemas.openxmlformats.org/officeDocument/2006/relationships/hyperlink" Target="https://www.asml.com/products/euv-lithography-systems/twinscan-nxe3400c" TargetMode="External"/><Relationship Id="rId11" Type="http://schemas.openxmlformats.org/officeDocument/2006/relationships/hyperlink" Target="https://stellarix.com/insights/articles/next-generation-lithography-an-efficient-choice-for-fabrication/" TargetMode="External"/><Relationship Id="rId5" Type="http://schemas.openxmlformats.org/officeDocument/2006/relationships/hyperlink" Target="https://dynotech-solutions.com/blogs/innovations-in-semiconductor-lithography-machines-and-equipment/" TargetMode="External"/><Relationship Id="rId15" Type="http://schemas.openxmlformats.org/officeDocument/2006/relationships/hyperlink" Target="https://www.asml.com/en/en/products/euv-lithography-systems" TargetMode="External"/><Relationship Id="rId10" Type="http://schemas.openxmlformats.org/officeDocument/2006/relationships/hyperlink" Target="https://www.imec-int.com/en/articles/high-na-euvl-next-major-step-lithography" TargetMode="External"/><Relationship Id="rId4" Type="http://schemas.openxmlformats.org/officeDocument/2006/relationships/hyperlink" Target="https://www.asml.com/products/euv-lithography-systems/twinscan-exe-5000" TargetMode="External"/><Relationship Id="rId9" Type="http://schemas.openxmlformats.org/officeDocument/2006/relationships/hyperlink" Target="https://www.youtube.com/watch?v=JZs1AaulW2s" TargetMode="External"/><Relationship Id="rId14" Type="http://schemas.openxmlformats.org/officeDocument/2006/relationships/hyperlink" Target="https://en.wikipedia.org/wiki/Extreme_ultraviolet_lithograph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75"/>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4" name="Picture 9" descr="Scientist in a coverall, mask and gloves holding a wafer in a semiconductor manufacturing facility and examining it.">
            <a:extLst>
              <a:ext uri="{FF2B5EF4-FFF2-40B4-BE49-F238E27FC236}">
                <a16:creationId xmlns:a16="http://schemas.microsoft.com/office/drawing/2014/main" id="{58F6E461-1529-4962-9915-B16ADBA7E3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166" r="35893"/>
          <a:stretch/>
        </p:blipFill>
        <p:spPr bwMode="auto">
          <a:xfrm>
            <a:off x="0" y="740128"/>
            <a:ext cx="5252545" cy="53777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descr="Scientist in a coverall, mask and gloves holding a wafer in a semiconductor manufacturing facility and examining it.">
            <a:extLst>
              <a:ext uri="{FF2B5EF4-FFF2-40B4-BE49-F238E27FC236}">
                <a16:creationId xmlns:a16="http://schemas.microsoft.com/office/drawing/2014/main" id="{891B07E8-DF9D-4C57-B5E3-87EE1A037246}"/>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artisticBlur radius="75"/>
                    </a14:imgEffect>
                    <a14:imgEffect>
                      <a14:brightnessContrast bright="-10000"/>
                    </a14:imgEffect>
                  </a14:imgLayer>
                </a14:imgProps>
              </a:ext>
              <a:ext uri="{28A0092B-C50C-407E-A947-70E740481C1C}">
                <a14:useLocalDpi xmlns:a14="http://schemas.microsoft.com/office/drawing/2010/main" val="0"/>
              </a:ext>
            </a:extLst>
          </a:blip>
          <a:srcRect l="39688"/>
          <a:stretch/>
        </p:blipFill>
        <p:spPr bwMode="auto">
          <a:xfrm>
            <a:off x="5188537" y="0"/>
            <a:ext cx="7102015"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A1F6366-3A37-4210-8EAE-19BA01C5FD39}"/>
              </a:ext>
            </a:extLst>
          </p:cNvPr>
          <p:cNvSpPr txBox="1"/>
          <p:nvPr/>
        </p:nvSpPr>
        <p:spPr>
          <a:xfrm>
            <a:off x="6414008" y="4302026"/>
            <a:ext cx="6146800" cy="1200329"/>
          </a:xfrm>
          <a:prstGeom prst="rect">
            <a:avLst/>
          </a:prstGeom>
          <a:noFill/>
        </p:spPr>
        <p:txBody>
          <a:bodyPr wrap="square">
            <a:spAutoFit/>
          </a:bodyPr>
          <a:lstStyle/>
          <a:p>
            <a:r>
              <a:rPr lang="en-US" sz="1800" b="1" dirty="0">
                <a:solidFill>
                  <a:schemeClr val="bg1"/>
                </a:solidFill>
                <a:latin typeface="Trebuchet MS" panose="020B0603020202020204" pitchFamily="34" charset="0"/>
              </a:rPr>
              <a:t>Al Imran:                          ID: 2022-1-80-013</a:t>
            </a:r>
          </a:p>
          <a:p>
            <a:r>
              <a:rPr lang="en-US" sz="1800" b="1" dirty="0">
                <a:solidFill>
                  <a:schemeClr val="bg1"/>
                </a:solidFill>
                <a:latin typeface="Trebuchet MS"/>
              </a:rPr>
              <a:t>Md. </a:t>
            </a:r>
            <a:r>
              <a:rPr lang="en-US" sz="1800" b="1" dirty="0" err="1">
                <a:solidFill>
                  <a:schemeClr val="bg1"/>
                </a:solidFill>
                <a:latin typeface="Trebuchet MS"/>
              </a:rPr>
              <a:t>Moshfiqur</a:t>
            </a:r>
            <a:r>
              <a:rPr lang="en-US" sz="1800" b="1" dirty="0">
                <a:solidFill>
                  <a:schemeClr val="bg1"/>
                </a:solidFill>
                <a:latin typeface="Trebuchet MS"/>
              </a:rPr>
              <a:t> Rahman:    </a:t>
            </a:r>
            <a:r>
              <a:rPr lang="en-US" sz="1800" b="1" dirty="0">
                <a:solidFill>
                  <a:schemeClr val="bg1"/>
                </a:solidFill>
                <a:latin typeface="Trebuchet MS" panose="020B0603020202020204" pitchFamily="34" charset="0"/>
              </a:rPr>
              <a:t>ID: </a:t>
            </a:r>
            <a:r>
              <a:rPr lang="en-US" sz="1800" b="1" dirty="0">
                <a:solidFill>
                  <a:schemeClr val="bg1"/>
                </a:solidFill>
                <a:latin typeface="Trebuchet MS"/>
              </a:rPr>
              <a:t>2022-1-80-016</a:t>
            </a:r>
            <a:br>
              <a:rPr lang="en-US" sz="1800" b="1" dirty="0">
                <a:latin typeface="Trebuchet MS" panose="020B0603020202020204" pitchFamily="34" charset="0"/>
              </a:rPr>
            </a:br>
            <a:r>
              <a:rPr lang="en-US" sz="1800" b="1" dirty="0">
                <a:solidFill>
                  <a:schemeClr val="bg1"/>
                </a:solidFill>
                <a:latin typeface="Trebuchet MS"/>
              </a:rPr>
              <a:t>Faisal Hasan:                    </a:t>
            </a:r>
            <a:r>
              <a:rPr lang="en-US" sz="1800" b="1" dirty="0">
                <a:solidFill>
                  <a:schemeClr val="bg1"/>
                </a:solidFill>
                <a:latin typeface="Trebuchet MS" panose="020B0603020202020204" pitchFamily="34" charset="0"/>
              </a:rPr>
              <a:t>ID: </a:t>
            </a:r>
            <a:r>
              <a:rPr lang="en-US" sz="1800" b="1" dirty="0">
                <a:solidFill>
                  <a:schemeClr val="bg1"/>
                </a:solidFill>
                <a:latin typeface="Trebuchet MS"/>
              </a:rPr>
              <a:t>2022-2-80-007</a:t>
            </a:r>
          </a:p>
          <a:p>
            <a:r>
              <a:rPr lang="en-US" sz="1800" b="1" dirty="0">
                <a:solidFill>
                  <a:schemeClr val="bg1"/>
                </a:solidFill>
                <a:latin typeface="Trebuchet MS" panose="020B0603020202020204" pitchFamily="34" charset="0"/>
              </a:rPr>
              <a:t>Niaz Morshed Razon:        ID: 2022-2-80-008</a:t>
            </a:r>
          </a:p>
        </p:txBody>
      </p:sp>
      <p:sp>
        <p:nvSpPr>
          <p:cNvPr id="9" name="TextBox 8">
            <a:extLst>
              <a:ext uri="{FF2B5EF4-FFF2-40B4-BE49-F238E27FC236}">
                <a16:creationId xmlns:a16="http://schemas.microsoft.com/office/drawing/2014/main" id="{2767CA6F-B74D-4E8E-A0D2-4C766947F2E9}"/>
              </a:ext>
            </a:extLst>
          </p:cNvPr>
          <p:cNvSpPr txBox="1"/>
          <p:nvPr/>
        </p:nvSpPr>
        <p:spPr>
          <a:xfrm>
            <a:off x="7713384" y="3774727"/>
            <a:ext cx="2216912" cy="461665"/>
          </a:xfrm>
          <a:prstGeom prst="rect">
            <a:avLst/>
          </a:prstGeom>
          <a:noFill/>
        </p:spPr>
        <p:txBody>
          <a:bodyPr wrap="square">
            <a:spAutoFit/>
          </a:bodyPr>
          <a:lstStyle/>
          <a:p>
            <a:r>
              <a:rPr lang="en-US" sz="2400" b="1" dirty="0">
                <a:solidFill>
                  <a:schemeClr val="bg1"/>
                </a:solidFill>
                <a:latin typeface="Trebuchet MS" panose="020B0603020202020204" pitchFamily="34" charset="0"/>
              </a:rPr>
              <a:t>Group No: 02</a:t>
            </a:r>
          </a:p>
        </p:txBody>
      </p:sp>
      <p:sp>
        <p:nvSpPr>
          <p:cNvPr id="11" name="TextBox 10">
            <a:extLst>
              <a:ext uri="{FF2B5EF4-FFF2-40B4-BE49-F238E27FC236}">
                <a16:creationId xmlns:a16="http://schemas.microsoft.com/office/drawing/2014/main" id="{EBE335A0-3A9F-410C-A87D-044597EE9263}"/>
              </a:ext>
            </a:extLst>
          </p:cNvPr>
          <p:cNvSpPr txBox="1"/>
          <p:nvPr/>
        </p:nvSpPr>
        <p:spPr>
          <a:xfrm>
            <a:off x="5169407" y="674458"/>
            <a:ext cx="7102015" cy="523220"/>
          </a:xfrm>
          <a:prstGeom prst="rect">
            <a:avLst/>
          </a:prstGeom>
          <a:noFill/>
        </p:spPr>
        <p:txBody>
          <a:bodyPr wrap="square">
            <a:spAutoFit/>
          </a:bodyPr>
          <a:lstStyle/>
          <a:p>
            <a:pPr algn="ctr" rtl="0"/>
            <a:r>
              <a:rPr lang="en-US" sz="2800" b="1" i="0" dirty="0">
                <a:solidFill>
                  <a:schemeClr val="bg1"/>
                </a:solidFill>
                <a:effectLst/>
                <a:latin typeface="Trebuchet MS" panose="020B0603020202020204" pitchFamily="34" charset="0"/>
              </a:rPr>
              <a:t>Extreme Ultraviolet (EUV) Lithography</a:t>
            </a:r>
            <a:endParaRPr lang="en-US" sz="2800" dirty="0">
              <a:solidFill>
                <a:schemeClr val="bg1"/>
              </a:solidFill>
              <a:effectLst/>
              <a:latin typeface="Trebuchet MS" panose="020B0603020202020204" pitchFamily="34" charset="0"/>
            </a:endParaRPr>
          </a:p>
        </p:txBody>
      </p:sp>
      <p:sp>
        <p:nvSpPr>
          <p:cNvPr id="13" name="TextBox 12">
            <a:extLst>
              <a:ext uri="{FF2B5EF4-FFF2-40B4-BE49-F238E27FC236}">
                <a16:creationId xmlns:a16="http://schemas.microsoft.com/office/drawing/2014/main" id="{71B592CE-A927-46C5-9BD2-BAC0D9F06894}"/>
              </a:ext>
            </a:extLst>
          </p:cNvPr>
          <p:cNvSpPr txBox="1"/>
          <p:nvPr/>
        </p:nvSpPr>
        <p:spPr>
          <a:xfrm>
            <a:off x="5453713" y="2196095"/>
            <a:ext cx="6286500" cy="1200329"/>
          </a:xfrm>
          <a:prstGeom prst="rect">
            <a:avLst/>
          </a:prstGeom>
          <a:noFill/>
        </p:spPr>
        <p:txBody>
          <a:bodyPr wrap="square">
            <a:spAutoFit/>
          </a:bodyPr>
          <a:lstStyle/>
          <a:p>
            <a:pPr algn="ctr"/>
            <a:r>
              <a:rPr lang="en-US" b="1" dirty="0">
                <a:solidFill>
                  <a:schemeClr val="bg1"/>
                </a:solidFill>
                <a:latin typeface="Trebuchet MS" panose="020B0603020202020204" pitchFamily="34" charset="0"/>
                <a:cs typeface="Times New Roman" panose="02020603050405020304" pitchFamily="18" charset="0"/>
              </a:rPr>
              <a:t>Course: EEE 413</a:t>
            </a:r>
          </a:p>
          <a:p>
            <a:pPr algn="ctr"/>
            <a:r>
              <a:rPr lang="en-US" b="1" dirty="0">
                <a:solidFill>
                  <a:schemeClr val="bg1"/>
                </a:solidFill>
                <a:latin typeface="Trebuchet MS" panose="020B0603020202020204" pitchFamily="34" charset="0"/>
                <a:cs typeface="Times New Roman" panose="02020603050405020304" pitchFamily="18" charset="0"/>
              </a:rPr>
              <a:t>Course</a:t>
            </a:r>
            <a:r>
              <a:rPr lang="en-US" b="1" spc="-25" dirty="0">
                <a:solidFill>
                  <a:schemeClr val="bg1"/>
                </a:solidFill>
                <a:latin typeface="Trebuchet MS" panose="020B0603020202020204" pitchFamily="34" charset="0"/>
                <a:cs typeface="Times New Roman" panose="02020603050405020304" pitchFamily="18" charset="0"/>
              </a:rPr>
              <a:t> </a:t>
            </a:r>
            <a:r>
              <a:rPr lang="en-US" b="1" dirty="0">
                <a:solidFill>
                  <a:schemeClr val="bg1"/>
                </a:solidFill>
                <a:latin typeface="Trebuchet MS" panose="020B0603020202020204" pitchFamily="34" charset="0"/>
                <a:cs typeface="Times New Roman" panose="02020603050405020304" pitchFamily="18" charset="0"/>
              </a:rPr>
              <a:t>Title</a:t>
            </a:r>
            <a:r>
              <a:rPr lang="en-US" b="1" spc="-5" dirty="0">
                <a:solidFill>
                  <a:schemeClr val="bg1"/>
                </a:solidFill>
                <a:latin typeface="Trebuchet MS" panose="020B0603020202020204" pitchFamily="34" charset="0"/>
                <a:cs typeface="Times New Roman" panose="02020603050405020304" pitchFamily="18" charset="0"/>
              </a:rPr>
              <a:t> </a:t>
            </a:r>
            <a:r>
              <a:rPr lang="en-US" b="1" dirty="0">
                <a:solidFill>
                  <a:schemeClr val="bg1"/>
                </a:solidFill>
                <a:latin typeface="Trebuchet MS" panose="020B0603020202020204" pitchFamily="34" charset="0"/>
                <a:cs typeface="Times New Roman" panose="02020603050405020304" pitchFamily="18" charset="0"/>
              </a:rPr>
              <a:t>: Fundamentals of Nanotechnology</a:t>
            </a:r>
            <a:r>
              <a:rPr lang="en-US" b="1" spc="-10" dirty="0">
                <a:solidFill>
                  <a:schemeClr val="bg1"/>
                </a:solidFill>
                <a:latin typeface="Trebuchet MS" panose="020B0603020202020204" pitchFamily="34" charset="0"/>
                <a:cs typeface="Times New Roman" panose="02020603050405020304" pitchFamily="18" charset="0"/>
              </a:rPr>
              <a:t>                                 </a:t>
            </a:r>
          </a:p>
          <a:p>
            <a:pPr algn="ctr"/>
            <a:r>
              <a:rPr lang="en-US" b="1" spc="-10" dirty="0">
                <a:solidFill>
                  <a:schemeClr val="bg1"/>
                </a:solidFill>
                <a:latin typeface="Trebuchet MS" panose="020B0603020202020204" pitchFamily="34" charset="0"/>
                <a:cs typeface="Times New Roman" panose="02020603050405020304" pitchFamily="18" charset="0"/>
              </a:rPr>
              <a:t>  </a:t>
            </a:r>
            <a:r>
              <a:rPr lang="en-US" b="1" dirty="0">
                <a:solidFill>
                  <a:schemeClr val="bg1"/>
                </a:solidFill>
                <a:latin typeface="Trebuchet MS" panose="020B0603020202020204" pitchFamily="34" charset="0"/>
                <a:cs typeface="Times New Roman" panose="02020603050405020304" pitchFamily="18" charset="0"/>
              </a:rPr>
              <a:t>Semester: Spring 2026</a:t>
            </a:r>
          </a:p>
          <a:p>
            <a:pPr algn="ctr"/>
            <a:r>
              <a:rPr lang="en-US" b="1" spc="-10" dirty="0">
                <a:solidFill>
                  <a:schemeClr val="bg1"/>
                </a:solidFill>
                <a:latin typeface="Trebuchet MS" panose="020B0603020202020204" pitchFamily="34" charset="0"/>
                <a:cs typeface="Times New Roman" panose="02020603050405020304" pitchFamily="18" charset="0"/>
              </a:rPr>
              <a:t>Section:1</a:t>
            </a:r>
          </a:p>
        </p:txBody>
      </p:sp>
      <p:sp>
        <p:nvSpPr>
          <p:cNvPr id="2" name="Rectangle 1">
            <a:extLst>
              <a:ext uri="{FF2B5EF4-FFF2-40B4-BE49-F238E27FC236}">
                <a16:creationId xmlns:a16="http://schemas.microsoft.com/office/drawing/2014/main" id="{DB3E46FD-8E46-434E-86F2-A0E666556797}"/>
              </a:ext>
            </a:extLst>
          </p:cNvPr>
          <p:cNvSpPr/>
          <p:nvPr/>
        </p:nvSpPr>
        <p:spPr>
          <a:xfrm>
            <a:off x="5453713" y="674458"/>
            <a:ext cx="6570647" cy="681187"/>
          </a:xfrm>
          <a:prstGeom prst="rect">
            <a:avLst/>
          </a:prstGeom>
          <a:solidFill>
            <a:schemeClr val="lt1">
              <a:alpha val="25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8454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2F1BCA-074A-4C02-B46F-A69F7448A6A9}"/>
              </a:ext>
            </a:extLst>
          </p:cNvPr>
          <p:cNvSpPr/>
          <p:nvPr/>
        </p:nvSpPr>
        <p:spPr>
          <a:xfrm>
            <a:off x="877824" y="3591580"/>
            <a:ext cx="5349240" cy="52322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68D72208-026B-4ED2-881C-9C3C1A06F727}"/>
              </a:ext>
            </a:extLst>
          </p:cNvPr>
          <p:cNvSpPr txBox="1"/>
          <p:nvPr/>
        </p:nvSpPr>
        <p:spPr>
          <a:xfrm>
            <a:off x="863600" y="1982508"/>
            <a:ext cx="6096000" cy="1200329"/>
          </a:xfrm>
          <a:prstGeom prst="rect">
            <a:avLst/>
          </a:prstGeom>
          <a:noFill/>
        </p:spPr>
        <p:txBody>
          <a:bodyPr wrap="square">
            <a:spAutoFit/>
          </a:bodyPr>
          <a:lstStyle/>
          <a:p>
            <a:pPr marL="0" indent="0">
              <a:buNone/>
            </a:pPr>
            <a:r>
              <a:rPr lang="en-US" b="0" i="0" dirty="0">
                <a:effectLst/>
              </a:rPr>
              <a:t>Lithography is a process used in semiconductor manufacturing to </a:t>
            </a:r>
            <a:r>
              <a:rPr lang="en-US" b="1" i="0" dirty="0">
                <a:effectLst/>
              </a:rPr>
              <a:t>create intricate patterns</a:t>
            </a:r>
            <a:r>
              <a:rPr lang="en-US" b="0" i="0" dirty="0">
                <a:effectLst/>
              </a:rPr>
              <a:t> on a silicon wafer. It involves projecting light through a mask to form patterns on a photosensitive material.</a:t>
            </a:r>
            <a:endParaRPr lang="en-US" dirty="0"/>
          </a:p>
        </p:txBody>
      </p:sp>
      <p:pic>
        <p:nvPicPr>
          <p:cNvPr id="6" name="Picture 2" descr="EUV for dummies - Bits&amp;Chips">
            <a:extLst>
              <a:ext uri="{FF2B5EF4-FFF2-40B4-BE49-F238E27FC236}">
                <a16:creationId xmlns:a16="http://schemas.microsoft.com/office/drawing/2014/main" id="{EF270C75-1BC3-46B8-9BAB-41CCF81D8A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360" y="1057202"/>
            <a:ext cx="4282440" cy="549404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EBE57DD-854C-4F71-B7BF-FD50DFD12063}"/>
              </a:ext>
            </a:extLst>
          </p:cNvPr>
          <p:cNvSpPr/>
          <p:nvPr/>
        </p:nvSpPr>
        <p:spPr>
          <a:xfrm>
            <a:off x="0" y="841664"/>
            <a:ext cx="6959600" cy="796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dirty="0">
                <a:effectLst/>
              </a:rPr>
              <a:t>What is Lithography?</a:t>
            </a:r>
            <a:endParaRPr lang="en-US" sz="3200" dirty="0"/>
          </a:p>
        </p:txBody>
      </p:sp>
      <p:sp>
        <p:nvSpPr>
          <p:cNvPr id="2" name="TextBox 1">
            <a:extLst>
              <a:ext uri="{FF2B5EF4-FFF2-40B4-BE49-F238E27FC236}">
                <a16:creationId xmlns:a16="http://schemas.microsoft.com/office/drawing/2014/main" id="{925477C7-5E4E-4CD5-B813-5042A3D63AF5}"/>
              </a:ext>
            </a:extLst>
          </p:cNvPr>
          <p:cNvSpPr txBox="1"/>
          <p:nvPr/>
        </p:nvSpPr>
        <p:spPr>
          <a:xfrm>
            <a:off x="892048" y="4114800"/>
            <a:ext cx="5965952" cy="1477328"/>
          </a:xfrm>
          <a:prstGeom prst="rect">
            <a:avLst/>
          </a:prstGeom>
          <a:noFill/>
        </p:spPr>
        <p:txBody>
          <a:bodyPr wrap="square" rtlCol="0">
            <a:spAutoFit/>
          </a:bodyPr>
          <a:lstStyle/>
          <a:p>
            <a:r>
              <a:rPr lang="en-US" dirty="0"/>
              <a:t>Lithography is critical in semiconductor manufacturing because it determines how small and dense chip features can be. Advanced lithography enables smaller technology nodes, higher performance, and better power efficiency in modern processors.</a:t>
            </a:r>
          </a:p>
        </p:txBody>
      </p:sp>
      <p:sp>
        <p:nvSpPr>
          <p:cNvPr id="3" name="TextBox 2">
            <a:extLst>
              <a:ext uri="{FF2B5EF4-FFF2-40B4-BE49-F238E27FC236}">
                <a16:creationId xmlns:a16="http://schemas.microsoft.com/office/drawing/2014/main" id="{0BC58073-72AC-4FA3-A226-0DC02BB4A0A8}"/>
              </a:ext>
            </a:extLst>
          </p:cNvPr>
          <p:cNvSpPr txBox="1"/>
          <p:nvPr/>
        </p:nvSpPr>
        <p:spPr>
          <a:xfrm>
            <a:off x="892048" y="3591580"/>
            <a:ext cx="5774944" cy="523220"/>
          </a:xfrm>
          <a:prstGeom prst="rect">
            <a:avLst/>
          </a:prstGeom>
          <a:noFill/>
        </p:spPr>
        <p:txBody>
          <a:bodyPr wrap="square" rtlCol="0">
            <a:spAutoFit/>
          </a:bodyPr>
          <a:lstStyle/>
          <a:p>
            <a:r>
              <a:rPr lang="en-US" sz="2800" b="1" dirty="0"/>
              <a:t>Relevance In Chip Manufacturing </a:t>
            </a:r>
          </a:p>
        </p:txBody>
      </p:sp>
    </p:spTree>
    <p:extLst>
      <p:ext uri="{BB962C8B-B14F-4D97-AF65-F5344CB8AC3E}">
        <p14:creationId xmlns:p14="http://schemas.microsoft.com/office/powerpoint/2010/main" val="306310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81A2F0-EE33-4CBB-99DF-8EFF554DC38F}"/>
              </a:ext>
            </a:extLst>
          </p:cNvPr>
          <p:cNvSpPr/>
          <p:nvPr/>
        </p:nvSpPr>
        <p:spPr>
          <a:xfrm>
            <a:off x="466344" y="228600"/>
            <a:ext cx="9649968" cy="795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t>Technologies Before Modern Lithography</a:t>
            </a:r>
          </a:p>
        </p:txBody>
      </p:sp>
      <p:sp>
        <p:nvSpPr>
          <p:cNvPr id="10" name="TextBox 9">
            <a:extLst>
              <a:ext uri="{FF2B5EF4-FFF2-40B4-BE49-F238E27FC236}">
                <a16:creationId xmlns:a16="http://schemas.microsoft.com/office/drawing/2014/main" id="{ABA11BD5-1F15-4227-8CF6-7C8C3855401C}"/>
              </a:ext>
            </a:extLst>
          </p:cNvPr>
          <p:cNvSpPr txBox="1"/>
          <p:nvPr/>
        </p:nvSpPr>
        <p:spPr>
          <a:xfrm>
            <a:off x="630936" y="5624481"/>
            <a:ext cx="9857232" cy="646331"/>
          </a:xfrm>
          <a:prstGeom prst="rect">
            <a:avLst/>
          </a:prstGeom>
          <a:noFill/>
        </p:spPr>
        <p:txBody>
          <a:bodyPr wrap="square" rtlCol="0">
            <a:spAutoFit/>
          </a:bodyPr>
          <a:lstStyle/>
          <a:p>
            <a:r>
              <a:rPr lang="en-US" dirty="0"/>
              <a:t>Early patterning methods lacked precision and scalability, leading to the adoption of optical lithography for modern semiconductor fabrication.</a:t>
            </a:r>
          </a:p>
        </p:txBody>
      </p:sp>
      <p:pic>
        <p:nvPicPr>
          <p:cNvPr id="14" name="Picture 13">
            <a:extLst>
              <a:ext uri="{FF2B5EF4-FFF2-40B4-BE49-F238E27FC236}">
                <a16:creationId xmlns:a16="http://schemas.microsoft.com/office/drawing/2014/main" id="{11F22C18-A62D-4607-91A3-1634A7914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3456" y="1233519"/>
            <a:ext cx="7440168" cy="4340098"/>
          </a:xfrm>
          <a:prstGeom prst="rect">
            <a:avLst/>
          </a:prstGeom>
        </p:spPr>
      </p:pic>
    </p:spTree>
    <p:extLst>
      <p:ext uri="{BB962C8B-B14F-4D97-AF65-F5344CB8AC3E}">
        <p14:creationId xmlns:p14="http://schemas.microsoft.com/office/powerpoint/2010/main" val="1980038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49EFC-1340-43CF-8492-50FFFEC2D073}"/>
              </a:ext>
            </a:extLst>
          </p:cNvPr>
          <p:cNvSpPr>
            <a:spLocks noGrp="1"/>
          </p:cNvSpPr>
          <p:nvPr>
            <p:ph idx="1"/>
          </p:nvPr>
        </p:nvSpPr>
        <p:spPr/>
        <p:txBody>
          <a:bodyPr>
            <a:normAutofit fontScale="55000" lnSpcReduction="20000"/>
          </a:bodyPr>
          <a:lstStyle/>
          <a:p>
            <a:pPr>
              <a:buFont typeface="Arial" panose="020B0604020202020204" pitchFamily="34" charset="0"/>
              <a:buChar char="•"/>
            </a:pPr>
            <a:r>
              <a:rPr lang="en-US" b="1" dirty="0"/>
              <a:t>Mechanical Patterning (1940s–1950s):</a:t>
            </a:r>
            <a:br>
              <a:rPr lang="en-US" dirty="0"/>
            </a:br>
            <a:r>
              <a:rPr lang="en-US" dirty="0"/>
              <a:t>Early electronic components were made using mechanical cutting, drilling, and metal masks. Feature sizes were large and precision was limited.</a:t>
            </a:r>
          </a:p>
          <a:p>
            <a:pPr>
              <a:buFont typeface="Arial" panose="020B0604020202020204" pitchFamily="34" charset="0"/>
              <a:buChar char="•"/>
            </a:pPr>
            <a:r>
              <a:rPr lang="en-US" b="1" dirty="0"/>
              <a:t>Chemical Etching &amp; Shadow Masking (1950s–1960s):</a:t>
            </a:r>
            <a:br>
              <a:rPr lang="en-US" dirty="0"/>
            </a:br>
            <a:r>
              <a:rPr lang="en-US" dirty="0"/>
              <a:t>Simple metal masks were placed over substrates, and unwanted material was removed using chemical etching. This method lacked accuracy for small features.</a:t>
            </a:r>
          </a:p>
          <a:p>
            <a:pPr>
              <a:buFont typeface="Arial" panose="020B0604020202020204" pitchFamily="34" charset="0"/>
              <a:buChar char="•"/>
            </a:pPr>
            <a:r>
              <a:rPr lang="en-US" b="1" dirty="0"/>
              <a:t>Photographic Contact Printing (1960s):</a:t>
            </a:r>
            <a:br>
              <a:rPr lang="en-US" dirty="0"/>
            </a:br>
            <a:r>
              <a:rPr lang="en-US" dirty="0"/>
              <a:t>Borrowed from photography, light was used with photosensitive materials to transfer patterns by placing the mask directly on the wafer. This was the first step toward true lithography.</a:t>
            </a:r>
          </a:p>
          <a:p>
            <a:pPr>
              <a:buFont typeface="Arial" panose="020B0604020202020204" pitchFamily="34" charset="0"/>
              <a:buChar char="•"/>
            </a:pPr>
            <a:r>
              <a:rPr lang="en-US" b="1" dirty="0"/>
              <a:t>Electron Beam Patterning (1960s–1970s):</a:t>
            </a:r>
            <a:br>
              <a:rPr lang="en-US" dirty="0"/>
            </a:br>
            <a:r>
              <a:rPr lang="en-US" dirty="0"/>
              <a:t>Electron beams were used to directly write patterns without masks. While very precise, the process was slow and not suitable for mass production.</a:t>
            </a:r>
          </a:p>
          <a:p>
            <a:r>
              <a:rPr lang="en-US" b="1" dirty="0"/>
              <a:t>X-ray Lithography (1970s–1980s):</a:t>
            </a:r>
            <a:br>
              <a:rPr lang="en-US" dirty="0"/>
            </a:br>
            <a:r>
              <a:rPr lang="en-US" dirty="0"/>
              <a:t>X-rays enabled smaller features than visible light, but the systems were complex, expensive, and difficult to align.</a:t>
            </a:r>
          </a:p>
          <a:p>
            <a:r>
              <a:rPr lang="en-US" b="1" dirty="0"/>
              <a:t>Deep Ultraviolet (DUV) Lithography (1980s–2010s):</a:t>
            </a:r>
            <a:br>
              <a:rPr lang="en-US" dirty="0"/>
            </a:br>
            <a:r>
              <a:rPr lang="en-US" dirty="0"/>
              <a:t>Uses 193 nm </a:t>
            </a:r>
            <a:r>
              <a:rPr lang="en-US" dirty="0" err="1"/>
              <a:t>ArF</a:t>
            </a:r>
            <a:r>
              <a:rPr lang="en-US" dirty="0"/>
              <a:t> or 248 nm </a:t>
            </a:r>
            <a:r>
              <a:rPr lang="en-US" dirty="0" err="1"/>
              <a:t>KrF</a:t>
            </a:r>
            <a:r>
              <a:rPr lang="en-US" dirty="0"/>
              <a:t> lasers. The optical system uses lenses and mirrors to project mask patterns. High-volume manufacturing allowed features down to about 7 nm with multi-patterning, but scaling below 7 nm required multiple exposures.</a:t>
            </a:r>
          </a:p>
          <a:p>
            <a:r>
              <a:rPr lang="en-US" b="1" dirty="0"/>
              <a:t>Extreme Ultraviolet (EUV) Lithography (2018–present):</a:t>
            </a:r>
            <a:br>
              <a:rPr lang="en-US" dirty="0"/>
            </a:br>
            <a:r>
              <a:rPr lang="en-US" dirty="0"/>
              <a:t>Uses 13.5 nm EUV light with a fully reflective optical system in vacuum. Enables sub-7 nm features in a single exposure, offering higher resolution and fewer patterning steps, but is more expensive and requires extreme precision.</a:t>
            </a:r>
          </a:p>
          <a:p>
            <a:pPr>
              <a:buFont typeface="Arial" panose="020B0604020202020204" pitchFamily="34" charset="0"/>
              <a:buChar char="•"/>
            </a:pPr>
            <a:endParaRPr lang="en-US" b="1" dirty="0"/>
          </a:p>
          <a:p>
            <a:pPr marL="0" indent="0">
              <a:buNone/>
            </a:pPr>
            <a:endParaRPr lang="en-US" dirty="0"/>
          </a:p>
        </p:txBody>
      </p:sp>
      <p:sp>
        <p:nvSpPr>
          <p:cNvPr id="5" name="Rectangle 4">
            <a:extLst>
              <a:ext uri="{FF2B5EF4-FFF2-40B4-BE49-F238E27FC236}">
                <a16:creationId xmlns:a16="http://schemas.microsoft.com/office/drawing/2014/main" id="{9581A2F0-EE33-4CBB-99DF-8EFF554DC38F}"/>
              </a:ext>
            </a:extLst>
          </p:cNvPr>
          <p:cNvSpPr/>
          <p:nvPr/>
        </p:nvSpPr>
        <p:spPr>
          <a:xfrm>
            <a:off x="573024" y="576072"/>
            <a:ext cx="9649968" cy="923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t>Technologies Before Modern Lithography</a:t>
            </a:r>
          </a:p>
        </p:txBody>
      </p:sp>
    </p:spTree>
    <p:extLst>
      <p:ext uri="{BB962C8B-B14F-4D97-AF65-F5344CB8AC3E}">
        <p14:creationId xmlns:p14="http://schemas.microsoft.com/office/powerpoint/2010/main" val="348583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81A2F0-EE33-4CBB-99DF-8EFF554DC38F}"/>
              </a:ext>
            </a:extLst>
          </p:cNvPr>
          <p:cNvSpPr/>
          <p:nvPr/>
        </p:nvSpPr>
        <p:spPr>
          <a:xfrm>
            <a:off x="1145032" y="493776"/>
            <a:ext cx="9649968" cy="923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t>Recent Generations of Photolithography</a:t>
            </a:r>
          </a:p>
        </p:txBody>
      </p:sp>
      <p:graphicFrame>
        <p:nvGraphicFramePr>
          <p:cNvPr id="7" name="Table 7">
            <a:extLst>
              <a:ext uri="{FF2B5EF4-FFF2-40B4-BE49-F238E27FC236}">
                <a16:creationId xmlns:a16="http://schemas.microsoft.com/office/drawing/2014/main" id="{FFEE50DB-CFA5-4604-ABF0-473A7053583C}"/>
              </a:ext>
            </a:extLst>
          </p:cNvPr>
          <p:cNvGraphicFramePr>
            <a:graphicFrameLocks noGrp="1"/>
          </p:cNvGraphicFramePr>
          <p:nvPr>
            <p:extLst>
              <p:ext uri="{D42A27DB-BD31-4B8C-83A1-F6EECF244321}">
                <p14:modId xmlns:p14="http://schemas.microsoft.com/office/powerpoint/2010/main" val="1995818830"/>
              </p:ext>
            </p:extLst>
          </p:nvPr>
        </p:nvGraphicFramePr>
        <p:xfrm>
          <a:off x="1145032" y="1965960"/>
          <a:ext cx="9718040" cy="4494785"/>
        </p:xfrm>
        <a:graphic>
          <a:graphicData uri="http://schemas.openxmlformats.org/drawingml/2006/table">
            <a:tbl>
              <a:tblPr firstRow="1" bandRow="1">
                <a:tableStyleId>{5C22544A-7EE6-4342-B048-85BDC9FD1C3A}</a:tableStyleId>
              </a:tblPr>
              <a:tblGrid>
                <a:gridCol w="3034149">
                  <a:extLst>
                    <a:ext uri="{9D8B030D-6E8A-4147-A177-3AD203B41FA5}">
                      <a16:colId xmlns:a16="http://schemas.microsoft.com/office/drawing/2014/main" val="3183719172"/>
                    </a:ext>
                  </a:extLst>
                </a:gridCol>
                <a:gridCol w="6683891">
                  <a:extLst>
                    <a:ext uri="{9D8B030D-6E8A-4147-A177-3AD203B41FA5}">
                      <a16:colId xmlns:a16="http://schemas.microsoft.com/office/drawing/2014/main" val="3293901158"/>
                    </a:ext>
                  </a:extLst>
                </a:gridCol>
              </a:tblGrid>
              <a:tr h="897482">
                <a:tc>
                  <a:txBody>
                    <a:bodyPr/>
                    <a:lstStyle/>
                    <a:p>
                      <a:r>
                        <a:rPr lang="en-US" dirty="0"/>
                        <a:t>Lithography Type</a:t>
                      </a:r>
                    </a:p>
                  </a:txBody>
                  <a:tcPr anchor="ctr"/>
                </a:tc>
                <a:tc>
                  <a:txBody>
                    <a:bodyPr/>
                    <a:lstStyle/>
                    <a:p>
                      <a:r>
                        <a:rPr lang="en-US"/>
                        <a:t>Basic Functional / Theoretical Description</a:t>
                      </a:r>
                    </a:p>
                  </a:txBody>
                  <a:tcPr anchor="ctr"/>
                </a:tc>
                <a:extLst>
                  <a:ext uri="{0D108BD9-81ED-4DB2-BD59-A6C34878D82A}">
                    <a16:rowId xmlns:a16="http://schemas.microsoft.com/office/drawing/2014/main" val="2818013707"/>
                  </a:ext>
                </a:extLst>
              </a:tr>
              <a:tr h="1199101">
                <a:tc>
                  <a:txBody>
                    <a:bodyPr/>
                    <a:lstStyle/>
                    <a:p>
                      <a:r>
                        <a:rPr lang="en-US" b="1"/>
                        <a:t>DUV (193i)</a:t>
                      </a:r>
                      <a:endParaRPr lang="en-US"/>
                    </a:p>
                  </a:txBody>
                  <a:tcPr anchor="ctr"/>
                </a:tc>
                <a:tc>
                  <a:txBody>
                    <a:bodyPr/>
                    <a:lstStyle/>
                    <a:p>
                      <a:r>
                        <a:rPr lang="en-US"/>
                        <a:t>Uses 193 nm ultraviolet light and standard dry optics to project mask patterns onto photoresist; limited resolution due to wavelength and numerical aperture.</a:t>
                      </a:r>
                    </a:p>
                  </a:txBody>
                  <a:tcPr anchor="ctr"/>
                </a:tc>
                <a:extLst>
                  <a:ext uri="{0D108BD9-81ED-4DB2-BD59-A6C34878D82A}">
                    <a16:rowId xmlns:a16="http://schemas.microsoft.com/office/drawing/2014/main" val="2611366697"/>
                  </a:ext>
                </a:extLst>
              </a:tr>
              <a:tr h="1199101">
                <a:tc>
                  <a:txBody>
                    <a:bodyPr/>
                    <a:lstStyle/>
                    <a:p>
                      <a:r>
                        <a:rPr lang="en-US" b="1"/>
                        <a:t>DUV Immersion</a:t>
                      </a:r>
                      <a:endParaRPr lang="en-US"/>
                    </a:p>
                  </a:txBody>
                  <a:tcPr anchor="ctr"/>
                </a:tc>
                <a:tc>
                  <a:txBody>
                    <a:bodyPr/>
                    <a:lstStyle/>
                    <a:p>
                      <a:r>
                        <a:rPr lang="en-US"/>
                        <a:t>Similar to DUV but adds a liquid (water) between lens and wafer to increase numerical aperture, improving resolution and allowing smaller feature sizes.</a:t>
                      </a:r>
                    </a:p>
                  </a:txBody>
                  <a:tcPr anchor="ctr"/>
                </a:tc>
                <a:extLst>
                  <a:ext uri="{0D108BD9-81ED-4DB2-BD59-A6C34878D82A}">
                    <a16:rowId xmlns:a16="http://schemas.microsoft.com/office/drawing/2014/main" val="2889882943"/>
                  </a:ext>
                </a:extLst>
              </a:tr>
              <a:tr h="1199101">
                <a:tc>
                  <a:txBody>
                    <a:bodyPr/>
                    <a:lstStyle/>
                    <a:p>
                      <a:r>
                        <a:rPr lang="en-US" b="1"/>
                        <a:t>EUV</a:t>
                      </a:r>
                      <a:endParaRPr lang="en-US"/>
                    </a:p>
                  </a:txBody>
                  <a:tcPr anchor="ctr"/>
                </a:tc>
                <a:tc>
                  <a:txBody>
                    <a:bodyPr/>
                    <a:lstStyle/>
                    <a:p>
                      <a:r>
                        <a:rPr lang="en-US" dirty="0"/>
                        <a:t>Uses extremely short 13.5 nm wavelength light generated by plasma; relies on reflective mirrors instead of lenses to print very small patterns for advanced nodes.</a:t>
                      </a:r>
                    </a:p>
                  </a:txBody>
                  <a:tcPr anchor="ctr"/>
                </a:tc>
                <a:extLst>
                  <a:ext uri="{0D108BD9-81ED-4DB2-BD59-A6C34878D82A}">
                    <a16:rowId xmlns:a16="http://schemas.microsoft.com/office/drawing/2014/main" val="721445712"/>
                  </a:ext>
                </a:extLst>
              </a:tr>
            </a:tbl>
          </a:graphicData>
        </a:graphic>
      </p:graphicFrame>
    </p:spTree>
    <p:extLst>
      <p:ext uri="{BB962C8B-B14F-4D97-AF65-F5344CB8AC3E}">
        <p14:creationId xmlns:p14="http://schemas.microsoft.com/office/powerpoint/2010/main" val="4011546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514445"/>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Recent Generations of Photolithography</a:t>
            </a:r>
          </a:p>
        </p:txBody>
      </p:sp>
      <p:graphicFrame>
        <p:nvGraphicFramePr>
          <p:cNvPr id="2" name="Table 2">
            <a:extLst>
              <a:ext uri="{FF2B5EF4-FFF2-40B4-BE49-F238E27FC236}">
                <a16:creationId xmlns:a16="http://schemas.microsoft.com/office/drawing/2014/main" id="{8E97117A-0628-4EC2-9655-E3778FBF2804}"/>
              </a:ext>
            </a:extLst>
          </p:cNvPr>
          <p:cNvGraphicFramePr>
            <a:graphicFrameLocks noGrp="1"/>
          </p:cNvGraphicFramePr>
          <p:nvPr>
            <p:extLst>
              <p:ext uri="{D42A27DB-BD31-4B8C-83A1-F6EECF244321}">
                <p14:modId xmlns:p14="http://schemas.microsoft.com/office/powerpoint/2010/main" val="1968224016"/>
              </p:ext>
            </p:extLst>
          </p:nvPr>
        </p:nvGraphicFramePr>
        <p:xfrm>
          <a:off x="975360" y="1755648"/>
          <a:ext cx="10241280" cy="4614164"/>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1107322049"/>
                    </a:ext>
                  </a:extLst>
                </a:gridCol>
                <a:gridCol w="2560320">
                  <a:extLst>
                    <a:ext uri="{9D8B030D-6E8A-4147-A177-3AD203B41FA5}">
                      <a16:colId xmlns:a16="http://schemas.microsoft.com/office/drawing/2014/main" val="3149168812"/>
                    </a:ext>
                  </a:extLst>
                </a:gridCol>
                <a:gridCol w="2560320">
                  <a:extLst>
                    <a:ext uri="{9D8B030D-6E8A-4147-A177-3AD203B41FA5}">
                      <a16:colId xmlns:a16="http://schemas.microsoft.com/office/drawing/2014/main" val="3211544430"/>
                    </a:ext>
                  </a:extLst>
                </a:gridCol>
                <a:gridCol w="2560320">
                  <a:extLst>
                    <a:ext uri="{9D8B030D-6E8A-4147-A177-3AD203B41FA5}">
                      <a16:colId xmlns:a16="http://schemas.microsoft.com/office/drawing/2014/main" val="1464536806"/>
                    </a:ext>
                  </a:extLst>
                </a:gridCol>
              </a:tblGrid>
              <a:tr h="739375">
                <a:tc>
                  <a:txBody>
                    <a:bodyPr/>
                    <a:lstStyle/>
                    <a:p>
                      <a:r>
                        <a:rPr lang="en-US" dirty="0"/>
                        <a:t>Parameter</a:t>
                      </a:r>
                    </a:p>
                  </a:txBody>
                  <a:tcPr anchor="ctr"/>
                </a:tc>
                <a:tc>
                  <a:txBody>
                    <a:bodyPr/>
                    <a:lstStyle/>
                    <a:p>
                      <a:r>
                        <a:rPr lang="en-US"/>
                        <a:t>DUV (193i)</a:t>
                      </a:r>
                    </a:p>
                  </a:txBody>
                  <a:tcPr anchor="ctr"/>
                </a:tc>
                <a:tc>
                  <a:txBody>
                    <a:bodyPr/>
                    <a:lstStyle/>
                    <a:p>
                      <a:r>
                        <a:rPr lang="en-US"/>
                        <a:t>DUV Immersion</a:t>
                      </a:r>
                    </a:p>
                  </a:txBody>
                  <a:tcPr anchor="ctr"/>
                </a:tc>
                <a:tc>
                  <a:txBody>
                    <a:bodyPr/>
                    <a:lstStyle/>
                    <a:p>
                      <a:r>
                        <a:rPr lang="en-US"/>
                        <a:t>EUV</a:t>
                      </a:r>
                    </a:p>
                  </a:txBody>
                  <a:tcPr anchor="ctr"/>
                </a:tc>
                <a:extLst>
                  <a:ext uri="{0D108BD9-81ED-4DB2-BD59-A6C34878D82A}">
                    <a16:rowId xmlns:a16="http://schemas.microsoft.com/office/drawing/2014/main" val="3393477481"/>
                  </a:ext>
                </a:extLst>
              </a:tr>
              <a:tr h="739375">
                <a:tc>
                  <a:txBody>
                    <a:bodyPr/>
                    <a:lstStyle/>
                    <a:p>
                      <a:r>
                        <a:rPr lang="en-US" b="1" dirty="0"/>
                        <a:t>Years of use</a:t>
                      </a:r>
                    </a:p>
                  </a:txBody>
                  <a:tcPr anchor="ctr"/>
                </a:tc>
                <a:tc>
                  <a:txBody>
                    <a:bodyPr/>
                    <a:lstStyle/>
                    <a:p>
                      <a:r>
                        <a:rPr lang="en-US"/>
                        <a:t>~2003–2010</a:t>
                      </a:r>
                    </a:p>
                  </a:txBody>
                  <a:tcPr anchor="ctr"/>
                </a:tc>
                <a:tc>
                  <a:txBody>
                    <a:bodyPr/>
                    <a:lstStyle/>
                    <a:p>
                      <a:r>
                        <a:rPr lang="en-US"/>
                        <a:t>~2010–2020</a:t>
                      </a:r>
                    </a:p>
                  </a:txBody>
                  <a:tcPr anchor="ctr"/>
                </a:tc>
                <a:tc>
                  <a:txBody>
                    <a:bodyPr/>
                    <a:lstStyle/>
                    <a:p>
                      <a:r>
                        <a:rPr lang="en-US"/>
                        <a:t>~2019–present</a:t>
                      </a:r>
                    </a:p>
                  </a:txBody>
                  <a:tcPr anchor="ctr"/>
                </a:tc>
                <a:extLst>
                  <a:ext uri="{0D108BD9-81ED-4DB2-BD59-A6C34878D82A}">
                    <a16:rowId xmlns:a16="http://schemas.microsoft.com/office/drawing/2014/main" val="3184727347"/>
                  </a:ext>
                </a:extLst>
              </a:tr>
              <a:tr h="739375">
                <a:tc>
                  <a:txBody>
                    <a:bodyPr/>
                    <a:lstStyle/>
                    <a:p>
                      <a:r>
                        <a:rPr lang="en-US" b="1" dirty="0"/>
                        <a:t>Wavelength</a:t>
                      </a:r>
                    </a:p>
                  </a:txBody>
                  <a:tcPr anchor="ctr"/>
                </a:tc>
                <a:tc>
                  <a:txBody>
                    <a:bodyPr/>
                    <a:lstStyle/>
                    <a:p>
                      <a:r>
                        <a:rPr lang="en-US"/>
                        <a:t>193 nm</a:t>
                      </a:r>
                    </a:p>
                  </a:txBody>
                  <a:tcPr anchor="ctr"/>
                </a:tc>
                <a:tc>
                  <a:txBody>
                    <a:bodyPr/>
                    <a:lstStyle/>
                    <a:p>
                      <a:r>
                        <a:rPr lang="en-US"/>
                        <a:t>193 nm</a:t>
                      </a:r>
                    </a:p>
                  </a:txBody>
                  <a:tcPr anchor="ctr"/>
                </a:tc>
                <a:tc>
                  <a:txBody>
                    <a:bodyPr/>
                    <a:lstStyle/>
                    <a:p>
                      <a:r>
                        <a:rPr lang="en-US"/>
                        <a:t>13.5 nm</a:t>
                      </a:r>
                    </a:p>
                  </a:txBody>
                  <a:tcPr anchor="ctr"/>
                </a:tc>
                <a:extLst>
                  <a:ext uri="{0D108BD9-81ED-4DB2-BD59-A6C34878D82A}">
                    <a16:rowId xmlns:a16="http://schemas.microsoft.com/office/drawing/2014/main" val="1635452207"/>
                  </a:ext>
                </a:extLst>
              </a:tr>
              <a:tr h="739375">
                <a:tc>
                  <a:txBody>
                    <a:bodyPr/>
                    <a:lstStyle/>
                    <a:p>
                      <a:r>
                        <a:rPr lang="en-US" b="1" dirty="0"/>
                        <a:t>NA</a:t>
                      </a:r>
                    </a:p>
                  </a:txBody>
                  <a:tcPr anchor="ctr"/>
                </a:tc>
                <a:tc>
                  <a:txBody>
                    <a:bodyPr/>
                    <a:lstStyle/>
                    <a:p>
                      <a:r>
                        <a:rPr lang="en-US"/>
                        <a:t>~0.93</a:t>
                      </a:r>
                    </a:p>
                  </a:txBody>
                  <a:tcPr anchor="ctr"/>
                </a:tc>
                <a:tc>
                  <a:txBody>
                    <a:bodyPr/>
                    <a:lstStyle/>
                    <a:p>
                      <a:r>
                        <a:rPr lang="en-US"/>
                        <a:t>~1.35</a:t>
                      </a:r>
                    </a:p>
                  </a:txBody>
                  <a:tcPr anchor="ctr"/>
                </a:tc>
                <a:tc>
                  <a:txBody>
                    <a:bodyPr/>
                    <a:lstStyle/>
                    <a:p>
                      <a:r>
                        <a:rPr lang="en-US"/>
                        <a:t>~0.33</a:t>
                      </a:r>
                    </a:p>
                  </a:txBody>
                  <a:tcPr anchor="ctr"/>
                </a:tc>
                <a:extLst>
                  <a:ext uri="{0D108BD9-81ED-4DB2-BD59-A6C34878D82A}">
                    <a16:rowId xmlns:a16="http://schemas.microsoft.com/office/drawing/2014/main" val="1041556325"/>
                  </a:ext>
                </a:extLst>
              </a:tr>
              <a:tr h="739375">
                <a:tc>
                  <a:txBody>
                    <a:bodyPr/>
                    <a:lstStyle/>
                    <a:p>
                      <a:r>
                        <a:rPr lang="en-US" b="1" dirty="0"/>
                        <a:t>Processor examples</a:t>
                      </a:r>
                    </a:p>
                  </a:txBody>
                  <a:tcPr anchor="ctr"/>
                </a:tc>
                <a:tc>
                  <a:txBody>
                    <a:bodyPr/>
                    <a:lstStyle/>
                    <a:p>
                      <a:r>
                        <a:rPr lang="en-US"/>
                        <a:t>90–45 nm</a:t>
                      </a:r>
                    </a:p>
                  </a:txBody>
                  <a:tcPr anchor="ctr"/>
                </a:tc>
                <a:tc>
                  <a:txBody>
                    <a:bodyPr/>
                    <a:lstStyle/>
                    <a:p>
                      <a:r>
                        <a:rPr lang="en-US"/>
                        <a:t>22–7 nm</a:t>
                      </a:r>
                    </a:p>
                  </a:txBody>
                  <a:tcPr anchor="ctr"/>
                </a:tc>
                <a:tc>
                  <a:txBody>
                    <a:bodyPr/>
                    <a:lstStyle/>
                    <a:p>
                      <a:r>
                        <a:rPr lang="en-US"/>
                        <a:t>5–2 nm</a:t>
                      </a:r>
                    </a:p>
                  </a:txBody>
                  <a:tcPr anchor="ctr"/>
                </a:tc>
                <a:extLst>
                  <a:ext uri="{0D108BD9-81ED-4DB2-BD59-A6C34878D82A}">
                    <a16:rowId xmlns:a16="http://schemas.microsoft.com/office/drawing/2014/main" val="3805896937"/>
                  </a:ext>
                </a:extLst>
              </a:tr>
              <a:tr h="917289">
                <a:tc>
                  <a:txBody>
                    <a:bodyPr/>
                    <a:lstStyle/>
                    <a:p>
                      <a:r>
                        <a:rPr lang="en-US" b="1" dirty="0"/>
                        <a:t>Main limitation</a:t>
                      </a:r>
                    </a:p>
                  </a:txBody>
                  <a:tcPr anchor="ctr"/>
                </a:tc>
                <a:tc>
                  <a:txBody>
                    <a:bodyPr/>
                    <a:lstStyle/>
                    <a:p>
                      <a:r>
                        <a:rPr lang="en-US"/>
                        <a:t>Resolution</a:t>
                      </a:r>
                    </a:p>
                  </a:txBody>
                  <a:tcPr anchor="ctr"/>
                </a:tc>
                <a:tc>
                  <a:txBody>
                    <a:bodyPr/>
                    <a:lstStyle/>
                    <a:p>
                      <a:r>
                        <a:rPr lang="en-US"/>
                        <a:t>Multiple patterning</a:t>
                      </a:r>
                    </a:p>
                  </a:txBody>
                  <a:tcPr anchor="ctr"/>
                </a:tc>
                <a:tc>
                  <a:txBody>
                    <a:bodyPr/>
                    <a:lstStyle/>
                    <a:p>
                      <a:r>
                        <a:rPr lang="en-US" dirty="0"/>
                        <a:t>Source power</a:t>
                      </a:r>
                    </a:p>
                  </a:txBody>
                  <a:tcPr anchor="ctr"/>
                </a:tc>
                <a:extLst>
                  <a:ext uri="{0D108BD9-81ED-4DB2-BD59-A6C34878D82A}">
                    <a16:rowId xmlns:a16="http://schemas.microsoft.com/office/drawing/2014/main" val="3765633350"/>
                  </a:ext>
                </a:extLst>
              </a:tr>
            </a:tbl>
          </a:graphicData>
        </a:graphic>
      </p:graphicFrame>
    </p:spTree>
    <p:extLst>
      <p:ext uri="{BB962C8B-B14F-4D97-AF65-F5344CB8AC3E}">
        <p14:creationId xmlns:p14="http://schemas.microsoft.com/office/powerpoint/2010/main" val="428723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D040E7-F42A-4BB6-A4A4-08366AEA0A78}"/>
              </a:ext>
            </a:extLst>
          </p:cNvPr>
          <p:cNvSpPr/>
          <p:nvPr/>
        </p:nvSpPr>
        <p:spPr>
          <a:xfrm>
            <a:off x="482600" y="634708"/>
            <a:ext cx="6959600" cy="796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en-US" sz="3200" b="1" i="0" u="none" strike="noStrike" cap="none" normalizeH="0" baseline="0" dirty="0">
                <a:ln>
                  <a:noFill/>
                </a:ln>
                <a:effectLst/>
                <a:latin typeface="Trebuchet MS" panose="020B0603020202020204" pitchFamily="34" charset="0"/>
              </a:rPr>
              <a:t>Steps in Photolithography</a:t>
            </a:r>
          </a:p>
        </p:txBody>
      </p:sp>
      <p:sp>
        <p:nvSpPr>
          <p:cNvPr id="5" name="TextBox 4">
            <a:extLst>
              <a:ext uri="{FF2B5EF4-FFF2-40B4-BE49-F238E27FC236}">
                <a16:creationId xmlns:a16="http://schemas.microsoft.com/office/drawing/2014/main" id="{F0087698-CE7B-462B-813C-E7322492B98B}"/>
              </a:ext>
            </a:extLst>
          </p:cNvPr>
          <p:cNvSpPr txBox="1"/>
          <p:nvPr/>
        </p:nvSpPr>
        <p:spPr>
          <a:xfrm>
            <a:off x="914400" y="1885037"/>
            <a:ext cx="6096000" cy="4895571"/>
          </a:xfrm>
          <a:prstGeom prst="rect">
            <a:avLst/>
          </a:prstGeom>
          <a:noFill/>
        </p:spPr>
        <p:txBody>
          <a:bodyPr wrap="square">
            <a:spAutoFit/>
          </a:bodyPr>
          <a:lstStyle/>
          <a:p>
            <a:pPr marL="0" marR="0" lvl="0" indent="0" algn="l" defTabSz="685800" rtl="0" eaLnBrk="0" fontAlgn="base" latinLnBrk="0" hangingPunct="0">
              <a:lnSpc>
                <a:spcPct val="150000"/>
              </a:lnSpc>
              <a:spcBef>
                <a:spcPct val="0"/>
              </a:spcBef>
              <a:spcAft>
                <a:spcPct val="0"/>
              </a:spcAft>
              <a:buClrTx/>
              <a:buSzTx/>
              <a:buFontTx/>
              <a:buAutoNum type="arabicPeriod"/>
              <a:tabLst/>
            </a:pPr>
            <a:r>
              <a:rPr kumimoji="0" lang="en-US" altLang="en-US" sz="1800" b="0" i="0" u="none" strike="noStrike" cap="none" normalizeH="0" baseline="0" dirty="0">
                <a:ln>
                  <a:noFill/>
                </a:ln>
                <a:effectLst/>
                <a:latin typeface="Trebuchet MS" panose="020B0603020202020204" pitchFamily="34" charset="0"/>
              </a:rPr>
              <a:t>Substrate Cleaning</a:t>
            </a:r>
          </a:p>
          <a:p>
            <a:pPr marL="0" marR="0" lvl="0" indent="0" algn="l" defTabSz="685800" rtl="0" eaLnBrk="0" fontAlgn="base" latinLnBrk="0" hangingPunct="0">
              <a:lnSpc>
                <a:spcPct val="150000"/>
              </a:lnSpc>
              <a:spcBef>
                <a:spcPct val="0"/>
              </a:spcBef>
              <a:spcAft>
                <a:spcPct val="0"/>
              </a:spcAft>
              <a:buClrTx/>
              <a:buSzTx/>
              <a:buFontTx/>
              <a:buAutoNum type="arabicPeriod" startAt="2"/>
              <a:tabLst/>
            </a:pPr>
            <a:r>
              <a:rPr kumimoji="0" lang="en-US" altLang="en-US" sz="1800" b="0" i="0" u="none" strike="noStrike" cap="none" normalizeH="0" baseline="0" dirty="0">
                <a:ln>
                  <a:noFill/>
                </a:ln>
                <a:effectLst/>
                <a:latin typeface="Trebuchet MS" panose="020B0603020202020204" pitchFamily="34" charset="0"/>
              </a:rPr>
              <a:t>Photoresist Covering</a:t>
            </a:r>
          </a:p>
          <a:p>
            <a:pPr marL="0" marR="0" lvl="0" indent="0" algn="l" defTabSz="685800" rtl="0" eaLnBrk="0" fontAlgn="base" latinLnBrk="0" hangingPunct="0">
              <a:lnSpc>
                <a:spcPct val="150000"/>
              </a:lnSpc>
              <a:spcBef>
                <a:spcPct val="0"/>
              </a:spcBef>
              <a:spcAft>
                <a:spcPct val="0"/>
              </a:spcAft>
              <a:buClrTx/>
              <a:buSzTx/>
              <a:buFontTx/>
              <a:buAutoNum type="arabicPeriod" startAt="3"/>
              <a:tabLst/>
            </a:pPr>
            <a:r>
              <a:rPr kumimoji="0" lang="en-US" altLang="en-US" sz="1800" b="0" i="0" u="none" strike="noStrike" cap="none" normalizeH="0" baseline="0" dirty="0">
                <a:ln>
                  <a:noFill/>
                </a:ln>
                <a:effectLst/>
                <a:latin typeface="Trebuchet MS" panose="020B0603020202020204" pitchFamily="34" charset="0"/>
              </a:rPr>
              <a:t>Soft Bake</a:t>
            </a:r>
          </a:p>
          <a:p>
            <a:pPr marL="0" marR="0" lvl="0" indent="0" algn="l" defTabSz="685800" rtl="0" eaLnBrk="0" fontAlgn="base" latinLnBrk="0" hangingPunct="0">
              <a:lnSpc>
                <a:spcPct val="150000"/>
              </a:lnSpc>
              <a:spcBef>
                <a:spcPct val="0"/>
              </a:spcBef>
              <a:spcAft>
                <a:spcPct val="0"/>
              </a:spcAft>
              <a:buClrTx/>
              <a:buSzTx/>
              <a:buFontTx/>
              <a:buAutoNum type="arabicPeriod" startAt="4"/>
              <a:tabLst/>
            </a:pPr>
            <a:r>
              <a:rPr kumimoji="0" lang="en-US" altLang="en-US" sz="1800" b="0" i="0" u="none" strike="noStrike" cap="none" normalizeH="0" baseline="0" dirty="0">
                <a:ln>
                  <a:noFill/>
                </a:ln>
                <a:effectLst/>
                <a:latin typeface="Trebuchet MS" panose="020B0603020202020204" pitchFamily="34" charset="0"/>
              </a:rPr>
              <a:t>Mask Alignment</a:t>
            </a:r>
          </a:p>
          <a:p>
            <a:pPr marL="0" marR="0" lvl="0" indent="0" algn="l" defTabSz="685800" rtl="0" eaLnBrk="0" fontAlgn="base" latinLnBrk="0" hangingPunct="0">
              <a:lnSpc>
                <a:spcPct val="150000"/>
              </a:lnSpc>
              <a:spcBef>
                <a:spcPct val="0"/>
              </a:spcBef>
              <a:spcAft>
                <a:spcPct val="0"/>
              </a:spcAft>
              <a:buClrTx/>
              <a:buSzTx/>
              <a:buFontTx/>
              <a:buAutoNum type="arabicPeriod" startAt="5"/>
              <a:tabLst/>
            </a:pPr>
            <a:r>
              <a:rPr kumimoji="0" lang="en-US" altLang="en-US" sz="1800" b="0" i="0" u="none" strike="noStrike" cap="none" normalizeH="0" baseline="0" dirty="0">
                <a:ln>
                  <a:noFill/>
                </a:ln>
                <a:effectLst/>
                <a:latin typeface="Trebuchet MS" panose="020B0603020202020204" pitchFamily="34" charset="0"/>
              </a:rPr>
              <a:t>Exposure</a:t>
            </a:r>
          </a:p>
          <a:p>
            <a:pPr marL="0" marR="0" lvl="0" indent="0" algn="l" defTabSz="685800" rtl="0" eaLnBrk="0" fontAlgn="base" latinLnBrk="0" hangingPunct="0">
              <a:lnSpc>
                <a:spcPct val="150000"/>
              </a:lnSpc>
              <a:spcBef>
                <a:spcPct val="0"/>
              </a:spcBef>
              <a:spcAft>
                <a:spcPct val="0"/>
              </a:spcAft>
              <a:buClrTx/>
              <a:buSzTx/>
              <a:buFontTx/>
              <a:buAutoNum type="arabicPeriod" startAt="6"/>
              <a:tabLst/>
            </a:pPr>
            <a:r>
              <a:rPr kumimoji="0" lang="en-US" altLang="en-US" sz="1800" b="0" i="0" u="none" strike="noStrike" cap="none" normalizeH="0" baseline="0" dirty="0">
                <a:ln>
                  <a:noFill/>
                </a:ln>
                <a:effectLst/>
                <a:latin typeface="Trebuchet MS" panose="020B0603020202020204" pitchFamily="34" charset="0"/>
              </a:rPr>
              <a:t>Post-Exposure Bake</a:t>
            </a:r>
          </a:p>
          <a:p>
            <a:pPr marL="0" marR="0" lvl="0" indent="0" algn="l" defTabSz="685800" rtl="0" eaLnBrk="0" fontAlgn="base" latinLnBrk="0" hangingPunct="0">
              <a:lnSpc>
                <a:spcPct val="150000"/>
              </a:lnSpc>
              <a:spcBef>
                <a:spcPct val="0"/>
              </a:spcBef>
              <a:spcAft>
                <a:spcPct val="0"/>
              </a:spcAft>
              <a:buClrTx/>
              <a:buSzTx/>
              <a:buFontTx/>
              <a:buAutoNum type="arabicPeriod" startAt="7"/>
              <a:tabLst/>
            </a:pPr>
            <a:r>
              <a:rPr kumimoji="0" lang="en-US" altLang="en-US" sz="1800" b="0" i="0" u="none" strike="noStrike" cap="none" normalizeH="0" baseline="0" dirty="0">
                <a:ln>
                  <a:noFill/>
                </a:ln>
                <a:effectLst/>
                <a:latin typeface="Trebuchet MS" panose="020B0603020202020204" pitchFamily="34" charset="0"/>
              </a:rPr>
              <a:t>Development</a:t>
            </a:r>
          </a:p>
          <a:p>
            <a:pPr marL="0" marR="0" lvl="0" indent="0" algn="l" defTabSz="685800" rtl="0" eaLnBrk="0" fontAlgn="base" latinLnBrk="0" hangingPunct="0">
              <a:lnSpc>
                <a:spcPct val="150000"/>
              </a:lnSpc>
              <a:spcBef>
                <a:spcPct val="0"/>
              </a:spcBef>
              <a:spcAft>
                <a:spcPct val="0"/>
              </a:spcAft>
              <a:buClrTx/>
              <a:buSzTx/>
              <a:buFontTx/>
              <a:buAutoNum type="arabicPeriod" startAt="8"/>
              <a:tabLst/>
            </a:pPr>
            <a:r>
              <a:rPr kumimoji="0" lang="en-US" altLang="en-US" sz="1800" b="0" i="0" u="none" strike="noStrike" cap="none" normalizeH="0" baseline="0" dirty="0">
                <a:ln>
                  <a:noFill/>
                </a:ln>
                <a:effectLst/>
                <a:latin typeface="Trebuchet MS" panose="020B0603020202020204" pitchFamily="34" charset="0"/>
              </a:rPr>
              <a:t>Hard Bake</a:t>
            </a:r>
          </a:p>
          <a:p>
            <a:pPr marL="0" marR="0" lvl="0" indent="0" algn="l" defTabSz="685800" rtl="0" eaLnBrk="0" fontAlgn="base" latinLnBrk="0" hangingPunct="0">
              <a:lnSpc>
                <a:spcPct val="150000"/>
              </a:lnSpc>
              <a:spcBef>
                <a:spcPct val="0"/>
              </a:spcBef>
              <a:spcAft>
                <a:spcPct val="0"/>
              </a:spcAft>
              <a:buClrTx/>
              <a:buSzTx/>
              <a:buFontTx/>
              <a:buAutoNum type="arabicPeriod" startAt="9"/>
              <a:tabLst/>
            </a:pPr>
            <a:r>
              <a:rPr kumimoji="0" lang="en-US" altLang="en-US" sz="1800" b="0" i="0" u="none" strike="noStrike" cap="none" normalizeH="0" baseline="0" dirty="0">
                <a:ln>
                  <a:noFill/>
                </a:ln>
                <a:effectLst/>
                <a:latin typeface="Trebuchet MS" panose="020B0603020202020204" pitchFamily="34" charset="0"/>
              </a:rPr>
              <a:t>Etching or Implantation</a:t>
            </a:r>
          </a:p>
          <a:p>
            <a:pPr marL="0" marR="0" lvl="0" indent="0" algn="l" defTabSz="685800" rtl="0" eaLnBrk="0" fontAlgn="base" latinLnBrk="0" hangingPunct="0">
              <a:lnSpc>
                <a:spcPct val="150000"/>
              </a:lnSpc>
              <a:spcBef>
                <a:spcPct val="0"/>
              </a:spcBef>
              <a:spcAft>
                <a:spcPct val="0"/>
              </a:spcAft>
              <a:buClrTx/>
              <a:buSzTx/>
              <a:buFontTx/>
              <a:buAutoNum type="arabicPeriod" startAt="10"/>
              <a:tabLst/>
            </a:pPr>
            <a:r>
              <a:rPr kumimoji="0" lang="en-US" altLang="en-US" sz="1800" b="0" i="0" u="none" strike="noStrike" cap="none" normalizeH="0" baseline="0" dirty="0">
                <a:ln>
                  <a:noFill/>
                </a:ln>
                <a:effectLst/>
                <a:latin typeface="Trebuchet MS" panose="020B0603020202020204" pitchFamily="34" charset="0"/>
              </a:rPr>
              <a:t>Photoresist Stripping</a:t>
            </a:r>
          </a:p>
          <a:p>
            <a:pPr marL="0" marR="0" lvl="0" indent="0" algn="l" defTabSz="685800" rtl="0" eaLnBrk="0" fontAlgn="base" latinLnBrk="0" hangingPunct="0">
              <a:lnSpc>
                <a:spcPct val="150000"/>
              </a:lnSpc>
              <a:spcBef>
                <a:spcPct val="0"/>
              </a:spcBef>
              <a:spcAft>
                <a:spcPct val="0"/>
              </a:spcAft>
              <a:buClrTx/>
              <a:buSzTx/>
              <a:buFontTx/>
              <a:buNone/>
              <a:tabLst/>
            </a:pPr>
            <a:endParaRPr kumimoji="0" lang="en-US" altLang="en-US" sz="3200" b="0" i="0" u="none" strike="noStrike" cap="none" normalizeH="0" baseline="0" dirty="0">
              <a:ln>
                <a:noFill/>
              </a:ln>
              <a:effectLst/>
              <a:latin typeface="Trebuchet MS" panose="020B0603020202020204" pitchFamily="34" charset="0"/>
            </a:endParaRPr>
          </a:p>
        </p:txBody>
      </p:sp>
      <p:pic>
        <p:nvPicPr>
          <p:cNvPr id="15364" name="Picture 4" descr="Nanotechnology Nanofabrication by photolithography">
            <a:extLst>
              <a:ext uri="{FF2B5EF4-FFF2-40B4-BE49-F238E27FC236}">
                <a16:creationId xmlns:a16="http://schemas.microsoft.com/office/drawing/2014/main" id="{76ECF488-C449-4623-88D7-5A52456817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341" t="15066" b="8545"/>
          <a:stretch/>
        </p:blipFill>
        <p:spPr bwMode="auto">
          <a:xfrm>
            <a:off x="5568696" y="1885037"/>
            <a:ext cx="5464048" cy="4634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887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A24AC9-CD42-4FA6-81C6-A7434D10195F}"/>
              </a:ext>
            </a:extLst>
          </p:cNvPr>
          <p:cNvSpPr txBox="1"/>
          <p:nvPr/>
        </p:nvSpPr>
        <p:spPr>
          <a:xfrm>
            <a:off x="914400" y="2145476"/>
            <a:ext cx="6096000" cy="3365473"/>
          </a:xfrm>
          <a:prstGeom prst="rect">
            <a:avLst/>
          </a:prstGeom>
          <a:noFill/>
        </p:spPr>
        <p:txBody>
          <a:bodyPr wrap="square">
            <a:spAutoFit/>
          </a:bodyPr>
          <a:lstStyle/>
          <a:p>
            <a:pPr marL="0" marR="0" lvl="0" indent="0" algn="l" defTabSz="685800" rtl="0" eaLnBrk="0" fontAlgn="base" latinLnBrk="0" hangingPunct="0">
              <a:lnSpc>
                <a:spcPct val="150000"/>
              </a:lnSpc>
              <a:spcBef>
                <a:spcPct val="0"/>
              </a:spcBef>
              <a:spcAft>
                <a:spcPct val="0"/>
              </a:spcAft>
              <a:buClrTx/>
              <a:buSzTx/>
              <a:buFontTx/>
              <a:buAutoNum type="arabicPeriod"/>
              <a:tabLst/>
            </a:pPr>
            <a:r>
              <a:rPr lang="en-US" altLang="en-US" dirty="0">
                <a:latin typeface="Trebuchet MS" panose="020B0603020202020204" pitchFamily="34" charset="0"/>
              </a:rPr>
              <a:t> Wavelength Of light (</a:t>
            </a:r>
            <a:r>
              <a:rPr lang="el-GR" altLang="en-US" b="1" dirty="0">
                <a:latin typeface="Dutch801 XBd BT" panose="02020903060505020304" pitchFamily="18" charset="0"/>
                <a:cs typeface="GreekC" panose="00000400000000000000" pitchFamily="2" charset="0"/>
              </a:rPr>
              <a:t>λ</a:t>
            </a:r>
            <a:r>
              <a:rPr lang="en-US" altLang="en-US" dirty="0">
                <a:latin typeface="Trebuchet MS" panose="020B0603020202020204" pitchFamily="34" charset="0"/>
              </a:rPr>
              <a:t>)</a:t>
            </a:r>
            <a:endParaRPr kumimoji="0" lang="en-US" altLang="en-US" sz="1800" b="0" i="0" u="none" strike="noStrike" cap="none" normalizeH="0" baseline="0" dirty="0">
              <a:ln>
                <a:noFill/>
              </a:ln>
              <a:effectLst/>
              <a:latin typeface="Trebuchet MS" panose="020B0603020202020204" pitchFamily="34" charset="0"/>
            </a:endParaRPr>
          </a:p>
          <a:p>
            <a:pPr marL="0" marR="0" lvl="0" indent="0" algn="l" defTabSz="685800" rtl="0" eaLnBrk="0" fontAlgn="base" latinLnBrk="0" hangingPunct="0">
              <a:lnSpc>
                <a:spcPct val="150000"/>
              </a:lnSpc>
              <a:spcBef>
                <a:spcPct val="0"/>
              </a:spcBef>
              <a:spcAft>
                <a:spcPct val="0"/>
              </a:spcAft>
              <a:buClrTx/>
              <a:buSzTx/>
              <a:buFontTx/>
              <a:buAutoNum type="arabicPeriod" startAt="2"/>
              <a:tabLst/>
            </a:pPr>
            <a:r>
              <a:rPr lang="en-US" altLang="en-US" dirty="0">
                <a:latin typeface="Trebuchet MS" panose="020B0603020202020204" pitchFamily="34" charset="0"/>
              </a:rPr>
              <a:t>Numerical Apertures (</a:t>
            </a:r>
            <a:r>
              <a:rPr lang="en-US" altLang="en-US" b="1" dirty="0">
                <a:latin typeface="Trebuchet MS" panose="020B0603020202020204" pitchFamily="34" charset="0"/>
              </a:rPr>
              <a:t>NA</a:t>
            </a:r>
            <a:r>
              <a:rPr lang="en-US" altLang="en-US" dirty="0">
                <a:latin typeface="Trebuchet MS" panose="020B0603020202020204" pitchFamily="34" charset="0"/>
              </a:rPr>
              <a:t>) </a:t>
            </a:r>
            <a:endParaRPr kumimoji="0" lang="en-US" altLang="en-US" sz="1800" b="0" i="0" u="none" strike="noStrike" cap="none" normalizeH="0" baseline="0" dirty="0">
              <a:ln>
                <a:noFill/>
              </a:ln>
              <a:effectLst/>
              <a:latin typeface="Trebuchet MS" panose="020B0603020202020204" pitchFamily="34" charset="0"/>
            </a:endParaRPr>
          </a:p>
          <a:p>
            <a:pPr marL="0" marR="0" lvl="0" indent="0" algn="l" defTabSz="685800" rtl="0" eaLnBrk="0" fontAlgn="base" latinLnBrk="0" hangingPunct="0">
              <a:lnSpc>
                <a:spcPct val="150000"/>
              </a:lnSpc>
              <a:spcBef>
                <a:spcPct val="0"/>
              </a:spcBef>
              <a:spcAft>
                <a:spcPct val="0"/>
              </a:spcAft>
              <a:buClrTx/>
              <a:buSzTx/>
              <a:buFontTx/>
              <a:buAutoNum type="arabicPeriod" startAt="3"/>
              <a:tabLst/>
            </a:pPr>
            <a:r>
              <a:rPr lang="en-US" altLang="en-US" dirty="0">
                <a:latin typeface="Trebuchet MS" panose="020B0603020202020204" pitchFamily="34" charset="0"/>
              </a:rPr>
              <a:t>Resolution / Rayleigh Criterion (</a:t>
            </a:r>
            <a:r>
              <a:rPr lang="en-US" altLang="en-US" b="1" dirty="0">
                <a:latin typeface="Trebuchet MS" panose="020B0603020202020204" pitchFamily="34" charset="0"/>
              </a:rPr>
              <a:t>CD</a:t>
            </a:r>
            <a:r>
              <a:rPr lang="en-US" altLang="en-US" dirty="0">
                <a:latin typeface="Trebuchet MS" panose="020B0603020202020204" pitchFamily="34" charset="0"/>
              </a:rPr>
              <a:t>)  </a:t>
            </a:r>
            <a:endParaRPr kumimoji="0" lang="en-US" altLang="en-US" sz="1800" b="0" i="0" u="none" strike="noStrike" cap="none" normalizeH="0" baseline="0" dirty="0">
              <a:ln>
                <a:noFill/>
              </a:ln>
              <a:effectLst/>
              <a:latin typeface="Trebuchet MS" panose="020B0603020202020204" pitchFamily="34" charset="0"/>
            </a:endParaRPr>
          </a:p>
          <a:p>
            <a:pPr marL="0" marR="0" lvl="0" indent="0" algn="l" defTabSz="685800" rtl="0" eaLnBrk="0" fontAlgn="base" latinLnBrk="0" hangingPunct="0">
              <a:lnSpc>
                <a:spcPct val="150000"/>
              </a:lnSpc>
              <a:spcBef>
                <a:spcPct val="0"/>
              </a:spcBef>
              <a:spcAft>
                <a:spcPct val="0"/>
              </a:spcAft>
              <a:buClrTx/>
              <a:buSzTx/>
              <a:buFontTx/>
              <a:buAutoNum type="arabicPeriod" startAt="4"/>
              <a:tabLst/>
            </a:pPr>
            <a:r>
              <a:rPr lang="en-US" altLang="en-US" dirty="0">
                <a:latin typeface="Trebuchet MS" panose="020B0603020202020204" pitchFamily="34" charset="0"/>
              </a:rPr>
              <a:t>Source power</a:t>
            </a:r>
            <a:endParaRPr kumimoji="0" lang="en-US" altLang="en-US" sz="1800" b="0" i="0" u="none" strike="noStrike" cap="none" normalizeH="0" baseline="0" dirty="0">
              <a:ln>
                <a:noFill/>
              </a:ln>
              <a:effectLst/>
              <a:latin typeface="Trebuchet MS" panose="020B0603020202020204" pitchFamily="34" charset="0"/>
            </a:endParaRPr>
          </a:p>
          <a:p>
            <a:pPr marL="0" marR="0" lvl="0" indent="0" algn="l" defTabSz="685800" rtl="0" eaLnBrk="0" fontAlgn="base" latinLnBrk="0" hangingPunct="0">
              <a:lnSpc>
                <a:spcPct val="150000"/>
              </a:lnSpc>
              <a:spcBef>
                <a:spcPct val="0"/>
              </a:spcBef>
              <a:spcAft>
                <a:spcPct val="0"/>
              </a:spcAft>
              <a:buClrTx/>
              <a:buSzTx/>
              <a:buFontTx/>
              <a:buAutoNum type="arabicPeriod" startAt="5"/>
              <a:tabLst/>
            </a:pPr>
            <a:r>
              <a:rPr lang="en-US" altLang="en-US" dirty="0">
                <a:latin typeface="Trebuchet MS" panose="020B0603020202020204" pitchFamily="34" charset="0"/>
              </a:rPr>
              <a:t>Mask Technology </a:t>
            </a:r>
            <a:endParaRPr kumimoji="0" lang="en-US" altLang="en-US" sz="1800" b="0" i="0" u="none" strike="noStrike" cap="none" normalizeH="0" baseline="0" dirty="0">
              <a:ln>
                <a:noFill/>
              </a:ln>
              <a:effectLst/>
              <a:latin typeface="Trebuchet MS" panose="020B0603020202020204" pitchFamily="34" charset="0"/>
            </a:endParaRPr>
          </a:p>
          <a:p>
            <a:pPr marL="0" marR="0" lvl="0" indent="0" algn="l" defTabSz="685800" rtl="0" eaLnBrk="0" fontAlgn="base" latinLnBrk="0" hangingPunct="0">
              <a:lnSpc>
                <a:spcPct val="150000"/>
              </a:lnSpc>
              <a:spcBef>
                <a:spcPct val="0"/>
              </a:spcBef>
              <a:spcAft>
                <a:spcPct val="0"/>
              </a:spcAft>
              <a:buClrTx/>
              <a:buSzTx/>
              <a:buFontTx/>
              <a:buAutoNum type="arabicPeriod" startAt="6"/>
              <a:tabLst/>
            </a:pPr>
            <a:r>
              <a:rPr kumimoji="0" lang="en-US" altLang="en-US" sz="1800" b="0" i="0" u="none" strike="noStrike" cap="none" normalizeH="0" baseline="0" dirty="0">
                <a:ln>
                  <a:noFill/>
                </a:ln>
                <a:effectLst/>
                <a:latin typeface="Trebuchet MS" panose="020B0603020202020204" pitchFamily="34" charset="0"/>
              </a:rPr>
              <a:t>Resist Sensitivity &amp; Line Edge Roughness (</a:t>
            </a:r>
            <a:r>
              <a:rPr kumimoji="0" lang="en-US" altLang="en-US" sz="1800" b="1" i="0" u="none" strike="noStrike" cap="none" normalizeH="0" baseline="0" dirty="0">
                <a:ln>
                  <a:noFill/>
                </a:ln>
                <a:effectLst/>
                <a:latin typeface="Trebuchet MS" panose="020B0603020202020204" pitchFamily="34" charset="0"/>
              </a:rPr>
              <a:t>LER</a:t>
            </a:r>
            <a:r>
              <a:rPr kumimoji="0" lang="en-US" altLang="en-US" sz="1800" b="0" i="0" u="none" strike="noStrike" cap="none" normalizeH="0" baseline="0" dirty="0">
                <a:ln>
                  <a:noFill/>
                </a:ln>
                <a:effectLst/>
                <a:latin typeface="Trebuchet MS" panose="020B0603020202020204" pitchFamily="34" charset="0"/>
              </a:rPr>
              <a:t>)</a:t>
            </a:r>
          </a:p>
          <a:p>
            <a:pPr marL="0" marR="0" lvl="0" indent="0" algn="l" defTabSz="685800" rtl="0" eaLnBrk="0" fontAlgn="base" latinLnBrk="0" hangingPunct="0">
              <a:lnSpc>
                <a:spcPct val="150000"/>
              </a:lnSpc>
              <a:spcBef>
                <a:spcPct val="0"/>
              </a:spcBef>
              <a:spcAft>
                <a:spcPct val="0"/>
              </a:spcAft>
              <a:buClrTx/>
              <a:buSzTx/>
              <a:buFontTx/>
              <a:buAutoNum type="arabicPeriod" startAt="7"/>
              <a:tabLst/>
            </a:pPr>
            <a:r>
              <a:rPr kumimoji="0" lang="en-US" altLang="en-US" sz="1800" b="0" i="0" u="none" strike="noStrike" cap="none" normalizeH="0" baseline="0" dirty="0">
                <a:ln>
                  <a:noFill/>
                </a:ln>
                <a:effectLst/>
                <a:latin typeface="Trebuchet MS" panose="020B0603020202020204" pitchFamily="34" charset="0"/>
              </a:rPr>
              <a:t>Overlay Accuracy</a:t>
            </a:r>
          </a:p>
          <a:p>
            <a:pPr marL="0" marR="0" lvl="0" indent="0" algn="l" defTabSz="685800" rtl="0" eaLnBrk="0" fontAlgn="base" latinLnBrk="0" hangingPunct="0">
              <a:lnSpc>
                <a:spcPct val="150000"/>
              </a:lnSpc>
              <a:spcBef>
                <a:spcPct val="0"/>
              </a:spcBef>
              <a:spcAft>
                <a:spcPct val="0"/>
              </a:spcAft>
              <a:buClrTx/>
              <a:buSzTx/>
              <a:buFontTx/>
              <a:buAutoNum type="arabicPeriod" startAt="8"/>
              <a:tabLst/>
            </a:pPr>
            <a:r>
              <a:rPr kumimoji="0" lang="en-US" altLang="en-US" sz="1800" b="0" i="0" u="none" strike="noStrike" cap="none" normalizeH="0" baseline="0" dirty="0">
                <a:ln>
                  <a:noFill/>
                </a:ln>
                <a:effectLst/>
                <a:latin typeface="Trebuchet MS" panose="020B0603020202020204" pitchFamily="34" charset="0"/>
              </a:rPr>
              <a:t>Throughput (Wafers per Hour)</a:t>
            </a:r>
          </a:p>
        </p:txBody>
      </p:sp>
      <p:sp>
        <p:nvSpPr>
          <p:cNvPr id="4" name="Rectangle 3">
            <a:extLst>
              <a:ext uri="{FF2B5EF4-FFF2-40B4-BE49-F238E27FC236}">
                <a16:creationId xmlns:a16="http://schemas.microsoft.com/office/drawing/2014/main" id="{8CD040E7-F42A-4BB6-A4A4-08366AEA0A78}"/>
              </a:ext>
            </a:extLst>
          </p:cNvPr>
          <p:cNvSpPr/>
          <p:nvPr/>
        </p:nvSpPr>
        <p:spPr>
          <a:xfrm>
            <a:off x="284480" y="1082764"/>
            <a:ext cx="9408160" cy="796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a:latin typeface="Trebuchet MS" panose="020B0603020202020204" pitchFamily="34" charset="0"/>
              </a:rPr>
              <a:t>Parameters of EUV L</a:t>
            </a:r>
            <a:r>
              <a:rPr kumimoji="0" lang="en-US" altLang="en-US" sz="3200" b="1" i="0" u="none" strike="noStrike" cap="none" normalizeH="0" baseline="0" dirty="0">
                <a:ln>
                  <a:noFill/>
                </a:ln>
                <a:effectLst/>
                <a:latin typeface="Trebuchet MS" panose="020B0603020202020204" pitchFamily="34" charset="0"/>
              </a:rPr>
              <a:t>ithography</a:t>
            </a:r>
          </a:p>
        </p:txBody>
      </p:sp>
      <p:pic>
        <p:nvPicPr>
          <p:cNvPr id="1026" name="Picture 2" descr="This Machine Could Keep Moore's Law on Track - IEEE Spectrum">
            <a:extLst>
              <a:ext uri="{FF2B5EF4-FFF2-40B4-BE49-F238E27FC236}">
                <a16:creationId xmlns:a16="http://schemas.microsoft.com/office/drawing/2014/main" id="{4E4988B6-2B55-4538-9236-3DFDD8213F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8664" y="2478321"/>
            <a:ext cx="3166751" cy="2109848"/>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206ECDC-E4B4-4D8D-94A9-51EF3FAF729B}"/>
              </a:ext>
            </a:extLst>
          </p:cNvPr>
          <p:cNvSpPr txBox="1"/>
          <p:nvPr/>
        </p:nvSpPr>
        <p:spPr>
          <a:xfrm>
            <a:off x="4123944" y="5775236"/>
            <a:ext cx="5568696" cy="461665"/>
          </a:xfrm>
          <a:prstGeom prst="rect">
            <a:avLst/>
          </a:prstGeom>
          <a:noFill/>
        </p:spPr>
        <p:txBody>
          <a:bodyPr wrap="square" rtlCol="0">
            <a:spAutoFit/>
          </a:bodyPr>
          <a:lstStyle/>
          <a:p>
            <a:r>
              <a:rPr lang="en-US" sz="2400" b="1" dirty="0">
                <a:solidFill>
                  <a:schemeClr val="accent1">
                    <a:lumMod val="75000"/>
                  </a:schemeClr>
                </a:solidFill>
              </a:rPr>
              <a:t>Higher NA means lower nodes. </a:t>
            </a:r>
          </a:p>
        </p:txBody>
      </p:sp>
      <p:sp>
        <p:nvSpPr>
          <p:cNvPr id="5" name="Oval 4">
            <a:extLst>
              <a:ext uri="{FF2B5EF4-FFF2-40B4-BE49-F238E27FC236}">
                <a16:creationId xmlns:a16="http://schemas.microsoft.com/office/drawing/2014/main" id="{B33F1AE7-B9EB-4669-96AB-2525761E2C63}"/>
              </a:ext>
            </a:extLst>
          </p:cNvPr>
          <p:cNvSpPr/>
          <p:nvPr/>
        </p:nvSpPr>
        <p:spPr>
          <a:xfrm>
            <a:off x="8851392" y="2944368"/>
            <a:ext cx="954023" cy="57607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295DB2E-023B-44FE-9615-950867851390}"/>
              </a:ext>
            </a:extLst>
          </p:cNvPr>
          <p:cNvCxnSpPr/>
          <p:nvPr/>
        </p:nvCxnSpPr>
        <p:spPr>
          <a:xfrm flipV="1">
            <a:off x="9328403" y="2377440"/>
            <a:ext cx="760477" cy="566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948091A-55EC-44AC-A8A3-60854F8DC5EC}"/>
              </a:ext>
            </a:extLst>
          </p:cNvPr>
          <p:cNvSpPr txBox="1"/>
          <p:nvPr/>
        </p:nvSpPr>
        <p:spPr>
          <a:xfrm>
            <a:off x="9805415" y="2044735"/>
            <a:ext cx="914400" cy="369332"/>
          </a:xfrm>
          <a:prstGeom prst="rect">
            <a:avLst/>
          </a:prstGeom>
          <a:noFill/>
        </p:spPr>
        <p:txBody>
          <a:bodyPr wrap="square" rtlCol="0">
            <a:spAutoFit/>
          </a:bodyPr>
          <a:lstStyle/>
          <a:p>
            <a:r>
              <a:rPr lang="en-US" dirty="0">
                <a:solidFill>
                  <a:schemeClr val="accent1">
                    <a:lumMod val="75000"/>
                  </a:schemeClr>
                </a:solidFill>
              </a:rPr>
              <a:t>13 nm</a:t>
            </a:r>
          </a:p>
        </p:txBody>
      </p:sp>
    </p:spTree>
    <p:extLst>
      <p:ext uri="{BB962C8B-B14F-4D97-AF65-F5344CB8AC3E}">
        <p14:creationId xmlns:p14="http://schemas.microsoft.com/office/powerpoint/2010/main" val="4125799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568960" y="580420"/>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Working principal of Photolithography</a:t>
            </a:r>
          </a:p>
        </p:txBody>
      </p:sp>
      <p:graphicFrame>
        <p:nvGraphicFramePr>
          <p:cNvPr id="14" name="Diagram 13">
            <a:extLst>
              <a:ext uri="{FF2B5EF4-FFF2-40B4-BE49-F238E27FC236}">
                <a16:creationId xmlns:a16="http://schemas.microsoft.com/office/drawing/2014/main" id="{5CFA5F34-9913-41D9-9081-AB56C5C969B4}"/>
              </a:ext>
            </a:extLst>
          </p:cNvPr>
          <p:cNvGraphicFramePr/>
          <p:nvPr>
            <p:extLst>
              <p:ext uri="{D42A27DB-BD31-4B8C-83A1-F6EECF244321}">
                <p14:modId xmlns:p14="http://schemas.microsoft.com/office/powerpoint/2010/main" val="3745563727"/>
              </p:ext>
            </p:extLst>
          </p:nvPr>
        </p:nvGraphicFramePr>
        <p:xfrm>
          <a:off x="0" y="1922839"/>
          <a:ext cx="6823242" cy="46778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062" name="Picture 14" descr="Inside ASML, the company advanced chipmakers use for EUV lithography">
            <a:extLst>
              <a:ext uri="{FF2B5EF4-FFF2-40B4-BE49-F238E27FC236}">
                <a16:creationId xmlns:a16="http://schemas.microsoft.com/office/drawing/2014/main" id="{6F6CB13A-2EB5-476B-ADF3-6661DE1D1A9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0432" y="1749103"/>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56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315555-6C9E-4B4C-A21B-CBFC9068B59D}"/>
              </a:ext>
            </a:extLst>
          </p:cNvPr>
          <p:cNvSpPr txBox="1"/>
          <p:nvPr/>
        </p:nvSpPr>
        <p:spPr>
          <a:xfrm>
            <a:off x="680720" y="2834640"/>
            <a:ext cx="10607040" cy="369332"/>
          </a:xfrm>
          <a:prstGeom prst="rect">
            <a:avLst/>
          </a:prstGeom>
          <a:noFill/>
        </p:spPr>
        <p:txBody>
          <a:bodyPr wrap="square">
            <a:spAutoFit/>
          </a:bodyPr>
          <a:lstStyle/>
          <a:p>
            <a:pPr algn="l"/>
            <a:r>
              <a:rPr lang="en-US" b="0" i="0" dirty="0">
                <a:effectLst/>
                <a:latin typeface="Google Sans"/>
              </a:rPr>
              <a:t>HOW IT WORKS??</a:t>
            </a:r>
          </a:p>
        </p:txBody>
      </p:sp>
      <p:sp>
        <p:nvSpPr>
          <p:cNvPr id="4" name="Rectangle 3">
            <a:extLst>
              <a:ext uri="{FF2B5EF4-FFF2-40B4-BE49-F238E27FC236}">
                <a16:creationId xmlns:a16="http://schemas.microsoft.com/office/drawing/2014/main" id="{024A441A-4D89-4F11-8F66-1263BA04A5B2}"/>
              </a:ext>
            </a:extLst>
          </p:cNvPr>
          <p:cNvSpPr/>
          <p:nvPr/>
        </p:nvSpPr>
        <p:spPr>
          <a:xfrm>
            <a:off x="680720" y="701040"/>
            <a:ext cx="10048240" cy="7894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A Cross Section View of ASML Lithography Machine</a:t>
            </a:r>
          </a:p>
        </p:txBody>
      </p:sp>
      <p:pic>
        <p:nvPicPr>
          <p:cNvPr id="5" name="Picture 4">
            <a:extLst>
              <a:ext uri="{FF2B5EF4-FFF2-40B4-BE49-F238E27FC236}">
                <a16:creationId xmlns:a16="http://schemas.microsoft.com/office/drawing/2014/main" id="{00A5233C-611A-4E5E-83D7-4F74E55D5EC5}"/>
              </a:ext>
            </a:extLst>
          </p:cNvPr>
          <p:cNvPicPr>
            <a:picLocks noChangeAspect="1"/>
          </p:cNvPicPr>
          <p:nvPr/>
        </p:nvPicPr>
        <p:blipFill rotWithShape="1">
          <a:blip r:embed="rId2"/>
          <a:srcRect t="10269" r="1965"/>
          <a:stretch/>
        </p:blipFill>
        <p:spPr>
          <a:xfrm>
            <a:off x="274320" y="1874520"/>
            <a:ext cx="10607040" cy="4983480"/>
          </a:xfrm>
          <a:prstGeom prst="rect">
            <a:avLst/>
          </a:prstGeom>
        </p:spPr>
      </p:pic>
    </p:spTree>
    <p:extLst>
      <p:ext uri="{BB962C8B-B14F-4D97-AF65-F5344CB8AC3E}">
        <p14:creationId xmlns:p14="http://schemas.microsoft.com/office/powerpoint/2010/main" val="3927662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D040E7-F42A-4BB6-A4A4-08366AEA0A78}"/>
              </a:ext>
            </a:extLst>
          </p:cNvPr>
          <p:cNvSpPr/>
          <p:nvPr/>
        </p:nvSpPr>
        <p:spPr>
          <a:xfrm>
            <a:off x="914400" y="1035876"/>
            <a:ext cx="3985768" cy="796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b="1" dirty="0"/>
              <a:t>EUV Light Source</a:t>
            </a:r>
          </a:p>
        </p:txBody>
      </p:sp>
      <p:sp>
        <p:nvSpPr>
          <p:cNvPr id="8" name="TextBox 7">
            <a:extLst>
              <a:ext uri="{FF2B5EF4-FFF2-40B4-BE49-F238E27FC236}">
                <a16:creationId xmlns:a16="http://schemas.microsoft.com/office/drawing/2014/main" id="{DD91FC06-A9C9-4061-BC6C-C9D88731AFCF}"/>
              </a:ext>
            </a:extLst>
          </p:cNvPr>
          <p:cNvSpPr txBox="1"/>
          <p:nvPr/>
        </p:nvSpPr>
        <p:spPr>
          <a:xfrm>
            <a:off x="914400" y="2838383"/>
            <a:ext cx="3985768" cy="2585323"/>
          </a:xfrm>
          <a:prstGeom prst="rect">
            <a:avLst/>
          </a:prstGeom>
          <a:noFill/>
        </p:spPr>
        <p:txBody>
          <a:bodyPr wrap="square">
            <a:spAutoFit/>
          </a:bodyPr>
          <a:lstStyle/>
          <a:p>
            <a:r>
              <a:rPr lang="en-US" b="0" i="0" dirty="0">
                <a:effectLst/>
                <a:latin typeface="Google Sans"/>
              </a:rPr>
              <a:t>EUV light for lithography is generated using a </a:t>
            </a:r>
            <a:r>
              <a:rPr lang="en-US" b="1" dirty="0">
                <a:latin typeface="Google Sans"/>
              </a:rPr>
              <a:t>Laser-Produced Plasma (LPP) technique</a:t>
            </a:r>
            <a:r>
              <a:rPr lang="en-US" b="0" i="0" dirty="0">
                <a:effectLst/>
                <a:latin typeface="Google Sans"/>
              </a:rPr>
              <a:t>, where </a:t>
            </a:r>
            <a:r>
              <a:rPr lang="en-US" dirty="0"/>
              <a:t>a high-power CO2 laser strikes molten tin droplets 50,000 times per second in a vacuum chamber</a:t>
            </a:r>
            <a:r>
              <a:rPr lang="en-US" b="0" i="0" dirty="0">
                <a:effectLst/>
                <a:latin typeface="Google Sans"/>
              </a:rPr>
              <a:t>. This process heats the tin </a:t>
            </a:r>
            <a:r>
              <a:rPr lang="en-US" b="1" i="0" dirty="0">
                <a:effectLst/>
                <a:latin typeface="Google Sans"/>
              </a:rPr>
              <a:t>to 220,000°C</a:t>
            </a:r>
            <a:r>
              <a:rPr lang="en-US" b="0" i="0" dirty="0">
                <a:effectLst/>
                <a:latin typeface="Google Sans"/>
              </a:rPr>
              <a:t>, forming a plasma that </a:t>
            </a:r>
            <a:r>
              <a:rPr lang="en-US" i="0" dirty="0">
                <a:effectLst/>
                <a:latin typeface="Google Sans"/>
              </a:rPr>
              <a:t>emits</a:t>
            </a:r>
            <a:r>
              <a:rPr lang="en-US" b="1" i="0" dirty="0">
                <a:effectLst/>
                <a:latin typeface="Google Sans"/>
              </a:rPr>
              <a:t> 13.5 nm EUV light</a:t>
            </a:r>
            <a:r>
              <a:rPr lang="en-US" b="0" i="0" dirty="0">
                <a:effectLst/>
                <a:latin typeface="Google Sans"/>
              </a:rPr>
              <a:t>, which is then captured by </a:t>
            </a:r>
            <a:r>
              <a:rPr lang="en-US" dirty="0">
                <a:latin typeface="Google Sans"/>
              </a:rPr>
              <a:t>specialized mirrors</a:t>
            </a:r>
            <a:r>
              <a:rPr lang="en-US" b="0" i="0" dirty="0">
                <a:effectLst/>
                <a:latin typeface="Google Sans"/>
              </a:rPr>
              <a:t>. </a:t>
            </a:r>
            <a:endParaRPr lang="en-US" dirty="0"/>
          </a:p>
        </p:txBody>
      </p:sp>
      <p:pic>
        <p:nvPicPr>
          <p:cNvPr id="4100" name="Picture 4">
            <a:extLst>
              <a:ext uri="{FF2B5EF4-FFF2-40B4-BE49-F238E27FC236}">
                <a16:creationId xmlns:a16="http://schemas.microsoft.com/office/drawing/2014/main" id="{FBF3E5B3-FAA2-4AE9-A21F-7CD277AB7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0824" y="2222653"/>
            <a:ext cx="5601843" cy="3201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889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D040E7-F42A-4BB6-A4A4-08366AEA0A78}"/>
              </a:ext>
            </a:extLst>
          </p:cNvPr>
          <p:cNvSpPr/>
          <p:nvPr/>
        </p:nvSpPr>
        <p:spPr>
          <a:xfrm>
            <a:off x="914400" y="1035876"/>
            <a:ext cx="10305288" cy="866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b="1" dirty="0"/>
              <a:t>Generate EUV light → shape it → pattern it → transfer to the wafer</a:t>
            </a:r>
          </a:p>
        </p:txBody>
      </p:sp>
      <p:sp>
        <p:nvSpPr>
          <p:cNvPr id="8" name="TextBox 7">
            <a:extLst>
              <a:ext uri="{FF2B5EF4-FFF2-40B4-BE49-F238E27FC236}">
                <a16:creationId xmlns:a16="http://schemas.microsoft.com/office/drawing/2014/main" id="{DD91FC06-A9C9-4061-BC6C-C9D88731AFCF}"/>
              </a:ext>
            </a:extLst>
          </p:cNvPr>
          <p:cNvSpPr txBox="1"/>
          <p:nvPr/>
        </p:nvSpPr>
        <p:spPr>
          <a:xfrm>
            <a:off x="978408" y="2276856"/>
            <a:ext cx="3985768" cy="3970318"/>
          </a:xfrm>
          <a:prstGeom prst="rect">
            <a:avLst/>
          </a:prstGeom>
          <a:noFill/>
        </p:spPr>
        <p:txBody>
          <a:bodyPr wrap="square">
            <a:spAutoFit/>
          </a:bodyPr>
          <a:lstStyle/>
          <a:p>
            <a:r>
              <a:rPr lang="en-US" dirty="0"/>
              <a:t>In an ASML EUV lithography machine, 13.5 nm radiation is generated by laser-produced tin plasma, collected and shaped using multilayer reflective optics, and patterned by a reflective mask. The image is demagnified and projected onto a photoresist-coated wafer under vacuum, enabling high-resolution patterning for advanced semiconductor nodes.</a:t>
            </a:r>
            <a:br>
              <a:rPr lang="en-US" dirty="0"/>
            </a:br>
            <a:endParaRPr lang="en-US" dirty="0"/>
          </a:p>
          <a:p>
            <a:r>
              <a:rPr lang="en-US" b="1" dirty="0"/>
              <a:t>Reflectivity ~70% per mirror</a:t>
            </a:r>
          </a:p>
          <a:p>
            <a:endParaRPr lang="en-US" b="1" dirty="0"/>
          </a:p>
          <a:p>
            <a:r>
              <a:rPr lang="en-US" b="1" dirty="0"/>
              <a:t>System efficiency ~2% .</a:t>
            </a:r>
          </a:p>
        </p:txBody>
      </p:sp>
      <p:pic>
        <p:nvPicPr>
          <p:cNvPr id="6146" name="Picture 2" descr="EUV optics: status, outlook and future">
            <a:extLst>
              <a:ext uri="{FF2B5EF4-FFF2-40B4-BE49-F238E27FC236}">
                <a16:creationId xmlns:a16="http://schemas.microsoft.com/office/drawing/2014/main" id="{6140510A-F86B-451D-A4BE-859516565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4998" y="2276856"/>
            <a:ext cx="5967153" cy="333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975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487013"/>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EUV Evolution: Low-NA to High-NA</a:t>
            </a:r>
          </a:p>
        </p:txBody>
      </p:sp>
      <p:graphicFrame>
        <p:nvGraphicFramePr>
          <p:cNvPr id="2" name="Table 2">
            <a:extLst>
              <a:ext uri="{FF2B5EF4-FFF2-40B4-BE49-F238E27FC236}">
                <a16:creationId xmlns:a16="http://schemas.microsoft.com/office/drawing/2014/main" id="{8E97117A-0628-4EC2-9655-E3778FBF2804}"/>
              </a:ext>
            </a:extLst>
          </p:cNvPr>
          <p:cNvGraphicFramePr>
            <a:graphicFrameLocks noGrp="1"/>
          </p:cNvGraphicFramePr>
          <p:nvPr>
            <p:extLst>
              <p:ext uri="{D42A27DB-BD31-4B8C-83A1-F6EECF244321}">
                <p14:modId xmlns:p14="http://schemas.microsoft.com/office/powerpoint/2010/main" val="1868193683"/>
              </p:ext>
            </p:extLst>
          </p:nvPr>
        </p:nvGraphicFramePr>
        <p:xfrm>
          <a:off x="975360" y="1755648"/>
          <a:ext cx="10241280" cy="4621435"/>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1107322049"/>
                    </a:ext>
                  </a:extLst>
                </a:gridCol>
                <a:gridCol w="2560320">
                  <a:extLst>
                    <a:ext uri="{9D8B030D-6E8A-4147-A177-3AD203B41FA5}">
                      <a16:colId xmlns:a16="http://schemas.microsoft.com/office/drawing/2014/main" val="3149168812"/>
                    </a:ext>
                  </a:extLst>
                </a:gridCol>
                <a:gridCol w="2560320">
                  <a:extLst>
                    <a:ext uri="{9D8B030D-6E8A-4147-A177-3AD203B41FA5}">
                      <a16:colId xmlns:a16="http://schemas.microsoft.com/office/drawing/2014/main" val="3211544430"/>
                    </a:ext>
                  </a:extLst>
                </a:gridCol>
                <a:gridCol w="2560320">
                  <a:extLst>
                    <a:ext uri="{9D8B030D-6E8A-4147-A177-3AD203B41FA5}">
                      <a16:colId xmlns:a16="http://schemas.microsoft.com/office/drawing/2014/main" val="1464536806"/>
                    </a:ext>
                  </a:extLst>
                </a:gridCol>
              </a:tblGrid>
              <a:tr h="739375">
                <a:tc>
                  <a:txBody>
                    <a:bodyPr/>
                    <a:lstStyle/>
                    <a:p>
                      <a:pPr algn="l"/>
                      <a:r>
                        <a:rPr lang="en-US" dirty="0">
                          <a:effectLst/>
                        </a:rPr>
                        <a:t>Parameter</a:t>
                      </a:r>
                    </a:p>
                  </a:txBody>
                  <a:tcPr marL="50800" marR="50800" marT="50800" marB="50800" anchor="ctr"/>
                </a:tc>
                <a:tc>
                  <a:txBody>
                    <a:bodyPr/>
                    <a:lstStyle/>
                    <a:p>
                      <a:pPr algn="l"/>
                      <a:r>
                        <a:rPr lang="en-US" dirty="0">
                          <a:effectLst/>
                        </a:rPr>
                        <a:t>Low-NA EUV (NXE:3400B/C)</a:t>
                      </a:r>
                    </a:p>
                  </a:txBody>
                  <a:tcPr marL="50800" marR="50800" marT="50800" marB="50800" anchor="ctr"/>
                </a:tc>
                <a:tc>
                  <a:txBody>
                    <a:bodyPr/>
                    <a:lstStyle/>
                    <a:p>
                      <a:pPr algn="l"/>
                      <a:r>
                        <a:rPr lang="en-US" dirty="0">
                          <a:effectLst/>
                        </a:rPr>
                        <a:t>Advanced Low-NA EUV (NXE:3600D) </a:t>
                      </a:r>
                    </a:p>
                  </a:txBody>
                  <a:tcPr marL="50800" marR="50800" marT="50800" marB="50800" anchor="ctr"/>
                </a:tc>
                <a:tc>
                  <a:txBody>
                    <a:bodyPr/>
                    <a:lstStyle/>
                    <a:p>
                      <a:pPr algn="l"/>
                      <a:r>
                        <a:rPr lang="pt-BR" dirty="0">
                          <a:effectLst/>
                        </a:rPr>
                        <a:t>High-NA EUV (EXE:5000) </a:t>
                      </a:r>
                    </a:p>
                  </a:txBody>
                  <a:tcPr marL="50800" marR="50800" marT="50800" marB="50800" anchor="ctr"/>
                </a:tc>
                <a:extLst>
                  <a:ext uri="{0D108BD9-81ED-4DB2-BD59-A6C34878D82A}">
                    <a16:rowId xmlns:a16="http://schemas.microsoft.com/office/drawing/2014/main" val="3393477481"/>
                  </a:ext>
                </a:extLst>
              </a:tr>
              <a:tr h="739375">
                <a:tc>
                  <a:txBody>
                    <a:bodyPr/>
                    <a:lstStyle/>
                    <a:p>
                      <a:pPr algn="l"/>
                      <a:r>
                        <a:rPr lang="en-US" b="1" dirty="0">
                          <a:effectLst/>
                        </a:rPr>
                        <a:t>Years of Application</a:t>
                      </a:r>
                      <a:endParaRPr lang="en-US" dirty="0">
                        <a:effectLst/>
                      </a:endParaRPr>
                    </a:p>
                  </a:txBody>
                  <a:tcPr marL="50800" marR="50800" marT="50800" marB="50800" anchor="ctr"/>
                </a:tc>
                <a:tc>
                  <a:txBody>
                    <a:bodyPr/>
                    <a:lstStyle/>
                    <a:p>
                      <a:pPr algn="l"/>
                      <a:r>
                        <a:rPr lang="en-US">
                          <a:effectLst/>
                        </a:rPr>
                        <a:t>2019–present (HVM ramp-up)</a:t>
                      </a:r>
                    </a:p>
                  </a:txBody>
                  <a:tcPr marL="50800" marR="50800" marT="50800" marB="50800" anchor="ctr"/>
                </a:tc>
                <a:tc>
                  <a:txBody>
                    <a:bodyPr/>
                    <a:lstStyle/>
                    <a:p>
                      <a:pPr algn="l"/>
                      <a:r>
                        <a:rPr lang="en-US">
                          <a:effectLst/>
                        </a:rPr>
                        <a:t>2022–present (volume production)</a:t>
                      </a:r>
                    </a:p>
                  </a:txBody>
                  <a:tcPr marL="50800" marR="50800" marT="50800" marB="50800" anchor="ctr"/>
                </a:tc>
                <a:tc>
                  <a:txBody>
                    <a:bodyPr/>
                    <a:lstStyle/>
                    <a:p>
                      <a:pPr algn="l"/>
                      <a:r>
                        <a:rPr lang="en-US" dirty="0">
                          <a:effectLst/>
                        </a:rPr>
                        <a:t>2025–present (initial shipments)</a:t>
                      </a:r>
                    </a:p>
                  </a:txBody>
                  <a:tcPr marL="50800" marR="50800" marT="50800" marB="50800" anchor="ctr"/>
                </a:tc>
                <a:extLst>
                  <a:ext uri="{0D108BD9-81ED-4DB2-BD59-A6C34878D82A}">
                    <a16:rowId xmlns:a16="http://schemas.microsoft.com/office/drawing/2014/main" val="3184727347"/>
                  </a:ext>
                </a:extLst>
              </a:tr>
              <a:tr h="739375">
                <a:tc>
                  <a:txBody>
                    <a:bodyPr/>
                    <a:lstStyle/>
                    <a:p>
                      <a:pPr algn="l"/>
                      <a:r>
                        <a:rPr lang="en-US" b="1" dirty="0">
                          <a:effectLst/>
                        </a:rPr>
                        <a:t>Numerical Aperture (NA)</a:t>
                      </a:r>
                      <a:endParaRPr lang="en-US" dirty="0">
                        <a:effectLst/>
                      </a:endParaRPr>
                    </a:p>
                  </a:txBody>
                  <a:tcPr marL="50800" marR="50800" marT="50800" marB="50800" anchor="ctr"/>
                </a:tc>
                <a:tc>
                  <a:txBody>
                    <a:bodyPr/>
                    <a:lstStyle/>
                    <a:p>
                      <a:pPr algn="l"/>
                      <a:r>
                        <a:rPr lang="en-US" dirty="0">
                          <a:effectLst/>
                        </a:rPr>
                        <a:t>0.33</a:t>
                      </a:r>
                    </a:p>
                  </a:txBody>
                  <a:tcPr marL="50800" marR="50800" marT="50800" marB="50800" anchor="ctr"/>
                </a:tc>
                <a:tc>
                  <a:txBody>
                    <a:bodyPr/>
                    <a:lstStyle/>
                    <a:p>
                      <a:pPr algn="l"/>
                      <a:r>
                        <a:rPr lang="en-US">
                          <a:effectLst/>
                        </a:rPr>
                        <a:t>0.33</a:t>
                      </a:r>
                    </a:p>
                  </a:txBody>
                  <a:tcPr marL="50800" marR="50800" marT="50800" marB="50800" anchor="ctr"/>
                </a:tc>
                <a:tc>
                  <a:txBody>
                    <a:bodyPr/>
                    <a:lstStyle/>
                    <a:p>
                      <a:pPr algn="l"/>
                      <a:r>
                        <a:rPr lang="en-US">
                          <a:effectLst/>
                        </a:rPr>
                        <a:t>0.55</a:t>
                      </a:r>
                    </a:p>
                  </a:txBody>
                  <a:tcPr marL="50800" marR="50800" marT="50800" marB="50800" anchor="ctr"/>
                </a:tc>
                <a:extLst>
                  <a:ext uri="{0D108BD9-81ED-4DB2-BD59-A6C34878D82A}">
                    <a16:rowId xmlns:a16="http://schemas.microsoft.com/office/drawing/2014/main" val="1635452207"/>
                  </a:ext>
                </a:extLst>
              </a:tr>
              <a:tr h="739375">
                <a:tc>
                  <a:txBody>
                    <a:bodyPr/>
                    <a:lstStyle/>
                    <a:p>
                      <a:pPr algn="l"/>
                      <a:r>
                        <a:rPr lang="en-US" b="1" dirty="0">
                          <a:effectLst/>
                        </a:rPr>
                        <a:t>Resolution (half-pitch)</a:t>
                      </a:r>
                      <a:endParaRPr lang="en-US" dirty="0">
                        <a:effectLst/>
                      </a:endParaRPr>
                    </a:p>
                  </a:txBody>
                  <a:tcPr marL="50800" marR="50800" marT="50800" marB="50800" anchor="ctr"/>
                </a:tc>
                <a:tc>
                  <a:txBody>
                    <a:bodyPr/>
                    <a:lstStyle/>
                    <a:p>
                      <a:pPr algn="l"/>
                      <a:r>
                        <a:rPr lang="en-US" dirty="0">
                          <a:effectLst/>
                        </a:rPr>
                        <a:t>~13 nm</a:t>
                      </a:r>
                    </a:p>
                  </a:txBody>
                  <a:tcPr marL="50800" marR="50800" marT="50800" marB="50800" anchor="ctr"/>
                </a:tc>
                <a:tc>
                  <a:txBody>
                    <a:bodyPr/>
                    <a:lstStyle/>
                    <a:p>
                      <a:pPr algn="l"/>
                      <a:r>
                        <a:rPr lang="en-US" dirty="0">
                          <a:effectLst/>
                        </a:rPr>
                        <a:t>~13 nm (improved productivity)</a:t>
                      </a:r>
                    </a:p>
                  </a:txBody>
                  <a:tcPr marL="50800" marR="50800" marT="50800" marB="50800" anchor="ctr"/>
                </a:tc>
                <a:tc>
                  <a:txBody>
                    <a:bodyPr/>
                    <a:lstStyle/>
                    <a:p>
                      <a:pPr algn="l"/>
                      <a:r>
                        <a:rPr lang="en-US" dirty="0">
                          <a:effectLst/>
                        </a:rPr>
                        <a:t>~8 nm</a:t>
                      </a:r>
                    </a:p>
                  </a:txBody>
                  <a:tcPr marL="50800" marR="50800" marT="50800" marB="50800" anchor="ctr"/>
                </a:tc>
                <a:extLst>
                  <a:ext uri="{0D108BD9-81ED-4DB2-BD59-A6C34878D82A}">
                    <a16:rowId xmlns:a16="http://schemas.microsoft.com/office/drawing/2014/main" val="1041556325"/>
                  </a:ext>
                </a:extLst>
              </a:tr>
              <a:tr h="739375">
                <a:tc>
                  <a:txBody>
                    <a:bodyPr/>
                    <a:lstStyle/>
                    <a:p>
                      <a:pPr algn="l"/>
                      <a:r>
                        <a:rPr lang="en-US" b="1" dirty="0">
                          <a:effectLst/>
                        </a:rPr>
                        <a:t>Throughput (wafers/hour)</a:t>
                      </a:r>
                      <a:endParaRPr lang="en-US" dirty="0">
                        <a:effectLst/>
                      </a:endParaRPr>
                    </a:p>
                  </a:txBody>
                  <a:tcPr marL="50800" marR="50800" marT="50800" marB="50800" anchor="ctr"/>
                </a:tc>
                <a:tc>
                  <a:txBody>
                    <a:bodyPr/>
                    <a:lstStyle/>
                    <a:p>
                      <a:pPr algn="l"/>
                      <a:r>
                        <a:rPr lang="en-US">
                          <a:effectLst/>
                        </a:rPr>
                        <a:t>~125–170</a:t>
                      </a:r>
                    </a:p>
                  </a:txBody>
                  <a:tcPr marL="50800" marR="50800" marT="50800" marB="50800" anchor="ctr"/>
                </a:tc>
                <a:tc>
                  <a:txBody>
                    <a:bodyPr/>
                    <a:lstStyle/>
                    <a:p>
                      <a:pPr algn="l"/>
                      <a:r>
                        <a:rPr lang="en-US" dirty="0">
                          <a:effectLst/>
                        </a:rPr>
                        <a:t>~170–200</a:t>
                      </a:r>
                    </a:p>
                  </a:txBody>
                  <a:tcPr marL="50800" marR="50800" marT="50800" marB="50800" anchor="ctr"/>
                </a:tc>
                <a:tc>
                  <a:txBody>
                    <a:bodyPr/>
                    <a:lstStyle/>
                    <a:p>
                      <a:pPr algn="l"/>
                      <a:r>
                        <a:rPr lang="en-US" dirty="0">
                          <a:effectLst/>
                        </a:rPr>
                        <a:t>~185–220</a:t>
                      </a:r>
                    </a:p>
                  </a:txBody>
                  <a:tcPr marL="50800" marR="50800" marT="50800" marB="50800" anchor="ctr"/>
                </a:tc>
                <a:extLst>
                  <a:ext uri="{0D108BD9-81ED-4DB2-BD59-A6C34878D82A}">
                    <a16:rowId xmlns:a16="http://schemas.microsoft.com/office/drawing/2014/main" val="3805896937"/>
                  </a:ext>
                </a:extLst>
              </a:tr>
              <a:tr h="917289">
                <a:tc>
                  <a:txBody>
                    <a:bodyPr/>
                    <a:lstStyle/>
                    <a:p>
                      <a:pPr algn="l"/>
                      <a:r>
                        <a:rPr lang="en-US" b="1" dirty="0">
                          <a:effectLst/>
                        </a:rPr>
                        <a:t>Processor Examples</a:t>
                      </a:r>
                      <a:endParaRPr lang="en-US" dirty="0">
                        <a:effectLst/>
                      </a:endParaRPr>
                    </a:p>
                  </a:txBody>
                  <a:tcPr marL="50800" marR="50800" marT="50800" marB="50800" anchor="ctr"/>
                </a:tc>
                <a:tc>
                  <a:txBody>
                    <a:bodyPr/>
                    <a:lstStyle/>
                    <a:p>
                      <a:pPr algn="l"/>
                      <a:r>
                        <a:rPr lang="en-US" dirty="0">
                          <a:effectLst/>
                        </a:rPr>
                        <a:t>TSMC/Samsung 5 nm/3 nm (e.g., Apple A16, Snapdragon 8 Gen 2) </a:t>
                      </a:r>
                    </a:p>
                  </a:txBody>
                  <a:tcPr marL="50800" marR="50800" marT="50800" marB="50800" anchor="ctr"/>
                </a:tc>
                <a:tc>
                  <a:txBody>
                    <a:bodyPr/>
                    <a:lstStyle/>
                    <a:p>
                      <a:pPr algn="l"/>
                      <a:r>
                        <a:rPr lang="en-US" dirty="0">
                          <a:effectLst/>
                        </a:rPr>
                        <a:t>TSMC/Samsung 3 nm/2 nm (e.g., Apple A18, NVIDIA Blackwell)</a:t>
                      </a:r>
                    </a:p>
                  </a:txBody>
                  <a:tcPr marL="50800" marR="50800" marT="50800" marB="50800" anchor="ctr"/>
                </a:tc>
                <a:tc>
                  <a:txBody>
                    <a:bodyPr/>
                    <a:lstStyle/>
                    <a:p>
                      <a:pPr algn="l"/>
                      <a:r>
                        <a:rPr lang="en-US" dirty="0">
                          <a:effectLst/>
                        </a:rPr>
                        <a:t>Intel 14A/1.4 nm, TSMC 1.6 nm (sub-2 nm logic) </a:t>
                      </a:r>
                    </a:p>
                  </a:txBody>
                  <a:tcPr marL="50800" marR="50800" marT="50800" marB="50800" anchor="ctr"/>
                </a:tc>
                <a:extLst>
                  <a:ext uri="{0D108BD9-81ED-4DB2-BD59-A6C34878D82A}">
                    <a16:rowId xmlns:a16="http://schemas.microsoft.com/office/drawing/2014/main" val="3765633350"/>
                  </a:ext>
                </a:extLst>
              </a:tr>
            </a:tbl>
          </a:graphicData>
        </a:graphic>
      </p:graphicFrame>
    </p:spTree>
    <p:extLst>
      <p:ext uri="{BB962C8B-B14F-4D97-AF65-F5344CB8AC3E}">
        <p14:creationId xmlns:p14="http://schemas.microsoft.com/office/powerpoint/2010/main" val="4171070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459581"/>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The EUV Light Source </a:t>
            </a:r>
          </a:p>
        </p:txBody>
      </p:sp>
      <p:sp>
        <p:nvSpPr>
          <p:cNvPr id="7" name="TextBox 6">
            <a:extLst>
              <a:ext uri="{FF2B5EF4-FFF2-40B4-BE49-F238E27FC236}">
                <a16:creationId xmlns:a16="http://schemas.microsoft.com/office/drawing/2014/main" id="{B882B1F9-9A2C-434B-9634-061BEEB50A87}"/>
              </a:ext>
            </a:extLst>
          </p:cNvPr>
          <p:cNvSpPr txBox="1"/>
          <p:nvPr/>
        </p:nvSpPr>
        <p:spPr>
          <a:xfrm>
            <a:off x="975360" y="1899702"/>
            <a:ext cx="8763000" cy="3970318"/>
          </a:xfrm>
          <a:prstGeom prst="rect">
            <a:avLst/>
          </a:prstGeom>
          <a:noFill/>
        </p:spPr>
        <p:txBody>
          <a:bodyPr wrap="square">
            <a:spAutoFit/>
          </a:bodyPr>
          <a:lstStyle/>
          <a:p>
            <a:r>
              <a:rPr lang="en-US" b="1" dirty="0">
                <a:effectLst/>
              </a:rPr>
              <a:t>The EUV Light Source</a:t>
            </a:r>
            <a:r>
              <a:rPr lang="en-US" dirty="0">
                <a:effectLst/>
              </a:rPr>
              <a:t> Creating enough 13.5 nm photons to maintain high manufacturing throughput is one of the greatest engineering feats in history.</a:t>
            </a:r>
          </a:p>
          <a:p>
            <a:endParaRPr lang="en-US" dirty="0">
              <a:effectLst/>
            </a:endParaRPr>
          </a:p>
          <a:p>
            <a:r>
              <a:rPr lang="en-US" b="1" dirty="0">
                <a:effectLst/>
              </a:rPr>
              <a:t>Construction: Laser Produced Plasma (LPP)</a:t>
            </a:r>
            <a:r>
              <a:rPr lang="en-US" dirty="0">
                <a:effectLst/>
              </a:rPr>
              <a:t> The source functions like a high-speed firing range</a:t>
            </a:r>
          </a:p>
          <a:p>
            <a:r>
              <a:rPr lang="en-US" b="1" dirty="0"/>
              <a:t>    </a:t>
            </a:r>
          </a:p>
          <a:p>
            <a:r>
              <a:rPr lang="en-US" b="1" dirty="0">
                <a:effectLst/>
              </a:rPr>
              <a:t>Droplet Generator</a:t>
            </a:r>
            <a:r>
              <a:rPr lang="en-US" dirty="0">
                <a:effectLst/>
              </a:rPr>
              <a:t>: A nozzle ejects tiny droplets of molten tin (Sn), about 30 microns wide, at a rate of 50,000 droplets per second.</a:t>
            </a:r>
          </a:p>
          <a:p>
            <a:r>
              <a:rPr lang="en-US" b="1" dirty="0">
                <a:effectLst/>
              </a:rPr>
              <a:t> </a:t>
            </a:r>
          </a:p>
          <a:p>
            <a:r>
              <a:rPr lang="en-US" b="1" dirty="0">
                <a:effectLst/>
              </a:rPr>
              <a:t>Dual-Pulse Laser</a:t>
            </a:r>
            <a:r>
              <a:rPr lang="en-US" dirty="0">
                <a:effectLst/>
              </a:rPr>
              <a:t>: A high-power CO2 laser fires twice at every droplet.</a:t>
            </a:r>
          </a:p>
          <a:p>
            <a:pPr marL="742950" lvl="1" indent="-285750">
              <a:buFont typeface="Arial" panose="020B0604020202020204" pitchFamily="34" charset="0"/>
              <a:buChar char="•"/>
            </a:pPr>
            <a:r>
              <a:rPr lang="en-US" i="1" dirty="0">
                <a:effectLst/>
              </a:rPr>
              <a:t>Pre-pulse</a:t>
            </a:r>
            <a:r>
              <a:rPr lang="en-US" dirty="0">
                <a:effectLst/>
              </a:rPr>
              <a:t>: Hits the droplet to flatten it into a "pancake" shape, increasing surface area.</a:t>
            </a:r>
          </a:p>
          <a:p>
            <a:pPr marL="742950" lvl="1" indent="-285750">
              <a:buFont typeface="Arial" panose="020B0604020202020204" pitchFamily="34" charset="0"/>
              <a:buChar char="•"/>
            </a:pPr>
            <a:r>
              <a:rPr lang="en-US" i="1" dirty="0">
                <a:effectLst/>
              </a:rPr>
              <a:t>Main pulse</a:t>
            </a:r>
            <a:r>
              <a:rPr lang="en-US" dirty="0">
                <a:effectLst/>
              </a:rPr>
              <a:t>: A massive blast of energy that ionizes the tin, turning it into a plasma hot enough to emit EUV light.</a:t>
            </a:r>
          </a:p>
        </p:txBody>
      </p:sp>
    </p:spTree>
    <p:extLst>
      <p:ext uri="{BB962C8B-B14F-4D97-AF65-F5344CB8AC3E}">
        <p14:creationId xmlns:p14="http://schemas.microsoft.com/office/powerpoint/2010/main" val="2746161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9634E3-C579-4922-A4F4-C72BB629851F}"/>
              </a:ext>
            </a:extLst>
          </p:cNvPr>
          <p:cNvSpPr txBox="1"/>
          <p:nvPr/>
        </p:nvSpPr>
        <p:spPr>
          <a:xfrm>
            <a:off x="1236726" y="4223850"/>
            <a:ext cx="6094476" cy="2185214"/>
          </a:xfrm>
          <a:prstGeom prst="rect">
            <a:avLst/>
          </a:prstGeom>
          <a:noFill/>
        </p:spPr>
        <p:txBody>
          <a:bodyPr wrap="square">
            <a:spAutoFit/>
          </a:bodyPr>
          <a:lstStyle/>
          <a:p>
            <a:r>
              <a:rPr lang="en-US" sz="2800" b="1" dirty="0">
                <a:effectLst/>
              </a:rPr>
              <a:t>Challenges</a:t>
            </a:r>
            <a:endParaRPr lang="en-US" sz="2800" dirty="0">
              <a:effectLst/>
            </a:endParaRPr>
          </a:p>
          <a:p>
            <a:r>
              <a:rPr lang="en-US" b="1" dirty="0">
                <a:effectLst/>
              </a:rPr>
              <a:t>Debris Control</a:t>
            </a:r>
            <a:r>
              <a:rPr lang="en-US" dirty="0">
                <a:effectLst/>
              </a:rPr>
              <a:t>: The plasma explosion creates tin "shrapnel" that can ruin the expensive optics. Systems use a hydrogen gas curtain to deflect these particles.</a:t>
            </a:r>
          </a:p>
          <a:p>
            <a:r>
              <a:rPr lang="en-US" b="1" dirty="0">
                <a:effectLst/>
              </a:rPr>
              <a:t>Power Conversion</a:t>
            </a:r>
            <a:r>
              <a:rPr lang="en-US" dirty="0">
                <a:effectLst/>
              </a:rPr>
              <a:t>: It takes an immense amount of electricity to generate a small amount of EUV light. Most of the energy is lost as heat.</a:t>
            </a:r>
          </a:p>
        </p:txBody>
      </p:sp>
      <p:pic>
        <p:nvPicPr>
          <p:cNvPr id="10242" name="Picture 2" descr="Characteristics of tin droplet target system for EUV source research -  IOPscience">
            <a:extLst>
              <a:ext uri="{FF2B5EF4-FFF2-40B4-BE49-F238E27FC236}">
                <a16:creationId xmlns:a16="http://schemas.microsoft.com/office/drawing/2014/main" id="{A816963E-E52E-4852-BC0E-64B795B3C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734302"/>
            <a:ext cx="9997440" cy="324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59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432149"/>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effectLst/>
              </a:rPr>
              <a:t>The Optical System</a:t>
            </a:r>
            <a:endParaRPr lang="en-US" sz="3600" b="1" dirty="0"/>
          </a:p>
        </p:txBody>
      </p:sp>
      <p:sp>
        <p:nvSpPr>
          <p:cNvPr id="5" name="TextBox 4">
            <a:extLst>
              <a:ext uri="{FF2B5EF4-FFF2-40B4-BE49-F238E27FC236}">
                <a16:creationId xmlns:a16="http://schemas.microsoft.com/office/drawing/2014/main" id="{78D85CDD-4BA2-4873-9381-D9E5C1554283}"/>
              </a:ext>
            </a:extLst>
          </p:cNvPr>
          <p:cNvSpPr txBox="1"/>
          <p:nvPr/>
        </p:nvSpPr>
        <p:spPr>
          <a:xfrm>
            <a:off x="975360" y="1829229"/>
            <a:ext cx="5288280" cy="4569190"/>
          </a:xfrm>
          <a:prstGeom prst="rect">
            <a:avLst/>
          </a:prstGeom>
          <a:noFill/>
        </p:spPr>
        <p:txBody>
          <a:bodyPr wrap="square">
            <a:spAutoFit/>
          </a:bodyPr>
          <a:lstStyle/>
          <a:p>
            <a:r>
              <a:rPr lang="en-US" b="1" dirty="0">
                <a:effectLst/>
              </a:rPr>
              <a:t>The Optical System (Illuminator and Projection)</a:t>
            </a:r>
            <a:r>
              <a:rPr lang="en-US" dirty="0">
                <a:effectLst/>
              </a:rPr>
              <a:t> Because 13.5 nm light is absorbed by glass, traditional lenses are useless. EUV systems must use reflective optics (mirrors) housed in a high-vacuum environment.</a:t>
            </a:r>
          </a:p>
          <a:p>
            <a:endParaRPr lang="en-US" b="1" dirty="0">
              <a:effectLst/>
            </a:endParaRPr>
          </a:p>
          <a:p>
            <a:r>
              <a:rPr lang="en-US" b="1" dirty="0">
                <a:effectLst/>
              </a:rPr>
              <a:t>Construction: Bragg Reflectors</a:t>
            </a:r>
            <a:r>
              <a:rPr lang="en-US" dirty="0">
                <a:effectLst/>
              </a:rPr>
              <a:t> Standard mirrors aren't smooth enough for EUV. Instead, the system uses Multi-Layer (ML) Mirrors:</a:t>
            </a:r>
          </a:p>
          <a:p>
            <a:pPr marL="285750" indent="-285750">
              <a:buFont typeface="Wingdings" panose="05000000000000000000" pitchFamily="2" charset="2"/>
              <a:buChar char="§"/>
            </a:pPr>
            <a:r>
              <a:rPr lang="en-US" dirty="0">
                <a:effectLst/>
              </a:rPr>
              <a:t>~40 pairs of alternating layers of Molybdenum (Mo) and Silicon (Si).</a:t>
            </a:r>
          </a:p>
          <a:p>
            <a:pPr marL="285750" indent="-285750">
              <a:buFont typeface="Wingdings" panose="05000000000000000000" pitchFamily="2" charset="2"/>
              <a:buChar char="§"/>
            </a:pPr>
            <a:r>
              <a:rPr lang="en-US" dirty="0">
                <a:effectLst/>
              </a:rPr>
              <a:t>Each layer is precisely a few nanometers thick to create constructive interference.</a:t>
            </a:r>
          </a:p>
          <a:p>
            <a:pPr marL="285750" indent="-285750">
              <a:buFont typeface="Wingdings" panose="05000000000000000000" pitchFamily="2" charset="2"/>
              <a:buChar char="§"/>
            </a:pPr>
            <a:r>
              <a:rPr lang="en-US" dirty="0">
                <a:effectLst/>
              </a:rPr>
              <a:t>Reflectivity: Even these "perfect" mirrors only reflect about 70% of the light. The rest is absorbed as heat.</a:t>
            </a:r>
          </a:p>
        </p:txBody>
      </p:sp>
      <p:pic>
        <p:nvPicPr>
          <p:cNvPr id="12290" name="Picture 2" descr="A ZEISS SMT employee stands in front of a mirror of the High-NA-EUV technology in the clean room">
            <a:extLst>
              <a:ext uri="{FF2B5EF4-FFF2-40B4-BE49-F238E27FC236}">
                <a16:creationId xmlns:a16="http://schemas.microsoft.com/office/drawing/2014/main" id="{012F02ED-A0EE-4197-8C50-92656AAA9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2027202"/>
            <a:ext cx="4987670" cy="2803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026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459581"/>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effectLst/>
              </a:rPr>
              <a:t>Operations of The Optical System</a:t>
            </a:r>
            <a:endParaRPr lang="en-US" sz="3600" b="1" dirty="0"/>
          </a:p>
        </p:txBody>
      </p:sp>
      <p:sp>
        <p:nvSpPr>
          <p:cNvPr id="8" name="TextBox 7">
            <a:extLst>
              <a:ext uri="{FF2B5EF4-FFF2-40B4-BE49-F238E27FC236}">
                <a16:creationId xmlns:a16="http://schemas.microsoft.com/office/drawing/2014/main" id="{678F4992-C9FC-4854-95ED-9E83AF846FCB}"/>
              </a:ext>
            </a:extLst>
          </p:cNvPr>
          <p:cNvSpPr txBox="1"/>
          <p:nvPr/>
        </p:nvSpPr>
        <p:spPr>
          <a:xfrm>
            <a:off x="975360" y="2437412"/>
            <a:ext cx="5120640" cy="3693319"/>
          </a:xfrm>
          <a:prstGeom prst="rect">
            <a:avLst/>
          </a:prstGeom>
          <a:noFill/>
        </p:spPr>
        <p:txBody>
          <a:bodyPr wrap="square">
            <a:spAutoFit/>
          </a:bodyPr>
          <a:lstStyle/>
          <a:p>
            <a:r>
              <a:rPr lang="en-US" b="1" dirty="0">
                <a:effectLst/>
              </a:rPr>
              <a:t>Collector</a:t>
            </a:r>
            <a:r>
              <a:rPr lang="en-US" dirty="0">
                <a:effectLst/>
              </a:rPr>
              <a:t>: A large, bread-shaped mirror captures the EUV light from the plasma and focuses it into the scanner.</a:t>
            </a:r>
          </a:p>
          <a:p>
            <a:r>
              <a:rPr lang="en-US" b="1" dirty="0">
                <a:effectLst/>
              </a:rPr>
              <a:t>Illuminator</a:t>
            </a:r>
            <a:r>
              <a:rPr lang="en-US" dirty="0">
                <a:effectLst/>
              </a:rPr>
              <a:t>: A series of mirrors shapes the beam and directs it toward the mask (reticle).</a:t>
            </a:r>
          </a:p>
          <a:p>
            <a:endParaRPr lang="en-US" b="1" dirty="0">
              <a:effectLst/>
            </a:endParaRPr>
          </a:p>
          <a:p>
            <a:r>
              <a:rPr lang="en-US" b="1" dirty="0">
                <a:effectLst/>
              </a:rPr>
              <a:t>Mask</a:t>
            </a:r>
            <a:r>
              <a:rPr lang="en-US" dirty="0">
                <a:effectLst/>
              </a:rPr>
              <a:t>: Unlike DUV masks (which are transparent), EUV masks are reflective. The pattern is etched into an absorber layer on top of a multi-layer mirror.</a:t>
            </a:r>
          </a:p>
          <a:p>
            <a:endParaRPr lang="en-US" b="1" dirty="0">
              <a:effectLst/>
            </a:endParaRPr>
          </a:p>
          <a:p>
            <a:r>
              <a:rPr lang="en-US" b="1" dirty="0">
                <a:effectLst/>
              </a:rPr>
              <a:t>Projection Optics</a:t>
            </a:r>
            <a:r>
              <a:rPr lang="en-US" dirty="0">
                <a:effectLst/>
              </a:rPr>
              <a:t>: A series of mirrors reduces the image (usually by 4x) and focuses it onto the silicon wafer.</a:t>
            </a:r>
          </a:p>
        </p:txBody>
      </p:sp>
      <p:pic>
        <p:nvPicPr>
          <p:cNvPr id="13314" name="Picture 2" descr="Solving Defect Challenges in the EUV Process">
            <a:extLst>
              <a:ext uri="{FF2B5EF4-FFF2-40B4-BE49-F238E27FC236}">
                <a16:creationId xmlns:a16="http://schemas.microsoft.com/office/drawing/2014/main" id="{C06EC435-6BD8-4265-BA1B-EABB2E115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152537"/>
            <a:ext cx="571500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139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4A441A-4D89-4F11-8F66-1263BA04A5B2}"/>
              </a:ext>
            </a:extLst>
          </p:cNvPr>
          <p:cNvSpPr/>
          <p:nvPr/>
        </p:nvSpPr>
        <p:spPr>
          <a:xfrm>
            <a:off x="975360" y="404717"/>
            <a:ext cx="10241280" cy="924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Challenges of </a:t>
            </a:r>
            <a:r>
              <a:rPr lang="en-US" sz="3600" b="1" dirty="0">
                <a:effectLst/>
              </a:rPr>
              <a:t>The Optical System</a:t>
            </a:r>
            <a:endParaRPr lang="en-US" sz="3600" b="1" dirty="0"/>
          </a:p>
        </p:txBody>
      </p:sp>
      <p:graphicFrame>
        <p:nvGraphicFramePr>
          <p:cNvPr id="5" name="Table 5">
            <a:extLst>
              <a:ext uri="{FF2B5EF4-FFF2-40B4-BE49-F238E27FC236}">
                <a16:creationId xmlns:a16="http://schemas.microsoft.com/office/drawing/2014/main" id="{9C6DF0E8-BB74-4519-89A1-FBA1290ED239}"/>
              </a:ext>
            </a:extLst>
          </p:cNvPr>
          <p:cNvGraphicFramePr>
            <a:graphicFrameLocks noGrp="1"/>
          </p:cNvGraphicFramePr>
          <p:nvPr>
            <p:extLst>
              <p:ext uri="{D42A27DB-BD31-4B8C-83A1-F6EECF244321}">
                <p14:modId xmlns:p14="http://schemas.microsoft.com/office/powerpoint/2010/main" val="1782255325"/>
              </p:ext>
            </p:extLst>
          </p:nvPr>
        </p:nvGraphicFramePr>
        <p:xfrm>
          <a:off x="975360" y="1874520"/>
          <a:ext cx="10241280" cy="4372998"/>
        </p:xfrm>
        <a:graphic>
          <a:graphicData uri="http://schemas.openxmlformats.org/drawingml/2006/table">
            <a:tbl>
              <a:tblPr firstRow="1" bandRow="1">
                <a:tableStyleId>{5C22544A-7EE6-4342-B048-85BDC9FD1C3A}</a:tableStyleId>
              </a:tblPr>
              <a:tblGrid>
                <a:gridCol w="2605926">
                  <a:extLst>
                    <a:ext uri="{9D8B030D-6E8A-4147-A177-3AD203B41FA5}">
                      <a16:colId xmlns:a16="http://schemas.microsoft.com/office/drawing/2014/main" val="2223243945"/>
                    </a:ext>
                  </a:extLst>
                </a:gridCol>
                <a:gridCol w="3474939">
                  <a:extLst>
                    <a:ext uri="{9D8B030D-6E8A-4147-A177-3AD203B41FA5}">
                      <a16:colId xmlns:a16="http://schemas.microsoft.com/office/drawing/2014/main" val="3976198433"/>
                    </a:ext>
                  </a:extLst>
                </a:gridCol>
                <a:gridCol w="4160415">
                  <a:extLst>
                    <a:ext uri="{9D8B030D-6E8A-4147-A177-3AD203B41FA5}">
                      <a16:colId xmlns:a16="http://schemas.microsoft.com/office/drawing/2014/main" val="484885508"/>
                    </a:ext>
                  </a:extLst>
                </a:gridCol>
              </a:tblGrid>
              <a:tr h="376704">
                <a:tc>
                  <a:txBody>
                    <a:bodyPr/>
                    <a:lstStyle/>
                    <a:p>
                      <a:r>
                        <a:rPr lang="en-US" dirty="0"/>
                        <a:t>Challenge</a:t>
                      </a:r>
                    </a:p>
                  </a:txBody>
                  <a:tcPr anchor="ctr"/>
                </a:tc>
                <a:tc>
                  <a:txBody>
                    <a:bodyPr/>
                    <a:lstStyle/>
                    <a:p>
                      <a:r>
                        <a:rPr lang="en-US"/>
                        <a:t>Impact</a:t>
                      </a:r>
                    </a:p>
                  </a:txBody>
                  <a:tcPr anchor="ctr"/>
                </a:tc>
                <a:tc>
                  <a:txBody>
                    <a:bodyPr/>
                    <a:lstStyle/>
                    <a:p>
                      <a:r>
                        <a:rPr lang="en-US"/>
                        <a:t>Solution</a:t>
                      </a:r>
                    </a:p>
                  </a:txBody>
                  <a:tcPr anchor="ctr"/>
                </a:tc>
                <a:extLst>
                  <a:ext uri="{0D108BD9-81ED-4DB2-BD59-A6C34878D82A}">
                    <a16:rowId xmlns:a16="http://schemas.microsoft.com/office/drawing/2014/main" val="1229583348"/>
                  </a:ext>
                </a:extLst>
              </a:tr>
              <a:tr h="650559">
                <a:tc>
                  <a:txBody>
                    <a:bodyPr/>
                    <a:lstStyle/>
                    <a:p>
                      <a:r>
                        <a:rPr lang="en-US"/>
                        <a:t>Light Absorption</a:t>
                      </a:r>
                    </a:p>
                  </a:txBody>
                  <a:tcPr anchor="ctr"/>
                </a:tc>
                <a:tc>
                  <a:txBody>
                    <a:bodyPr/>
                    <a:lstStyle/>
                    <a:p>
                      <a:r>
                        <a:rPr lang="en-US"/>
                        <a:t>Light dies in air or glass.</a:t>
                      </a:r>
                    </a:p>
                  </a:txBody>
                  <a:tcPr anchor="ctr"/>
                </a:tc>
                <a:tc>
                  <a:txBody>
                    <a:bodyPr/>
                    <a:lstStyle/>
                    <a:p>
                      <a:r>
                        <a:rPr lang="en-US"/>
                        <a:t>The entire optical path is a near-total vacuum.</a:t>
                      </a:r>
                    </a:p>
                  </a:txBody>
                  <a:tcPr anchor="ctr"/>
                </a:tc>
                <a:extLst>
                  <a:ext uri="{0D108BD9-81ED-4DB2-BD59-A6C34878D82A}">
                    <a16:rowId xmlns:a16="http://schemas.microsoft.com/office/drawing/2014/main" val="7212693"/>
                  </a:ext>
                </a:extLst>
              </a:tr>
              <a:tr h="929371">
                <a:tc>
                  <a:txBody>
                    <a:bodyPr/>
                    <a:lstStyle/>
                    <a:p>
                      <a:r>
                        <a:rPr lang="en-US"/>
                        <a:t>Thermal Expansion</a:t>
                      </a:r>
                    </a:p>
                  </a:txBody>
                  <a:tcPr anchor="ctr"/>
                </a:tc>
                <a:tc>
                  <a:txBody>
                    <a:bodyPr/>
                    <a:lstStyle/>
                    <a:p>
                      <a:r>
                        <a:rPr lang="en-US"/>
                        <a:t>Heat from absorbed light warps mirrors.</a:t>
                      </a:r>
                    </a:p>
                  </a:txBody>
                  <a:tcPr anchor="ctr"/>
                </a:tc>
                <a:tc>
                  <a:txBody>
                    <a:bodyPr/>
                    <a:lstStyle/>
                    <a:p>
                      <a:r>
                        <a:rPr lang="en-US"/>
                        <a:t>Mirrors are made of Ultra-Low Expansion (ULE) glass and actively cooled.</a:t>
                      </a:r>
                    </a:p>
                  </a:txBody>
                  <a:tcPr anchor="ctr"/>
                </a:tc>
                <a:extLst>
                  <a:ext uri="{0D108BD9-81ED-4DB2-BD59-A6C34878D82A}">
                    <a16:rowId xmlns:a16="http://schemas.microsoft.com/office/drawing/2014/main" val="3282885170"/>
                  </a:ext>
                </a:extLst>
              </a:tr>
              <a:tr h="1208182">
                <a:tc>
                  <a:txBody>
                    <a:bodyPr/>
                    <a:lstStyle/>
                    <a:p>
                      <a:r>
                        <a:rPr lang="en-US"/>
                        <a:t>Surface Roughness</a:t>
                      </a:r>
                    </a:p>
                  </a:txBody>
                  <a:tcPr anchor="ctr"/>
                </a:tc>
                <a:tc>
                  <a:txBody>
                    <a:bodyPr/>
                    <a:lstStyle/>
                    <a:p>
                      <a:r>
                        <a:rPr lang="en-US"/>
                        <a:t>Atomic-scale bumps cause blur.</a:t>
                      </a:r>
                    </a:p>
                  </a:txBody>
                  <a:tcPr anchor="ctr"/>
                </a:tc>
                <a:tc>
                  <a:txBody>
                    <a:bodyPr/>
                    <a:lstStyle/>
                    <a:p>
                      <a:r>
                        <a:rPr lang="en-US" dirty="0"/>
                        <a:t>Mirrors are polished to a precision equivalent to "a bump the size of a marble on a road spanning from New York to San Francisco."</a:t>
                      </a:r>
                    </a:p>
                  </a:txBody>
                  <a:tcPr anchor="ctr"/>
                </a:tc>
                <a:extLst>
                  <a:ext uri="{0D108BD9-81ED-4DB2-BD59-A6C34878D82A}">
                    <a16:rowId xmlns:a16="http://schemas.microsoft.com/office/drawing/2014/main" val="4205839096"/>
                  </a:ext>
                </a:extLst>
              </a:tr>
              <a:tr h="1208182">
                <a:tc>
                  <a:txBody>
                    <a:bodyPr/>
                    <a:lstStyle/>
                    <a:p>
                      <a:r>
                        <a:rPr lang="en-US"/>
                        <a:t>The Pellicle</a:t>
                      </a:r>
                    </a:p>
                  </a:txBody>
                  <a:tcPr anchor="ctr"/>
                </a:tc>
                <a:tc>
                  <a:txBody>
                    <a:bodyPr/>
                    <a:lstStyle/>
                    <a:p>
                      <a:r>
                        <a:rPr lang="en-US"/>
                        <a:t>Dust on the mask ruins the chip.</a:t>
                      </a:r>
                    </a:p>
                  </a:txBody>
                  <a:tcPr anchor="ctr"/>
                </a:tc>
                <a:tc>
                  <a:txBody>
                    <a:bodyPr/>
                    <a:lstStyle/>
                    <a:p>
                      <a:r>
                        <a:rPr lang="en-US" dirty="0"/>
                        <a:t>A specialized, ultra-thin silicon or carbon-nanotube membrane (pellicle) protects the mask while letting EUV pass.</a:t>
                      </a:r>
                    </a:p>
                  </a:txBody>
                  <a:tcPr anchor="ctr"/>
                </a:tc>
                <a:extLst>
                  <a:ext uri="{0D108BD9-81ED-4DB2-BD59-A6C34878D82A}">
                    <a16:rowId xmlns:a16="http://schemas.microsoft.com/office/drawing/2014/main" val="3416436623"/>
                  </a:ext>
                </a:extLst>
              </a:tr>
            </a:tbl>
          </a:graphicData>
        </a:graphic>
      </p:graphicFrame>
    </p:spTree>
    <p:extLst>
      <p:ext uri="{BB962C8B-B14F-4D97-AF65-F5344CB8AC3E}">
        <p14:creationId xmlns:p14="http://schemas.microsoft.com/office/powerpoint/2010/main" val="3078579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81A2F0-EE33-4CBB-99DF-8EFF554DC38F}"/>
              </a:ext>
            </a:extLst>
          </p:cNvPr>
          <p:cNvSpPr/>
          <p:nvPr/>
        </p:nvSpPr>
        <p:spPr>
          <a:xfrm>
            <a:off x="415544" y="533400"/>
            <a:ext cx="4471416" cy="795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t>Reference </a:t>
            </a:r>
          </a:p>
        </p:txBody>
      </p:sp>
      <p:sp>
        <p:nvSpPr>
          <p:cNvPr id="7" name="TextBox 6">
            <a:extLst>
              <a:ext uri="{FF2B5EF4-FFF2-40B4-BE49-F238E27FC236}">
                <a16:creationId xmlns:a16="http://schemas.microsoft.com/office/drawing/2014/main" id="{22D86E39-F1DE-41DD-B815-2F3468E63F6B}"/>
              </a:ext>
            </a:extLst>
          </p:cNvPr>
          <p:cNvSpPr txBox="1"/>
          <p:nvPr/>
        </p:nvSpPr>
        <p:spPr>
          <a:xfrm>
            <a:off x="215900" y="1556663"/>
            <a:ext cx="11760200" cy="4278094"/>
          </a:xfrm>
          <a:prstGeom prst="rect">
            <a:avLst/>
          </a:prstGeom>
          <a:noFill/>
        </p:spPr>
        <p:txBody>
          <a:bodyPr wrap="square">
            <a:spAutoFit/>
          </a:bodyPr>
          <a:lstStyle/>
          <a:p>
            <a:r>
              <a:rPr lang="en-US" sz="1600" dirty="0"/>
              <a:t>[1] ASML, “EUV lithography systems – Products,” ASML. [Online]. Available: </a:t>
            </a:r>
            <a:r>
              <a:rPr lang="en-US" sz="1600" dirty="0">
                <a:hlinkClick r:id="rId2"/>
              </a:rPr>
              <a:t>https://www.asml.com/en/products/euv-lithography-systems</a:t>
            </a:r>
            <a:r>
              <a:rPr lang="en-US" sz="1600" dirty="0"/>
              <a:t>. [Accessed: Feb. 10, 2026]. </a:t>
            </a:r>
            <a:r>
              <a:rPr lang="en-US" sz="1600" dirty="0">
                <a:hlinkClick r:id="rId3"/>
              </a:rPr>
              <a:t>ppl-ai-file-upload.s3.amazonaws</a:t>
            </a:r>
            <a:endParaRPr lang="en-US" sz="1600" dirty="0"/>
          </a:p>
          <a:p>
            <a:r>
              <a:rPr lang="en-US" sz="1600" dirty="0"/>
              <a:t>[2] ASML, “TWINSCAN EXE:5000 – EUV lithography systems,” ASML. [Online]. Available: </a:t>
            </a:r>
            <a:r>
              <a:rPr lang="en-US" sz="1600" dirty="0">
                <a:hlinkClick r:id="rId4"/>
              </a:rPr>
              <a:t>https://www.asml.com/products/euv-lithography-systems/twinscan-exe-5000</a:t>
            </a:r>
            <a:r>
              <a:rPr lang="en-US" sz="1600" dirty="0"/>
              <a:t>. [Accessed: Feb. 10, 2026]. </a:t>
            </a:r>
            <a:r>
              <a:rPr lang="en-US" sz="1600" dirty="0" err="1">
                <a:hlinkClick r:id="rId5"/>
              </a:rPr>
              <a:t>dynotech</a:t>
            </a:r>
            <a:r>
              <a:rPr lang="en-US" sz="1600" dirty="0">
                <a:hlinkClick r:id="rId5"/>
              </a:rPr>
              <a:t>-solutions</a:t>
            </a:r>
            <a:endParaRPr lang="en-US" sz="1600" dirty="0"/>
          </a:p>
          <a:p>
            <a:r>
              <a:rPr lang="en-US" sz="1600" dirty="0"/>
              <a:t>[3] ASML, “TWINSCAN NXE:3400C – EUV lithography,” ASML. [Online]. Available: </a:t>
            </a:r>
            <a:r>
              <a:rPr lang="en-US" sz="1600" dirty="0">
                <a:hlinkClick r:id="rId6"/>
              </a:rPr>
              <a:t>https://www.asml.com/products/euv-lithography-systems/twinscan-nxe3400c</a:t>
            </a:r>
            <a:r>
              <a:rPr lang="en-US" sz="1600" dirty="0"/>
              <a:t>. [Accessed: Feb. 10, 2026]. </a:t>
            </a:r>
            <a:r>
              <a:rPr lang="en-US" sz="1600" dirty="0" err="1">
                <a:hlinkClick r:id="rId7"/>
              </a:rPr>
              <a:t>en.wikipedia</a:t>
            </a:r>
            <a:endParaRPr lang="en-US" sz="1600" dirty="0"/>
          </a:p>
          <a:p>
            <a:r>
              <a:rPr lang="en-US" sz="1600" dirty="0"/>
              <a:t>[4] World of Photonics, “EUV lithography—how does it work?,” World of Photonics. [Online]. Available: </a:t>
            </a:r>
            <a:r>
              <a:rPr lang="en-US" sz="1600" dirty="0">
                <a:hlinkClick r:id="rId8"/>
              </a:rPr>
              <a:t>https://world-of-photonics.com/en/photonics-industry-portal/detail/euv-lithography.html</a:t>
            </a:r>
            <a:r>
              <a:rPr lang="en-US" sz="1600" dirty="0"/>
              <a:t>. [Accessed: Feb. 10, 2026]. </a:t>
            </a:r>
            <a:r>
              <a:rPr lang="en-US" sz="1600" dirty="0" err="1">
                <a:hlinkClick r:id="rId9"/>
              </a:rPr>
              <a:t>youtube</a:t>
            </a:r>
            <a:endParaRPr lang="en-US" sz="1600" dirty="0"/>
          </a:p>
          <a:p>
            <a:r>
              <a:rPr lang="en-US" sz="1600" dirty="0"/>
              <a:t>[5] </a:t>
            </a:r>
            <a:r>
              <a:rPr lang="en-US" sz="1600" dirty="0" err="1"/>
              <a:t>imec</a:t>
            </a:r>
            <a:r>
              <a:rPr lang="en-US" sz="1600" dirty="0"/>
              <a:t>, “High-NA EUV lithography: the next major step in lithography,” </a:t>
            </a:r>
            <a:r>
              <a:rPr lang="en-US" sz="1600" dirty="0" err="1"/>
              <a:t>imec</a:t>
            </a:r>
            <a:r>
              <a:rPr lang="en-US" sz="1600" dirty="0"/>
              <a:t>. [Online]. Available: </a:t>
            </a:r>
            <a:r>
              <a:rPr lang="en-US" sz="1600" dirty="0">
                <a:hlinkClick r:id="rId10"/>
              </a:rPr>
              <a:t>https://www.imec-int.com/en/articles/high-na-euvl-next-major-step-lithography</a:t>
            </a:r>
            <a:r>
              <a:rPr lang="en-US" sz="1600" dirty="0"/>
              <a:t>. [Accessed: Feb. 10, 2026]. </a:t>
            </a:r>
            <a:r>
              <a:rPr lang="en-US" sz="1600" dirty="0" err="1">
                <a:hlinkClick r:id="rId11"/>
              </a:rPr>
              <a:t>stellarix</a:t>
            </a:r>
            <a:endParaRPr lang="en-US" sz="1600" dirty="0"/>
          </a:p>
          <a:p>
            <a:r>
              <a:rPr lang="en-US" sz="1600" dirty="0"/>
              <a:t>[6] </a:t>
            </a:r>
            <a:r>
              <a:rPr lang="en-US" sz="1600" dirty="0" err="1"/>
              <a:t>imec</a:t>
            </a:r>
            <a:r>
              <a:rPr lang="en-US" sz="1600" dirty="0"/>
              <a:t>, “Entering the High NA EUV Lithography era,” </a:t>
            </a:r>
            <a:r>
              <a:rPr lang="en-US" sz="1600" dirty="0" err="1"/>
              <a:t>imec</a:t>
            </a:r>
            <a:r>
              <a:rPr lang="en-US" sz="1600" dirty="0"/>
              <a:t>. [Online]. Available: </a:t>
            </a:r>
            <a:r>
              <a:rPr lang="en-US" sz="1600" dirty="0">
                <a:hlinkClick r:id="rId12"/>
              </a:rPr>
              <a:t>https://www.imec-int.com/en/articles/entering-high-na-euv-lithography-era</a:t>
            </a:r>
            <a:r>
              <a:rPr lang="en-US" sz="1600" dirty="0"/>
              <a:t>. [Accessed: Feb. 10, 2026]. </a:t>
            </a:r>
            <a:r>
              <a:rPr lang="en-US" sz="1600" dirty="0" err="1">
                <a:hlinkClick r:id="rId13"/>
              </a:rPr>
              <a:t>linkedin</a:t>
            </a:r>
            <a:endParaRPr lang="en-US" sz="1600" dirty="0"/>
          </a:p>
          <a:p>
            <a:r>
              <a:rPr lang="en-US" sz="1600" dirty="0"/>
              <a:t>[7] Wikipedia, “Extreme ultraviolet lithography,” Wikipedia. [Online]. Available: </a:t>
            </a:r>
            <a:r>
              <a:rPr lang="en-US" sz="1600" dirty="0">
                <a:hlinkClick r:id="rId14"/>
              </a:rPr>
              <a:t>https://en.wikipedia.org/wiki/Extreme_ultraviolet_lithography</a:t>
            </a:r>
            <a:r>
              <a:rPr lang="en-US" sz="1600" dirty="0"/>
              <a:t>. [Accessed: Feb. 10, 2026]. </a:t>
            </a:r>
            <a:r>
              <a:rPr lang="en-US" sz="1600" dirty="0" err="1">
                <a:hlinkClick r:id="rId15"/>
              </a:rPr>
              <a:t>asml</a:t>
            </a:r>
            <a:endParaRPr lang="en-US" sz="1600" dirty="0"/>
          </a:p>
          <a:p>
            <a:r>
              <a:rPr lang="en-US" sz="1600" dirty="0"/>
              <a:t>[8] </a:t>
            </a:r>
            <a:r>
              <a:rPr lang="en-US" sz="1600" dirty="0" err="1"/>
              <a:t>Dynotech</a:t>
            </a:r>
            <a:r>
              <a:rPr lang="en-US" sz="1600" dirty="0"/>
              <a:t> Solutions, “Innovations in Semiconductor Lithography Machines and Equipment,” </a:t>
            </a:r>
            <a:r>
              <a:rPr lang="en-US" sz="1600" dirty="0" err="1"/>
              <a:t>Dynotech</a:t>
            </a:r>
            <a:r>
              <a:rPr lang="en-US" sz="1600" dirty="0"/>
              <a:t> Solutions, Sep. 30, 2024. [Online]. Available: </a:t>
            </a:r>
            <a:r>
              <a:rPr lang="en-US" sz="1600" dirty="0">
                <a:hlinkClick r:id="rId5"/>
              </a:rPr>
              <a:t>https://dynotech-solutions.com/blogs/innovations-in-semiconductor-lithography-machines-and-equipment/</a:t>
            </a:r>
            <a:r>
              <a:rPr lang="en-US" sz="1600" dirty="0"/>
              <a:t>. [Accessed: Feb. 10, 2026]. </a:t>
            </a:r>
            <a:r>
              <a:rPr lang="en-US" sz="1600" dirty="0" err="1">
                <a:hlinkClick r:id="rId16"/>
              </a:rPr>
              <a:t>oist</a:t>
            </a:r>
            <a:endParaRPr lang="en-US" sz="1600" dirty="0"/>
          </a:p>
        </p:txBody>
      </p:sp>
    </p:spTree>
    <p:extLst>
      <p:ext uri="{BB962C8B-B14F-4D97-AF65-F5344CB8AC3E}">
        <p14:creationId xmlns:p14="http://schemas.microsoft.com/office/powerpoint/2010/main" val="4249445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32FFFC-193F-4F2A-9EC0-D1BB8091AB53}"/>
              </a:ext>
            </a:extLst>
          </p:cNvPr>
          <p:cNvSpPr txBox="1"/>
          <p:nvPr/>
        </p:nvSpPr>
        <p:spPr>
          <a:xfrm>
            <a:off x="2082800" y="2519680"/>
            <a:ext cx="8178800" cy="1569660"/>
          </a:xfrm>
          <a:prstGeom prst="rect">
            <a:avLst/>
          </a:prstGeom>
          <a:noFill/>
        </p:spPr>
        <p:txBody>
          <a:bodyPr wrap="square" rtlCol="0">
            <a:spAutoFit/>
          </a:bodyPr>
          <a:lstStyle/>
          <a:p>
            <a:r>
              <a:rPr lang="en-US" sz="9600" b="1" dirty="0">
                <a:solidFill>
                  <a:schemeClr val="bg1"/>
                </a:solidFill>
                <a:latin typeface="Arial Black" panose="020B0A04020102020204" pitchFamily="34" charset="0"/>
              </a:rPr>
              <a:t>Thank You!</a:t>
            </a:r>
          </a:p>
        </p:txBody>
      </p:sp>
    </p:spTree>
    <p:extLst>
      <p:ext uri="{BB962C8B-B14F-4D97-AF65-F5344CB8AC3E}">
        <p14:creationId xmlns:p14="http://schemas.microsoft.com/office/powerpoint/2010/main" val="3160328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77b9d80-1836-41e1-bf0c-b29a7ccbd2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2D652952D9C6846A5977B8F3F4A893E" ma:contentTypeVersion="10" ma:contentTypeDescription="Create a new document." ma:contentTypeScope="" ma:versionID="6255e28231222f0c0acd7b465adb408e">
  <xsd:schema xmlns:xsd="http://www.w3.org/2001/XMLSchema" xmlns:xs="http://www.w3.org/2001/XMLSchema" xmlns:p="http://schemas.microsoft.com/office/2006/metadata/properties" xmlns:ns3="077b9d80-1836-41e1-bf0c-b29a7ccbd2f1" targetNamespace="http://schemas.microsoft.com/office/2006/metadata/properties" ma:root="true" ma:fieldsID="96a7d5019f690ca4dc4b816ba777d6f6" ns3:_="">
    <xsd:import namespace="077b9d80-1836-41e1-bf0c-b29a7ccbd2f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7b9d80-1836-41e1-bf0c-b29a7ccbd2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723D08-22F9-4D1F-B16C-11B925B73474}">
  <ds:schemaRefs>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www.w3.org/XML/1998/namespace"/>
    <ds:schemaRef ds:uri="http://purl.org/dc/terms/"/>
    <ds:schemaRef ds:uri="http://schemas.microsoft.com/office/infopath/2007/PartnerControls"/>
    <ds:schemaRef ds:uri="077b9d80-1836-41e1-bf0c-b29a7ccbd2f1"/>
    <ds:schemaRef ds:uri="http://purl.org/dc/dcmitype/"/>
  </ds:schemaRefs>
</ds:datastoreItem>
</file>

<file path=customXml/itemProps2.xml><?xml version="1.0" encoding="utf-8"?>
<ds:datastoreItem xmlns:ds="http://schemas.openxmlformats.org/officeDocument/2006/customXml" ds:itemID="{074C57F6-E9A9-49A9-AD55-E75B6FD59016}">
  <ds:schemaRefs>
    <ds:schemaRef ds:uri="http://schemas.microsoft.com/sharepoint/v3/contenttype/forms"/>
  </ds:schemaRefs>
</ds:datastoreItem>
</file>

<file path=customXml/itemProps3.xml><?xml version="1.0" encoding="utf-8"?>
<ds:datastoreItem xmlns:ds="http://schemas.openxmlformats.org/officeDocument/2006/customXml" ds:itemID="{B6BD2D7B-B014-4BCF-9C1A-60BE2E576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7b9d80-1836-41e1-bf0c-b29a7ccbd2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850</TotalTime>
  <Words>1878</Words>
  <Application>Microsoft Office PowerPoint</Application>
  <PresentationFormat>Widescreen</PresentationFormat>
  <Paragraphs>172</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Calibri</vt:lpstr>
      <vt:lpstr>Calibri Light</vt:lpstr>
      <vt:lpstr>Dutch801 XBd BT</vt:lpstr>
      <vt:lpstr>Google Sans</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Niaz Morshed Razon</dc:creator>
  <cp:lastModifiedBy>Md. Niaz Morshed Razon</cp:lastModifiedBy>
  <cp:revision>6</cp:revision>
  <dcterms:created xsi:type="dcterms:W3CDTF">2026-02-08T18:17:28Z</dcterms:created>
  <dcterms:modified xsi:type="dcterms:W3CDTF">2026-02-09T18:11:43Z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0x010100F2D652952D9C6846A5977B8F3F4A893E</vt:lpwstr>
  </property>
</Properties>
</file>