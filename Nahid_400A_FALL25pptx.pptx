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4"/>
  </p:notesMasterIdLst>
  <p:sldIdLst>
    <p:sldId id="257" r:id="rId5"/>
    <p:sldId id="272" r:id="rId6"/>
    <p:sldId id="278" r:id="rId7"/>
    <p:sldId id="276" r:id="rId8"/>
    <p:sldId id="263" r:id="rId9"/>
    <p:sldId id="268" r:id="rId10"/>
    <p:sldId id="270" r:id="rId11"/>
    <p:sldId id="279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D9F"/>
    <a:srgbClr val="C13018"/>
    <a:srgbClr val="E71D30"/>
    <a:srgbClr val="FF8571"/>
    <a:srgbClr val="E22000"/>
    <a:srgbClr val="FF4829"/>
    <a:srgbClr val="F33939"/>
    <a:srgbClr val="FF6147"/>
    <a:srgbClr val="ED5565"/>
    <a:srgbClr val="F5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9D2F5-E5C3-4829-A55E-F2FD0A283F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F25EF-E987-4D2C-BCB4-55F91DC28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0D58-180A-4322-ACD4-0C9938500B18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6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EC65-ABC2-4846-B6F4-94E71247A421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8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1A05C-629A-40E5-86F8-B53227A5083F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8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DDCF-75F7-4D5D-A9BA-DDA593D00253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7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269E6-F143-4C92-A8FC-3CA65F13BA98}" type="datetime1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19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E1C-D8C4-4621-A689-45BBF2651D52}" type="datetime1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0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B370-D2B7-49B3-B75F-050BCC5B5129}" type="datetime1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8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33C9-E737-463B-81B6-873EB216FB9B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8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8479-53C6-4898-9812-616C39FEADAE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7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E4292-777D-4A74-A79A-95C4EC9716F5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8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3B11-24C3-48DA-A985-D35776A2F35D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9E4B8-C55B-4730-85C9-188F6D81CBD3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AF4E1-0057-463D-9EDD-82F9F54C7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42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4ACADF-6302-C459-981A-C0B6D28483D9}"/>
              </a:ext>
            </a:extLst>
          </p:cNvPr>
          <p:cNvSpPr txBox="1"/>
          <p:nvPr/>
        </p:nvSpPr>
        <p:spPr>
          <a:xfrm>
            <a:off x="2407977" y="3593270"/>
            <a:ext cx="7376045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by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1.Md. Nahid  Hasan                       2022-1-80-037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Niaz Morshed Razon                  2022-2-80-008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Faisal 	Hasan                               2022-2-80-007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Md.Mainuddin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Rhaman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Eshan  2022-2-80-022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DB20B-5FC5-B753-DA66-AC3ECFE96F19}"/>
              </a:ext>
            </a:extLst>
          </p:cNvPr>
          <p:cNvSpPr txBox="1"/>
          <p:nvPr/>
        </p:nvSpPr>
        <p:spPr>
          <a:xfrm>
            <a:off x="2810541" y="219779"/>
            <a:ext cx="7974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EEE 400 A – Capstone Project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23890-C66E-1657-77A6-D9A447B78EE1}"/>
              </a:ext>
            </a:extLst>
          </p:cNvPr>
          <p:cNvSpPr txBox="1"/>
          <p:nvPr/>
        </p:nvSpPr>
        <p:spPr>
          <a:xfrm>
            <a:off x="3257729" y="1113559"/>
            <a:ext cx="5989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Dr. </a:t>
            </a:r>
            <a:r>
              <a:rPr lang="en-US" sz="36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Ratil</a:t>
            </a: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Hasnat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6937F-61CE-8406-2615-FA8F95485248}"/>
              </a:ext>
            </a:extLst>
          </p:cNvPr>
          <p:cNvSpPr txBox="1"/>
          <p:nvPr/>
        </p:nvSpPr>
        <p:spPr>
          <a:xfrm>
            <a:off x="1273711" y="2631902"/>
            <a:ext cx="10318214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PLASTIC WASTE COLLECTOR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4ABC9-B4F0-4249-BA2F-AF9B91A72736}"/>
              </a:ext>
            </a:extLst>
          </p:cNvPr>
          <p:cNvSpPr txBox="1"/>
          <p:nvPr/>
        </p:nvSpPr>
        <p:spPr>
          <a:xfrm>
            <a:off x="3008240" y="6171684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18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October, 2025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791FEE5-1397-41D5-8174-D3137A9E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Robot outline">
            <a:extLst>
              <a:ext uri="{FF2B5EF4-FFF2-40B4-BE49-F238E27FC236}">
                <a16:creationId xmlns:a16="http://schemas.microsoft.com/office/drawing/2014/main" id="{542A6D58-5D20-B9FE-EA9B-5F1311AEB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311" y="24142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4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25B335-2ACD-4182-BDB0-753F6239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08294"/>
            <a:ext cx="12192001" cy="795356"/>
          </a:xfr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/>
              <a:t>SOCIETAL RELEVANCE: Addressing the problem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0D9E9-12F8-4E8E-8D6D-F86B1761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246AF4E1-0057-463D-9EDD-82F9F54C76E8}" type="slidenum">
              <a:rPr lang="en-US" sz="1800" b="1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712CB3-7376-D04C-FE20-1BE984EA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9" y="4675831"/>
            <a:ext cx="10982131" cy="1680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499F3-944A-ED02-851C-F69AB14060F4}"/>
              </a:ext>
            </a:extLst>
          </p:cNvPr>
          <p:cNvSpPr txBox="1"/>
          <p:nvPr/>
        </p:nvSpPr>
        <p:spPr>
          <a:xfrm>
            <a:off x="8123551" y="9629508"/>
            <a:ext cx="4040425" cy="29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11"/>
          <a:stretch/>
        </p:blipFill>
        <p:spPr>
          <a:xfrm>
            <a:off x="587607" y="1288267"/>
            <a:ext cx="10766193" cy="47875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143763" y="6453562"/>
            <a:ext cx="1734670" cy="336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2EED1-4482-6572-118D-289617609C6F}"/>
              </a:ext>
            </a:extLst>
          </p:cNvPr>
          <p:cNvSpPr txBox="1"/>
          <p:nvPr/>
        </p:nvSpPr>
        <p:spPr>
          <a:xfrm>
            <a:off x="11353800" y="6385300"/>
            <a:ext cx="752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246AF4E1-0057-463D-9EDD-82F9F54C76E8}" type="slidenum">
              <a:rPr lang="en-US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215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7987-8BB6-2173-9C9C-045EF65C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074A7D-949D-4BF6-3C3A-C78393FA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07"/>
            <a:ext cx="12191999" cy="631600"/>
          </a:xfr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Societal Relevance and Motivation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2BE33E-0B18-B0C4-8303-0C424C13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4E1-0057-463D-9EDD-82F9F54C76E8}" type="slidenum">
              <a:rPr lang="en-US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diagram of a circular diagram with arrows&#10;&#10;Description automatically generated">
            <a:extLst>
              <a:ext uri="{FF2B5EF4-FFF2-40B4-BE49-F238E27FC236}">
                <a16:creationId xmlns:a16="http://schemas.microsoft.com/office/drawing/2014/main" id="{C245482A-0C22-2460-C396-C45ACB298E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5" y="806746"/>
            <a:ext cx="9401175" cy="56893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216796-95ED-6E6F-8F12-2BED36F5C134}"/>
              </a:ext>
            </a:extLst>
          </p:cNvPr>
          <p:cNvSpPr/>
          <p:nvPr/>
        </p:nvSpPr>
        <p:spPr>
          <a:xfrm>
            <a:off x="9296400" y="6019800"/>
            <a:ext cx="1371600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73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E897EF-005C-4452-6833-591DC7FA6F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83" r="23371" b="274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7582F9-9CB9-1342-3E54-19C55CE7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926771"/>
            <a:ext cx="3244933" cy="13362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Stakeholders of Our Project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7357B8-2BEB-CDD2-B0AD-374621F4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46AF4E1-0057-463D-9EDD-82F9F54C76E8}" type="slidenum">
              <a:rPr lang="en-US" b="1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b="1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screenshot of a diagram&#10;&#10;Description automatically generated">
            <a:extLst>
              <a:ext uri="{FF2B5EF4-FFF2-40B4-BE49-F238E27FC236}">
                <a16:creationId xmlns:a16="http://schemas.microsoft.com/office/drawing/2014/main" id="{E7CE098E-C237-DE65-6452-AA37FA80B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11" b="5573"/>
          <a:stretch/>
        </p:blipFill>
        <p:spPr>
          <a:xfrm>
            <a:off x="3086101" y="0"/>
            <a:ext cx="8792158" cy="63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41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0A831-3F90-4D05-A0CF-EDD38841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246AF4E1-0057-463D-9EDD-82F9F54C76E8}" type="slidenum">
              <a:rPr lang="en-US" sz="1800" b="1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2" name="Picture 1" descr="A screen shot of a computer&#10;&#10;Description automatically generated">
            <a:extLst>
              <a:ext uri="{FF2B5EF4-FFF2-40B4-BE49-F238E27FC236}">
                <a16:creationId xmlns:a16="http://schemas.microsoft.com/office/drawing/2014/main" id="{489C1C0C-B050-BF08-4986-14BD3E617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1" b="4027"/>
          <a:stretch/>
        </p:blipFill>
        <p:spPr>
          <a:xfrm>
            <a:off x="1759277" y="1500493"/>
            <a:ext cx="10432723" cy="52209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14487E-8DC8-F4FE-768B-88FDE3AFBC74}"/>
              </a:ext>
            </a:extLst>
          </p:cNvPr>
          <p:cNvSpPr/>
          <p:nvPr/>
        </p:nvSpPr>
        <p:spPr>
          <a:xfrm>
            <a:off x="7306654" y="1264778"/>
            <a:ext cx="94004" cy="51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7EAE5-1B92-26CE-4F3F-9A41D79DBD05}"/>
              </a:ext>
            </a:extLst>
          </p:cNvPr>
          <p:cNvSpPr/>
          <p:nvPr/>
        </p:nvSpPr>
        <p:spPr>
          <a:xfrm>
            <a:off x="0" y="671835"/>
            <a:ext cx="12192000" cy="696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Block Diagram 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44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C0AD55B-1331-641C-BD68-E79CFB8F07BC}"/>
              </a:ext>
            </a:extLst>
          </p:cNvPr>
          <p:cNvSpPr txBox="1"/>
          <p:nvPr/>
        </p:nvSpPr>
        <p:spPr>
          <a:xfrm>
            <a:off x="0" y="437766"/>
            <a:ext cx="1219200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Complex Engineering Problems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3AFFE-9CBE-4908-A9CF-D5B855B21A22}"/>
              </a:ext>
            </a:extLst>
          </p:cNvPr>
          <p:cNvSpPr txBox="1"/>
          <p:nvPr/>
        </p:nvSpPr>
        <p:spPr>
          <a:xfrm>
            <a:off x="643442" y="2312462"/>
            <a:ext cx="5694768" cy="340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fundamentals knowledge (K3)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</a:p>
          <a:p>
            <a:pPr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a) Knowledge of Electrical Circuits </a:t>
            </a:r>
          </a:p>
          <a:p>
            <a:pPr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b) Knowledge of  Signals and Linear Systems            	   c) Knowledge of IoT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specialist knowledge (K4)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</a:p>
          <a:p>
            <a:pPr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a) Knowledge of Machine Learning </a:t>
            </a:r>
          </a:p>
          <a:p>
            <a:pPr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b) Knowledge of  Digital Signal Processing </a:t>
            </a:r>
          </a:p>
          <a:p>
            <a:pPr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c) Knowledge of  Embedded Systems </a:t>
            </a:r>
            <a:endParaRPr lang="en-US" u="sng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BFA7C-C04D-40A9-A5DA-6C8A4E96A704}"/>
              </a:ext>
            </a:extLst>
          </p:cNvPr>
          <p:cNvSpPr txBox="1"/>
          <p:nvPr/>
        </p:nvSpPr>
        <p:spPr>
          <a:xfrm>
            <a:off x="6619788" y="2312462"/>
            <a:ext cx="5572212" cy="285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design knowledge (K5)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Knowledge of Control System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Knowledge of modern engineering tools (K6)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: Microcontroller, Sensors, Proteus,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Matlab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knowledge (K8)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6245B-CBCA-4B51-ADD8-2CE630A6B2D5}"/>
              </a:ext>
            </a:extLst>
          </p:cNvPr>
          <p:cNvSpPr txBox="1"/>
          <p:nvPr/>
        </p:nvSpPr>
        <p:spPr>
          <a:xfrm>
            <a:off x="1085674" y="1307950"/>
            <a:ext cx="4637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P1:Depth of knowledge required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EF6B9D-65A7-49A4-AA7B-E7AF8511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475" y="6237671"/>
            <a:ext cx="2743200" cy="365125"/>
          </a:xfrm>
        </p:spPr>
        <p:txBody>
          <a:bodyPr/>
          <a:lstStyle/>
          <a:p>
            <a:fld id="{246AF4E1-0057-463D-9EDD-82F9F54C76E8}" type="slidenum">
              <a:rPr lang="en-US" sz="1800" b="1" smtClean="0">
                <a:solidFill>
                  <a:schemeClr val="tx1"/>
                </a:solidFill>
              </a:rPr>
              <a:t>6</a:t>
            </a:fld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64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1EB0D6F-A052-CFD5-8BDD-63E588FC5A06}"/>
              </a:ext>
            </a:extLst>
          </p:cNvPr>
          <p:cNvSpPr txBox="1"/>
          <p:nvPr/>
        </p:nvSpPr>
        <p:spPr>
          <a:xfrm>
            <a:off x="4687836" y="2811831"/>
            <a:ext cx="3600563" cy="3415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P6: Extent of stakeholder involvement and conflicting requirements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1.BSTI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2.Ministry of environment (forest and climate change 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3.City corporation and municipalities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000" b="1" u="sng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AutoNum type="arabicPeriod"/>
            </a:pPr>
            <a:endParaRPr lang="en-US" sz="2000" b="1" u="sng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46526-B28C-57C0-0642-08C2ABDC4BA5}"/>
              </a:ext>
            </a:extLst>
          </p:cNvPr>
          <p:cNvSpPr txBox="1"/>
          <p:nvPr/>
        </p:nvSpPr>
        <p:spPr>
          <a:xfrm>
            <a:off x="8975716" y="2824238"/>
            <a:ext cx="2986916" cy="16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P7. Interdependence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Microcontroller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Controls System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3.IoT System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D92F4-E148-429A-A893-2E383DBD86B0}"/>
              </a:ext>
            </a:extLst>
          </p:cNvPr>
          <p:cNvSpPr txBox="1"/>
          <p:nvPr/>
        </p:nvSpPr>
        <p:spPr>
          <a:xfrm>
            <a:off x="391892" y="2811831"/>
            <a:ext cx="3593508" cy="2899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P3: Depth of analysis required</a:t>
            </a:r>
          </a:p>
          <a:p>
            <a:endParaRPr lang="en-US" b="1" u="sng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 management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Microcontroller-based monitoring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robot movement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Real time object detection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68CBCA-1952-406B-BA2B-614B5FEF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4203"/>
            <a:ext cx="12191999" cy="610304"/>
          </a:xfr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Complex Engineering Problems</a:t>
            </a:r>
            <a:b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D465DD-F63A-43B5-A7FE-7EF7CCA8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35" y="6431677"/>
            <a:ext cx="2743200" cy="365125"/>
          </a:xfrm>
        </p:spPr>
        <p:txBody>
          <a:bodyPr/>
          <a:lstStyle/>
          <a:p>
            <a:fld id="{246AF4E1-0057-463D-9EDD-82F9F54C76E8}" type="slidenum">
              <a:rPr lang="en-US" sz="1800" smtClean="0">
                <a:solidFill>
                  <a:schemeClr val="tx1"/>
                </a:solidFill>
              </a:rPr>
              <a:t>7</a:t>
            </a:fld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28" name="Picture 4" descr="Data analysis symbol Royalty Free Vector Image">
            <a:extLst>
              <a:ext uri="{FF2B5EF4-FFF2-40B4-BE49-F238E27FC236}">
                <a16:creationId xmlns:a16="http://schemas.microsoft.com/office/drawing/2014/main" id="{9FDBE3F0-5C36-3AE7-8DDE-6811CFE93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0" b="8676"/>
          <a:stretch/>
        </p:blipFill>
        <p:spPr bwMode="auto">
          <a:xfrm>
            <a:off x="1462253" y="1248064"/>
            <a:ext cx="1452786" cy="145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1597C6EF-F1AF-F649-2FDB-D72F9B04BC17}"/>
              </a:ext>
            </a:extLst>
          </p:cNvPr>
          <p:cNvSpPr/>
          <p:nvPr/>
        </p:nvSpPr>
        <p:spPr>
          <a:xfrm>
            <a:off x="290557" y="1179320"/>
            <a:ext cx="3796179" cy="5252357"/>
          </a:xfrm>
          <a:prstGeom prst="flowChartAlternateProcess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AAD54E4C-DC64-DE25-1DED-6EE319B344FA}"/>
              </a:ext>
            </a:extLst>
          </p:cNvPr>
          <p:cNvSpPr/>
          <p:nvPr/>
        </p:nvSpPr>
        <p:spPr>
          <a:xfrm>
            <a:off x="4590029" y="1179320"/>
            <a:ext cx="3796179" cy="5252357"/>
          </a:xfrm>
          <a:custGeom>
            <a:avLst/>
            <a:gdLst>
              <a:gd name="connsiteX0" fmla="*/ 0 w 3796179"/>
              <a:gd name="connsiteY0" fmla="*/ 632697 h 5252357"/>
              <a:gd name="connsiteX1" fmla="*/ 632697 w 3796179"/>
              <a:gd name="connsiteY1" fmla="*/ 0 h 5252357"/>
              <a:gd name="connsiteX2" fmla="*/ 1214778 w 3796179"/>
              <a:gd name="connsiteY2" fmla="*/ 0 h 5252357"/>
              <a:gd name="connsiteX3" fmla="*/ 1872782 w 3796179"/>
              <a:gd name="connsiteY3" fmla="*/ 0 h 5252357"/>
              <a:gd name="connsiteX4" fmla="*/ 2454863 w 3796179"/>
              <a:gd name="connsiteY4" fmla="*/ 0 h 5252357"/>
              <a:gd name="connsiteX5" fmla="*/ 3163483 w 3796179"/>
              <a:gd name="connsiteY5" fmla="*/ 0 h 5252357"/>
              <a:gd name="connsiteX6" fmla="*/ 3796180 w 3796179"/>
              <a:gd name="connsiteY6" fmla="*/ 632697 h 5252357"/>
              <a:gd name="connsiteX7" fmla="*/ 3796179 w 3796179"/>
              <a:gd name="connsiteY7" fmla="*/ 4619661 h 5252357"/>
              <a:gd name="connsiteX8" fmla="*/ 3163482 w 3796179"/>
              <a:gd name="connsiteY8" fmla="*/ 5252358 h 5252357"/>
              <a:gd name="connsiteX9" fmla="*/ 2581401 w 3796179"/>
              <a:gd name="connsiteY9" fmla="*/ 5252358 h 5252357"/>
              <a:gd name="connsiteX10" fmla="*/ 1898090 w 3796179"/>
              <a:gd name="connsiteY10" fmla="*/ 5252358 h 5252357"/>
              <a:gd name="connsiteX11" fmla="*/ 1290701 w 3796179"/>
              <a:gd name="connsiteY11" fmla="*/ 5252357 h 5252357"/>
              <a:gd name="connsiteX12" fmla="*/ 632697 w 3796179"/>
              <a:gd name="connsiteY12" fmla="*/ 5252357 h 5252357"/>
              <a:gd name="connsiteX13" fmla="*/ 0 w 3796179"/>
              <a:gd name="connsiteY13" fmla="*/ 4619660 h 5252357"/>
              <a:gd name="connsiteX14" fmla="*/ 0 w 3796179"/>
              <a:gd name="connsiteY14" fmla="*/ 4074775 h 5252357"/>
              <a:gd name="connsiteX15" fmla="*/ 0 w 3796179"/>
              <a:gd name="connsiteY15" fmla="*/ 3490020 h 5252357"/>
              <a:gd name="connsiteX16" fmla="*/ 0 w 3796179"/>
              <a:gd name="connsiteY16" fmla="*/ 2745787 h 5252357"/>
              <a:gd name="connsiteX17" fmla="*/ 0 w 3796179"/>
              <a:gd name="connsiteY17" fmla="*/ 2161033 h 5252357"/>
              <a:gd name="connsiteX18" fmla="*/ 0 w 3796179"/>
              <a:gd name="connsiteY18" fmla="*/ 1536409 h 5252357"/>
              <a:gd name="connsiteX19" fmla="*/ 0 w 3796179"/>
              <a:gd name="connsiteY19" fmla="*/ 632697 h 525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96179" h="5252357" extrusionOk="0">
                <a:moveTo>
                  <a:pt x="0" y="632697"/>
                </a:moveTo>
                <a:cubicBezTo>
                  <a:pt x="17499" y="260249"/>
                  <a:pt x="215239" y="-36403"/>
                  <a:pt x="632697" y="0"/>
                </a:cubicBezTo>
                <a:cubicBezTo>
                  <a:pt x="818130" y="-20830"/>
                  <a:pt x="1047636" y="-11754"/>
                  <a:pt x="1214778" y="0"/>
                </a:cubicBezTo>
                <a:cubicBezTo>
                  <a:pt x="1381920" y="11754"/>
                  <a:pt x="1718846" y="23859"/>
                  <a:pt x="1872782" y="0"/>
                </a:cubicBezTo>
                <a:cubicBezTo>
                  <a:pt x="2026718" y="-23859"/>
                  <a:pt x="2265448" y="-10927"/>
                  <a:pt x="2454863" y="0"/>
                </a:cubicBezTo>
                <a:cubicBezTo>
                  <a:pt x="2644278" y="10927"/>
                  <a:pt x="2907895" y="-24270"/>
                  <a:pt x="3163483" y="0"/>
                </a:cubicBezTo>
                <a:cubicBezTo>
                  <a:pt x="3522319" y="4971"/>
                  <a:pt x="3837270" y="253194"/>
                  <a:pt x="3796180" y="632697"/>
                </a:cubicBezTo>
                <a:cubicBezTo>
                  <a:pt x="3759223" y="2147431"/>
                  <a:pt x="3693742" y="3385029"/>
                  <a:pt x="3796179" y="4619661"/>
                </a:cubicBezTo>
                <a:cubicBezTo>
                  <a:pt x="3781330" y="4899261"/>
                  <a:pt x="3483363" y="5275975"/>
                  <a:pt x="3163482" y="5252358"/>
                </a:cubicBezTo>
                <a:cubicBezTo>
                  <a:pt x="2889009" y="5238858"/>
                  <a:pt x="2796529" y="5268535"/>
                  <a:pt x="2581401" y="5252358"/>
                </a:cubicBezTo>
                <a:cubicBezTo>
                  <a:pt x="2366273" y="5236181"/>
                  <a:pt x="2139443" y="5286097"/>
                  <a:pt x="1898090" y="5252358"/>
                </a:cubicBezTo>
                <a:cubicBezTo>
                  <a:pt x="1656737" y="5218619"/>
                  <a:pt x="1517569" y="5227760"/>
                  <a:pt x="1290701" y="5252357"/>
                </a:cubicBezTo>
                <a:cubicBezTo>
                  <a:pt x="1063833" y="5276955"/>
                  <a:pt x="905339" y="5265734"/>
                  <a:pt x="632697" y="5252357"/>
                </a:cubicBezTo>
                <a:cubicBezTo>
                  <a:pt x="220059" y="5220014"/>
                  <a:pt x="-9158" y="4966076"/>
                  <a:pt x="0" y="4619660"/>
                </a:cubicBezTo>
                <a:cubicBezTo>
                  <a:pt x="22432" y="4470928"/>
                  <a:pt x="-4584" y="4248357"/>
                  <a:pt x="0" y="4074775"/>
                </a:cubicBezTo>
                <a:cubicBezTo>
                  <a:pt x="4584" y="3901194"/>
                  <a:pt x="-28933" y="3724208"/>
                  <a:pt x="0" y="3490020"/>
                </a:cubicBezTo>
                <a:cubicBezTo>
                  <a:pt x="28933" y="3255832"/>
                  <a:pt x="11828" y="3006669"/>
                  <a:pt x="0" y="2745787"/>
                </a:cubicBezTo>
                <a:cubicBezTo>
                  <a:pt x="-11828" y="2484905"/>
                  <a:pt x="-12368" y="2406508"/>
                  <a:pt x="0" y="2161033"/>
                </a:cubicBezTo>
                <a:cubicBezTo>
                  <a:pt x="12368" y="1915558"/>
                  <a:pt x="19517" y="1752554"/>
                  <a:pt x="0" y="1536409"/>
                </a:cubicBezTo>
                <a:cubicBezTo>
                  <a:pt x="-19517" y="1320264"/>
                  <a:pt x="-34708" y="1058450"/>
                  <a:pt x="0" y="632697"/>
                </a:cubicBezTo>
                <a:close/>
              </a:path>
            </a:pathLst>
          </a:custGeom>
          <a:noFill/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37673968">
                  <a:prstGeom prst="flowChartAlternateProces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A6C3E576-5A9C-DEEE-CABE-70822872BAB0}"/>
              </a:ext>
            </a:extLst>
          </p:cNvPr>
          <p:cNvSpPr/>
          <p:nvPr/>
        </p:nvSpPr>
        <p:spPr>
          <a:xfrm>
            <a:off x="8834536" y="1166570"/>
            <a:ext cx="3066908" cy="5252357"/>
          </a:xfrm>
          <a:prstGeom prst="flowChartAlternateProcess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handshake with stars&#10;&#10;Description automatically generated">
            <a:extLst>
              <a:ext uri="{FF2B5EF4-FFF2-40B4-BE49-F238E27FC236}">
                <a16:creationId xmlns:a16="http://schemas.microsoft.com/office/drawing/2014/main" id="{EF9BA98B-0A14-4112-093F-6DEAEBCE5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336" y="1481164"/>
            <a:ext cx="1324160" cy="1219370"/>
          </a:xfrm>
          <a:prstGeom prst="rect">
            <a:avLst/>
          </a:prstGeom>
        </p:spPr>
      </p:pic>
      <p:pic>
        <p:nvPicPr>
          <p:cNvPr id="1032" name="Picture 8" descr="Circuits Vector Icon Design 29096127 Vector Art at Vecteezy">
            <a:extLst>
              <a:ext uri="{FF2B5EF4-FFF2-40B4-BE49-F238E27FC236}">
                <a16:creationId xmlns:a16="http://schemas.microsoft.com/office/drawing/2014/main" id="{ADDB5F83-C1F7-D1DD-670F-D03B3C53D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395" y="1597591"/>
            <a:ext cx="937190" cy="98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92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92AC8-D2E1-68B9-4BE1-32374E78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5118" y="6342823"/>
            <a:ext cx="2743200" cy="365125"/>
          </a:xfrm>
        </p:spPr>
        <p:txBody>
          <a:bodyPr/>
          <a:lstStyle/>
          <a:p>
            <a:fld id="{246AF4E1-0057-463D-9EDD-82F9F54C76E8}" type="slidenum">
              <a:rPr lang="en-US" b="1" smtClean="0"/>
              <a:t>8</a:t>
            </a:fld>
            <a:endParaRPr lang="en-US" b="1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531078A-0670-42D5-ABE3-98DDC277F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7"/>
          <a:stretch/>
        </p:blipFill>
        <p:spPr bwMode="auto">
          <a:xfrm>
            <a:off x="657400" y="92076"/>
            <a:ext cx="10540920" cy="581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21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02E38-3F65-62CF-41A9-B7827DCBA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2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0AC0F05430A8448F496DB03A58E47C" ma:contentTypeVersion="8" ma:contentTypeDescription="Create a new document." ma:contentTypeScope="" ma:versionID="6c6b7282bb8270c1b68a6d968dcf45ed">
  <xsd:schema xmlns:xsd="http://www.w3.org/2001/XMLSchema" xmlns:xs="http://www.w3.org/2001/XMLSchema" xmlns:p="http://schemas.microsoft.com/office/2006/metadata/properties" xmlns:ns3="b722b819-b40a-4ac9-9936-f08a7f0e3b78" targetNamespace="http://schemas.microsoft.com/office/2006/metadata/properties" ma:root="true" ma:fieldsID="86d220337494e44c234015177963ad65" ns3:_="">
    <xsd:import namespace="b722b819-b40a-4ac9-9936-f08a7f0e3b7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2b819-b40a-4ac9-9936-f08a7f0e3b7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AD11B9-BFC4-4E0D-ABEE-C5A972F03754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b722b819-b40a-4ac9-9936-f08a7f0e3b78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514437A-31EA-445B-B962-6FC36C3D14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AD30DD-A293-4112-82ED-FA0B78F586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22b819-b40a-4ac9-9936-f08a7f0e3b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1658</TotalTime>
  <Words>251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SOCIETAL RELEVANCE: Addressing the problem </vt:lpstr>
      <vt:lpstr>Societal Relevance and Motivation </vt:lpstr>
      <vt:lpstr>Stakeholders of Our Project </vt:lpstr>
      <vt:lpstr>PowerPoint Presentation</vt:lpstr>
      <vt:lpstr>PowerPoint Presentation</vt:lpstr>
      <vt:lpstr> Complex Engineering Problems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ACCESS Student</dc:creator>
  <cp:lastModifiedBy>Md. Niaz Morshed Razon</cp:lastModifiedBy>
  <cp:revision>49</cp:revision>
  <dcterms:created xsi:type="dcterms:W3CDTF">2025-03-04T17:32:37Z</dcterms:created>
  <dcterms:modified xsi:type="dcterms:W3CDTF">2025-10-17T19:20:40Z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0x010100560AC0F05430A8448F496DB03A58E47C</vt:lpwstr>
  </property>
</Properties>
</file>