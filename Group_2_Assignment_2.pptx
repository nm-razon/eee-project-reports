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handoutMasterIdLst>
    <p:handoutMasterId r:id="rId22"/>
  </p:handoutMasterIdLst>
  <p:sldIdLst>
    <p:sldId id="267" r:id="rId5"/>
    <p:sldId id="285" r:id="rId6"/>
    <p:sldId id="268" r:id="rId7"/>
    <p:sldId id="287" r:id="rId8"/>
    <p:sldId id="286" r:id="rId9"/>
    <p:sldId id="269" r:id="rId10"/>
    <p:sldId id="288" r:id="rId11"/>
    <p:sldId id="272" r:id="rId12"/>
    <p:sldId id="282" r:id="rId13"/>
    <p:sldId id="264" r:id="rId14"/>
    <p:sldId id="283" r:id="rId15"/>
    <p:sldId id="273" r:id="rId16"/>
    <p:sldId id="274" r:id="rId17"/>
    <p:sldId id="275" r:id="rId18"/>
    <p:sldId id="276" r:id="rId19"/>
    <p:sldId id="28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049" autoAdjust="0"/>
  </p:normalViewPr>
  <p:slideViewPr>
    <p:cSldViewPr snapToGrid="0">
      <p:cViewPr varScale="1">
        <p:scale>
          <a:sx n="65" d="100"/>
          <a:sy n="65" d="100"/>
        </p:scale>
        <p:origin x="724" y="6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228D0C-059E-48FD-A697-2E7A0F059A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EEE 413</a:t>
            </a:r>
          </a:p>
        </p:txBody>
      </p:sp>
      <p:sp>
        <p:nvSpPr>
          <p:cNvPr id="3" name="Date Placeholder 2">
            <a:extLst>
              <a:ext uri="{FF2B5EF4-FFF2-40B4-BE49-F238E27FC236}">
                <a16:creationId xmlns:a16="http://schemas.microsoft.com/office/drawing/2014/main" id="{5020199A-57A8-4151-9A7B-7C5E7D6DAD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1443527-812A-4C0F-AC91-1D04220DB6D7}" type="datetimeFigureOut">
              <a:rPr lang="en-US" smtClean="0"/>
              <a:t>4/7/2026</a:t>
            </a:fld>
            <a:endParaRPr lang="en-US"/>
          </a:p>
        </p:txBody>
      </p:sp>
      <p:sp>
        <p:nvSpPr>
          <p:cNvPr id="4" name="Footer Placeholder 3">
            <a:extLst>
              <a:ext uri="{FF2B5EF4-FFF2-40B4-BE49-F238E27FC236}">
                <a16:creationId xmlns:a16="http://schemas.microsoft.com/office/drawing/2014/main" id="{9FF3391E-B4B5-4BDC-B9C8-772FDBAC1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2A1939-5162-4355-8BDE-AC3AF01BA4E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CD337D-0CD9-4FAC-8E7F-E28C456C13EA}" type="slidenum">
              <a:rPr lang="en-US" smtClean="0"/>
              <a:t>‹#›</a:t>
            </a:fld>
            <a:endParaRPr lang="en-US"/>
          </a:p>
        </p:txBody>
      </p:sp>
    </p:spTree>
    <p:extLst>
      <p:ext uri="{BB962C8B-B14F-4D97-AF65-F5344CB8AC3E}">
        <p14:creationId xmlns:p14="http://schemas.microsoft.com/office/powerpoint/2010/main" val="297423759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EEE 413</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0E8BF2-1FB1-426E-B5D4-A3E1C4D39358}"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E2319C-174C-4CFA-8192-06372718EDA8}" type="slidenum">
              <a:rPr lang="en-US" smtClean="0"/>
              <a:t>‹#›</a:t>
            </a:fld>
            <a:endParaRPr lang="en-US"/>
          </a:p>
        </p:txBody>
      </p:sp>
    </p:spTree>
    <p:extLst>
      <p:ext uri="{BB962C8B-B14F-4D97-AF65-F5344CB8AC3E}">
        <p14:creationId xmlns:p14="http://schemas.microsoft.com/office/powerpoint/2010/main" val="79874986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D7AA7-31CD-459F-9682-2347842095DA}" type="datetime1">
              <a:rPr lang="en-US" smtClean="0"/>
              <a:t>4/6/2026</a:t>
            </a:fld>
            <a:endParaRPr lang="en-US"/>
          </a:p>
        </p:txBody>
      </p:sp>
      <p:sp>
        <p:nvSpPr>
          <p:cNvPr id="5" name="Footer Placeholder 4"/>
          <p:cNvSpPr>
            <a:spLocks noGrp="1"/>
          </p:cNvSpPr>
          <p:nvPr>
            <p:ph type="ftr" sz="quarter" idx="11"/>
          </p:nvPr>
        </p:nvSpPr>
        <p:spPr/>
        <p:txBody>
          <a:bodyPr/>
          <a:lstStyle/>
          <a:p>
            <a:r>
              <a:rPr lang="en-US"/>
              <a:t>EEE 413</a:t>
            </a:r>
          </a:p>
        </p:txBody>
      </p:sp>
      <p:sp>
        <p:nvSpPr>
          <p:cNvPr id="6" name="Slide Number Placeholder 5"/>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2063790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11CF33-1DF8-4026-8355-4EEB55B81BFC}" type="datetime1">
              <a:rPr lang="en-US" smtClean="0"/>
              <a:t>4/6/2026</a:t>
            </a:fld>
            <a:endParaRPr lang="en-US"/>
          </a:p>
        </p:txBody>
      </p:sp>
      <p:sp>
        <p:nvSpPr>
          <p:cNvPr id="5" name="Footer Placeholder 4"/>
          <p:cNvSpPr>
            <a:spLocks noGrp="1"/>
          </p:cNvSpPr>
          <p:nvPr>
            <p:ph type="ftr" sz="quarter" idx="11"/>
          </p:nvPr>
        </p:nvSpPr>
        <p:spPr/>
        <p:txBody>
          <a:bodyPr/>
          <a:lstStyle/>
          <a:p>
            <a:r>
              <a:rPr lang="en-US"/>
              <a:t>EEE 413</a:t>
            </a:r>
          </a:p>
        </p:txBody>
      </p:sp>
      <p:sp>
        <p:nvSpPr>
          <p:cNvPr id="6" name="Slide Number Placeholder 5"/>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1914004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8D91B8-3F80-4240-9186-1BE546BD9169}" type="datetime1">
              <a:rPr lang="en-US" smtClean="0"/>
              <a:t>4/6/2026</a:t>
            </a:fld>
            <a:endParaRPr lang="en-US"/>
          </a:p>
        </p:txBody>
      </p:sp>
      <p:sp>
        <p:nvSpPr>
          <p:cNvPr id="5" name="Footer Placeholder 4"/>
          <p:cNvSpPr>
            <a:spLocks noGrp="1"/>
          </p:cNvSpPr>
          <p:nvPr>
            <p:ph type="ftr" sz="quarter" idx="11"/>
          </p:nvPr>
        </p:nvSpPr>
        <p:spPr/>
        <p:txBody>
          <a:bodyPr/>
          <a:lstStyle/>
          <a:p>
            <a:r>
              <a:rPr lang="en-US"/>
              <a:t>EEE 413</a:t>
            </a:r>
          </a:p>
        </p:txBody>
      </p:sp>
      <p:sp>
        <p:nvSpPr>
          <p:cNvPr id="6" name="Slide Number Placeholder 5"/>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2233706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B7C0C42-B1F6-4192-ABD6-7655DC76AEC0}" type="datetime1">
              <a:rPr lang="en-US" smtClean="0"/>
              <a:t>4/6/2026</a:t>
            </a:fld>
            <a:endParaRPr lang="en-US"/>
          </a:p>
        </p:txBody>
      </p:sp>
      <p:sp>
        <p:nvSpPr>
          <p:cNvPr id="6" name="Footer Placeholder 5"/>
          <p:cNvSpPr>
            <a:spLocks noGrp="1"/>
          </p:cNvSpPr>
          <p:nvPr>
            <p:ph type="ftr" sz="quarter" idx="11"/>
          </p:nvPr>
        </p:nvSpPr>
        <p:spPr/>
        <p:txBody>
          <a:bodyPr/>
          <a:lstStyle/>
          <a:p>
            <a:r>
              <a:rPr lang="en-US"/>
              <a:t>EEE 413</a:t>
            </a:r>
          </a:p>
        </p:txBody>
      </p:sp>
      <p:sp>
        <p:nvSpPr>
          <p:cNvPr id="7" name="Slide Number Placeholder 6"/>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4095524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8B67AB-5751-40F5-A88B-1709AC8C0217}" type="datetime1">
              <a:rPr lang="en-US" smtClean="0"/>
              <a:t>4/6/2026</a:t>
            </a:fld>
            <a:endParaRPr lang="en-US"/>
          </a:p>
        </p:txBody>
      </p:sp>
      <p:sp>
        <p:nvSpPr>
          <p:cNvPr id="8" name="Footer Placeholder 7"/>
          <p:cNvSpPr>
            <a:spLocks noGrp="1"/>
          </p:cNvSpPr>
          <p:nvPr>
            <p:ph type="ftr" sz="quarter" idx="11"/>
          </p:nvPr>
        </p:nvSpPr>
        <p:spPr/>
        <p:txBody>
          <a:bodyPr/>
          <a:lstStyle/>
          <a:p>
            <a:r>
              <a:rPr lang="en-US"/>
              <a:t>EEE 413</a:t>
            </a:r>
          </a:p>
        </p:txBody>
      </p:sp>
      <p:sp>
        <p:nvSpPr>
          <p:cNvPr id="9" name="Slide Number Placeholder 8"/>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3743127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C1D08C-3552-49AB-B6EA-280CED00AD06}" type="datetime1">
              <a:rPr lang="en-US" smtClean="0"/>
              <a:t>4/6/2026</a:t>
            </a:fld>
            <a:endParaRPr lang="en-US"/>
          </a:p>
        </p:txBody>
      </p:sp>
      <p:sp>
        <p:nvSpPr>
          <p:cNvPr id="4" name="Footer Placeholder 3"/>
          <p:cNvSpPr>
            <a:spLocks noGrp="1"/>
          </p:cNvSpPr>
          <p:nvPr>
            <p:ph type="ftr" sz="quarter" idx="11"/>
          </p:nvPr>
        </p:nvSpPr>
        <p:spPr/>
        <p:txBody>
          <a:bodyPr/>
          <a:lstStyle/>
          <a:p>
            <a:r>
              <a:rPr lang="en-US"/>
              <a:t>EEE 413</a:t>
            </a:r>
          </a:p>
        </p:txBody>
      </p:sp>
      <p:sp>
        <p:nvSpPr>
          <p:cNvPr id="5" name="Slide Number Placeholder 4"/>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1140993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48B217-F934-4B23-AD36-944F7EC46965}" type="datetime1">
              <a:rPr lang="en-US" smtClean="0"/>
              <a:t>4/6/2026</a:t>
            </a:fld>
            <a:endParaRPr lang="en-US"/>
          </a:p>
        </p:txBody>
      </p:sp>
      <p:sp>
        <p:nvSpPr>
          <p:cNvPr id="3" name="Footer Placeholder 2"/>
          <p:cNvSpPr>
            <a:spLocks noGrp="1"/>
          </p:cNvSpPr>
          <p:nvPr>
            <p:ph type="ftr" sz="quarter" idx="11"/>
          </p:nvPr>
        </p:nvSpPr>
        <p:spPr/>
        <p:txBody>
          <a:bodyPr/>
          <a:lstStyle/>
          <a:p>
            <a:r>
              <a:rPr lang="en-US"/>
              <a:t>EEE 413</a:t>
            </a:r>
          </a:p>
        </p:txBody>
      </p:sp>
      <p:sp>
        <p:nvSpPr>
          <p:cNvPr id="4" name="Slide Number Placeholder 3"/>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1253470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C094-37C5-44C6-9CB0-B838A493800F}" type="datetime1">
              <a:rPr lang="en-US" smtClean="0"/>
              <a:t>4/6/2026</a:t>
            </a:fld>
            <a:endParaRPr lang="en-US"/>
          </a:p>
        </p:txBody>
      </p:sp>
      <p:sp>
        <p:nvSpPr>
          <p:cNvPr id="6" name="Footer Placeholder 5"/>
          <p:cNvSpPr>
            <a:spLocks noGrp="1"/>
          </p:cNvSpPr>
          <p:nvPr>
            <p:ph type="ftr" sz="quarter" idx="11"/>
          </p:nvPr>
        </p:nvSpPr>
        <p:spPr/>
        <p:txBody>
          <a:bodyPr/>
          <a:lstStyle/>
          <a:p>
            <a:r>
              <a:rPr lang="en-US"/>
              <a:t>EEE 413</a:t>
            </a:r>
          </a:p>
        </p:txBody>
      </p:sp>
      <p:sp>
        <p:nvSpPr>
          <p:cNvPr id="7" name="Slide Number Placeholder 6"/>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3602786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E6E976-A849-4F8B-AD39-64AA08E13261}" type="datetime1">
              <a:rPr lang="en-US" smtClean="0"/>
              <a:t>4/6/2026</a:t>
            </a:fld>
            <a:endParaRPr lang="en-US"/>
          </a:p>
        </p:txBody>
      </p:sp>
      <p:sp>
        <p:nvSpPr>
          <p:cNvPr id="6" name="Footer Placeholder 5"/>
          <p:cNvSpPr>
            <a:spLocks noGrp="1"/>
          </p:cNvSpPr>
          <p:nvPr>
            <p:ph type="ftr" sz="quarter" idx="11"/>
          </p:nvPr>
        </p:nvSpPr>
        <p:spPr/>
        <p:txBody>
          <a:bodyPr/>
          <a:lstStyle/>
          <a:p>
            <a:r>
              <a:rPr lang="en-US"/>
              <a:t>EEE 413</a:t>
            </a:r>
          </a:p>
        </p:txBody>
      </p:sp>
      <p:sp>
        <p:nvSpPr>
          <p:cNvPr id="7" name="Slide Number Placeholder 6"/>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2350087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3E67B4-5633-45C8-84D6-68E0A53E95FF}" type="datetime1">
              <a:rPr lang="en-US" smtClean="0"/>
              <a:t>4/6/2026</a:t>
            </a:fld>
            <a:endParaRPr lang="en-US"/>
          </a:p>
        </p:txBody>
      </p:sp>
      <p:sp>
        <p:nvSpPr>
          <p:cNvPr id="5" name="Footer Placeholder 4"/>
          <p:cNvSpPr>
            <a:spLocks noGrp="1"/>
          </p:cNvSpPr>
          <p:nvPr>
            <p:ph type="ftr" sz="quarter" idx="11"/>
          </p:nvPr>
        </p:nvSpPr>
        <p:spPr/>
        <p:txBody>
          <a:bodyPr/>
          <a:lstStyle/>
          <a:p>
            <a:r>
              <a:rPr lang="en-US"/>
              <a:t>EEE 413</a:t>
            </a:r>
          </a:p>
        </p:txBody>
      </p:sp>
      <p:sp>
        <p:nvSpPr>
          <p:cNvPr id="6" name="Slide Number Placeholder 5"/>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2611168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932D98-DE52-48E5-8F0A-21C488EA5F57}" type="datetime1">
              <a:rPr lang="en-US" smtClean="0"/>
              <a:t>4/6/2026</a:t>
            </a:fld>
            <a:endParaRPr lang="en-US"/>
          </a:p>
        </p:txBody>
      </p:sp>
      <p:sp>
        <p:nvSpPr>
          <p:cNvPr id="5" name="Footer Placeholder 4"/>
          <p:cNvSpPr>
            <a:spLocks noGrp="1"/>
          </p:cNvSpPr>
          <p:nvPr>
            <p:ph type="ftr" sz="quarter" idx="11"/>
          </p:nvPr>
        </p:nvSpPr>
        <p:spPr/>
        <p:txBody>
          <a:bodyPr/>
          <a:lstStyle/>
          <a:p>
            <a:r>
              <a:rPr lang="en-US"/>
              <a:t>EEE 413</a:t>
            </a:r>
          </a:p>
        </p:txBody>
      </p:sp>
      <p:sp>
        <p:nvSpPr>
          <p:cNvPr id="6" name="Slide Number Placeholder 5"/>
          <p:cNvSpPr>
            <a:spLocks noGrp="1"/>
          </p:cNvSpPr>
          <p:nvPr>
            <p:ph type="sldNum" sz="quarter" idx="12"/>
          </p:nvPr>
        </p:nvSpPr>
        <p:spPr/>
        <p:txBody>
          <a:bodyPr/>
          <a:lstStyle/>
          <a:p>
            <a:fld id="{B7F31ED2-E7D6-4EC4-9705-587D9B1FBC70}" type="slidenum">
              <a:rPr lang="en-US" smtClean="0"/>
              <a:t>‹#›</a:t>
            </a:fld>
            <a:endParaRPr lang="en-US"/>
          </a:p>
        </p:txBody>
      </p:sp>
    </p:spTree>
    <p:extLst>
      <p:ext uri="{BB962C8B-B14F-4D97-AF65-F5344CB8AC3E}">
        <p14:creationId xmlns:p14="http://schemas.microsoft.com/office/powerpoint/2010/main" val="74585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26EA55-C547-4C2F-AA19-385102B8AF82}" type="datetime1">
              <a:rPr lang="en-US" smtClean="0"/>
              <a:t>4/6/2026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EEE 413</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F31ED2-E7D6-4EC4-9705-587D9B1FBC70}" type="slidenum">
              <a:rPr lang="en-US" smtClean="0"/>
              <a:t>‹#›</a:t>
            </a:fld>
            <a:endParaRPr lang="en-US"/>
          </a:p>
        </p:txBody>
      </p:sp>
    </p:spTree>
    <p:extLst>
      <p:ext uri="{BB962C8B-B14F-4D97-AF65-F5344CB8AC3E}">
        <p14:creationId xmlns:p14="http://schemas.microsoft.com/office/powerpoint/2010/main" val="11930231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researchgate.net/publication/374208634_Moore's_Law_The_potential_limits_and_breakthroughs" TargetMode="External"/><Relationship Id="rId2" Type="http://schemas.openxmlformats.org/officeDocument/2006/relationships/hyperlink" Target="https://medium.com/@ozkanbirak/the-evolution-of-processor-efficiency-a-deep-dive-into-transistor-scaling-and-performance-trends-2d78410e360f" TargetMode="External"/><Relationship Id="rId1" Type="http://schemas.openxmlformats.org/officeDocument/2006/relationships/slideLayout" Target="../slideLayouts/slideLayout2.xml"/><Relationship Id="rId4" Type="http://schemas.openxmlformats.org/officeDocument/2006/relationships/hyperlink" Target="https://www.viksnewsletter.com/p/how-dennard-scaling-actually-work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2DACFD1-2917-4119-991C-6A51A9534C2A}"/>
              </a:ext>
            </a:extLst>
          </p:cNvPr>
          <p:cNvSpPr>
            <a:spLocks noGrp="1"/>
          </p:cNvSpPr>
          <p:nvPr>
            <p:ph type="subTitle" idx="1"/>
          </p:nvPr>
        </p:nvSpPr>
        <p:spPr>
          <a:xfrm>
            <a:off x="1647444" y="752701"/>
            <a:ext cx="8897112" cy="5385816"/>
          </a:xfrm>
        </p:spPr>
        <p:txBody>
          <a:bodyPr>
            <a:noAutofit/>
          </a:bodyPr>
          <a:lstStyle/>
          <a:p>
            <a:endParaRPr lang="en-US" sz="2000" b="1" dirty="0">
              <a:latin typeface="+mj-lt"/>
            </a:endParaRPr>
          </a:p>
          <a:p>
            <a:r>
              <a:rPr lang="en-US" sz="3200" b="1" dirty="0">
                <a:latin typeface="+mj-lt"/>
              </a:rPr>
              <a:t>Moore’s Law and Dennard Scaling</a:t>
            </a:r>
          </a:p>
          <a:p>
            <a:endParaRPr lang="en-US" sz="2000" b="1" dirty="0">
              <a:latin typeface="+mj-lt"/>
            </a:endParaRPr>
          </a:p>
          <a:p>
            <a:r>
              <a:rPr lang="en-US" sz="1800" b="1" u="sng" dirty="0">
                <a:latin typeface="+mj-lt"/>
              </a:rPr>
              <a:t>Presented by: Group 2</a:t>
            </a:r>
          </a:p>
          <a:p>
            <a:r>
              <a:rPr lang="en-US" sz="1800" b="1" dirty="0">
                <a:latin typeface="+mj-lt"/>
              </a:rPr>
              <a:t>Niaz Morshed Razon (2022-2-80-008)</a:t>
            </a:r>
          </a:p>
          <a:p>
            <a:pPr>
              <a:lnSpc>
                <a:spcPct val="100000"/>
              </a:lnSpc>
            </a:pPr>
            <a:r>
              <a:rPr lang="en-US" sz="1800" b="1" dirty="0">
                <a:latin typeface="+mj-lt"/>
              </a:rPr>
              <a:t>Md. </a:t>
            </a:r>
            <a:r>
              <a:rPr lang="en-US" sz="1800" b="1" dirty="0" err="1">
                <a:latin typeface="+mj-lt"/>
              </a:rPr>
              <a:t>Moshfiqur</a:t>
            </a:r>
            <a:r>
              <a:rPr lang="en-US" sz="1800" b="1" dirty="0">
                <a:latin typeface="+mj-lt"/>
              </a:rPr>
              <a:t> Rahman (2022-1-80-016)</a:t>
            </a:r>
          </a:p>
          <a:p>
            <a:pPr>
              <a:lnSpc>
                <a:spcPct val="100000"/>
              </a:lnSpc>
            </a:pPr>
            <a:r>
              <a:rPr lang="en-US" sz="1800" b="1" dirty="0">
                <a:latin typeface="+mj-lt"/>
              </a:rPr>
              <a:t>Al Imran (2022-1-80-013)</a:t>
            </a:r>
          </a:p>
          <a:p>
            <a:pPr>
              <a:lnSpc>
                <a:spcPct val="100000"/>
              </a:lnSpc>
            </a:pPr>
            <a:r>
              <a:rPr lang="en-US" sz="1800" b="1" dirty="0">
                <a:latin typeface="+mj-lt"/>
              </a:rPr>
              <a:t>Faisal Hasan (2022-2-80-007)</a:t>
            </a:r>
          </a:p>
          <a:p>
            <a:endParaRPr lang="en-US" sz="1800" b="1" dirty="0">
              <a:latin typeface="+mj-lt"/>
            </a:endParaRPr>
          </a:p>
          <a:p>
            <a:r>
              <a:rPr lang="en-US" sz="1800" b="1" dirty="0">
                <a:latin typeface="+mj-lt"/>
              </a:rPr>
              <a:t>Instructor:</a:t>
            </a:r>
          </a:p>
          <a:p>
            <a:r>
              <a:rPr lang="en-US" sz="1800" b="1" dirty="0">
                <a:latin typeface="+mj-lt"/>
              </a:rPr>
              <a:t>Dr. </a:t>
            </a:r>
            <a:r>
              <a:rPr lang="en-US" sz="1800" b="1" dirty="0" err="1">
                <a:latin typeface="+mj-lt"/>
              </a:rPr>
              <a:t>Ryyan</a:t>
            </a:r>
            <a:r>
              <a:rPr lang="en-US" sz="1800" b="1" dirty="0">
                <a:latin typeface="+mj-lt"/>
              </a:rPr>
              <a:t> Khan</a:t>
            </a:r>
          </a:p>
          <a:p>
            <a:r>
              <a:rPr lang="en-US" sz="1800" b="1" dirty="0">
                <a:latin typeface="+mj-lt"/>
              </a:rPr>
              <a:t>Department of Electrical and Electronic Engineering</a:t>
            </a:r>
          </a:p>
          <a:p>
            <a:r>
              <a:rPr lang="en-US" sz="1800" b="1" dirty="0">
                <a:latin typeface="+mj-lt"/>
              </a:rPr>
              <a:t>East West University</a:t>
            </a:r>
          </a:p>
          <a:p>
            <a:r>
              <a:rPr lang="en-US" sz="1800" b="1" dirty="0">
                <a:latin typeface="+mj-lt"/>
              </a:rPr>
              <a:t>Spring 2026</a:t>
            </a:r>
          </a:p>
        </p:txBody>
      </p:sp>
      <p:sp>
        <p:nvSpPr>
          <p:cNvPr id="5" name="Footer Placeholder 4">
            <a:extLst>
              <a:ext uri="{FF2B5EF4-FFF2-40B4-BE49-F238E27FC236}">
                <a16:creationId xmlns:a16="http://schemas.microsoft.com/office/drawing/2014/main" id="{79816F07-EBA9-41C4-B141-89E68D047141}"/>
              </a:ext>
            </a:extLst>
          </p:cNvPr>
          <p:cNvSpPr>
            <a:spLocks noGrp="1"/>
          </p:cNvSpPr>
          <p:nvPr>
            <p:ph type="ftr" sz="quarter" idx="11"/>
          </p:nvPr>
        </p:nvSpPr>
        <p:spPr/>
        <p:txBody>
          <a:bodyPr/>
          <a:lstStyle/>
          <a:p>
            <a:r>
              <a:rPr lang="en-US"/>
              <a:t>EEE 413</a:t>
            </a:r>
          </a:p>
        </p:txBody>
      </p:sp>
      <p:sp>
        <p:nvSpPr>
          <p:cNvPr id="4" name="Slide Number Placeholder 3">
            <a:extLst>
              <a:ext uri="{FF2B5EF4-FFF2-40B4-BE49-F238E27FC236}">
                <a16:creationId xmlns:a16="http://schemas.microsoft.com/office/drawing/2014/main" id="{2D3740C9-4ACF-48CF-A2D0-A712445BD36B}"/>
              </a:ext>
            </a:extLst>
          </p:cNvPr>
          <p:cNvSpPr>
            <a:spLocks noGrp="1"/>
          </p:cNvSpPr>
          <p:nvPr>
            <p:ph type="sldNum" sz="quarter" idx="12"/>
          </p:nvPr>
        </p:nvSpPr>
        <p:spPr/>
        <p:txBody>
          <a:bodyPr/>
          <a:lstStyle/>
          <a:p>
            <a:fld id="{B7F31ED2-E7D6-4EC4-9705-587D9B1FBC70}" type="slidenum">
              <a:rPr lang="en-US" smtClean="0"/>
              <a:t>1</a:t>
            </a:fld>
            <a:endParaRPr lang="en-US"/>
          </a:p>
        </p:txBody>
      </p:sp>
      <p:sp>
        <p:nvSpPr>
          <p:cNvPr id="7" name="TextBox 6">
            <a:extLst>
              <a:ext uri="{FF2B5EF4-FFF2-40B4-BE49-F238E27FC236}">
                <a16:creationId xmlns:a16="http://schemas.microsoft.com/office/drawing/2014/main" id="{B7230838-8946-4540-A128-D848E798D2B7}"/>
              </a:ext>
            </a:extLst>
          </p:cNvPr>
          <p:cNvSpPr txBox="1"/>
          <p:nvPr/>
        </p:nvSpPr>
        <p:spPr>
          <a:xfrm>
            <a:off x="505206" y="568035"/>
            <a:ext cx="4135620" cy="369332"/>
          </a:xfrm>
          <a:prstGeom prst="rect">
            <a:avLst/>
          </a:prstGeom>
          <a:noFill/>
        </p:spPr>
        <p:txBody>
          <a:bodyPr wrap="square">
            <a:spAutoFit/>
          </a:bodyPr>
          <a:lstStyle/>
          <a:p>
            <a:r>
              <a:rPr lang="en-US" sz="1800" b="1" dirty="0">
                <a:latin typeface="+mj-lt"/>
              </a:rPr>
              <a:t>EEE 413 – Fundamentals Nanotechnology</a:t>
            </a:r>
          </a:p>
        </p:txBody>
      </p:sp>
      <p:sp>
        <p:nvSpPr>
          <p:cNvPr id="9" name="TextBox 8">
            <a:extLst>
              <a:ext uri="{FF2B5EF4-FFF2-40B4-BE49-F238E27FC236}">
                <a16:creationId xmlns:a16="http://schemas.microsoft.com/office/drawing/2014/main" id="{F6614A39-5071-40D7-8879-8E84AC767929}"/>
              </a:ext>
            </a:extLst>
          </p:cNvPr>
          <p:cNvSpPr txBox="1"/>
          <p:nvPr/>
        </p:nvSpPr>
        <p:spPr>
          <a:xfrm>
            <a:off x="9804654" y="568035"/>
            <a:ext cx="1725930" cy="369332"/>
          </a:xfrm>
          <a:prstGeom prst="rect">
            <a:avLst/>
          </a:prstGeom>
          <a:noFill/>
        </p:spPr>
        <p:txBody>
          <a:bodyPr wrap="square">
            <a:spAutoFit/>
          </a:bodyPr>
          <a:lstStyle/>
          <a:p>
            <a:r>
              <a:rPr lang="en-US" sz="1800" b="1" dirty="0">
                <a:latin typeface="+mj-lt"/>
              </a:rPr>
              <a:t>Assignment 02</a:t>
            </a:r>
          </a:p>
        </p:txBody>
      </p:sp>
    </p:spTree>
    <p:extLst>
      <p:ext uri="{BB962C8B-B14F-4D97-AF65-F5344CB8AC3E}">
        <p14:creationId xmlns:p14="http://schemas.microsoft.com/office/powerpoint/2010/main" val="2146596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1E5B0-5833-432A-9889-53B25732C250}"/>
              </a:ext>
            </a:extLst>
          </p:cNvPr>
          <p:cNvSpPr>
            <a:spLocks noGrp="1"/>
          </p:cNvSpPr>
          <p:nvPr>
            <p:ph type="title"/>
          </p:nvPr>
        </p:nvSpPr>
        <p:spPr/>
        <p:txBody>
          <a:bodyPr/>
          <a:lstStyle/>
          <a:p>
            <a:r>
              <a:rPr lang="en-US" dirty="0"/>
              <a:t>Table of Content</a:t>
            </a:r>
          </a:p>
        </p:txBody>
      </p:sp>
      <p:sp>
        <p:nvSpPr>
          <p:cNvPr id="3" name="Content Placeholder 2">
            <a:extLst>
              <a:ext uri="{FF2B5EF4-FFF2-40B4-BE49-F238E27FC236}">
                <a16:creationId xmlns:a16="http://schemas.microsoft.com/office/drawing/2014/main" id="{CE200521-0F6D-4E42-BF1C-0DC2813F4090}"/>
              </a:ext>
            </a:extLst>
          </p:cNvPr>
          <p:cNvSpPr>
            <a:spLocks noGrp="1"/>
          </p:cNvSpPr>
          <p:nvPr>
            <p:ph idx="1"/>
          </p:nvPr>
        </p:nvSpPr>
        <p:spPr>
          <a:xfrm>
            <a:off x="838200" y="1553497"/>
            <a:ext cx="5739581" cy="4623466"/>
          </a:xfrm>
        </p:spPr>
        <p:txBody>
          <a:bodyPr>
            <a:normAutofit fontScale="92500" lnSpcReduction="20000"/>
          </a:bodyPr>
          <a:lstStyle/>
          <a:p>
            <a:pPr marL="0" indent="0">
              <a:buNone/>
            </a:pPr>
            <a:r>
              <a:rPr lang="en-US" sz="1800" b="1" dirty="0">
                <a:solidFill>
                  <a:schemeClr val="accent1">
                    <a:lumMod val="75000"/>
                  </a:schemeClr>
                </a:solidFill>
              </a:rPr>
              <a:t>1. Introduction:</a:t>
            </a:r>
            <a:r>
              <a:rPr lang="en-US" sz="1800" b="1" dirty="0"/>
              <a:t> Importance of Integrated Circuits</a:t>
            </a:r>
          </a:p>
          <a:p>
            <a:pPr marL="0" indent="0">
              <a:buNone/>
            </a:pPr>
            <a:endParaRPr lang="en-US" sz="1800" b="1" dirty="0"/>
          </a:p>
          <a:p>
            <a:pPr marL="0" indent="0">
              <a:buNone/>
            </a:pPr>
            <a:r>
              <a:rPr lang="en-US" sz="1800" b="1" dirty="0">
                <a:solidFill>
                  <a:schemeClr val="accent1">
                    <a:lumMod val="75000"/>
                  </a:schemeClr>
                </a:solidFill>
              </a:rPr>
              <a:t>2. Moore’s Law</a:t>
            </a:r>
          </a:p>
          <a:p>
            <a:pPr marL="0" indent="0">
              <a:buNone/>
            </a:pPr>
            <a:r>
              <a:rPr lang="en-US" sz="1800" b="1" dirty="0"/>
              <a:t>   • Concept and Historical Background</a:t>
            </a:r>
          </a:p>
          <a:p>
            <a:pPr marL="0" indent="0">
              <a:buNone/>
            </a:pPr>
            <a:r>
              <a:rPr lang="en-US" sz="1800" b="1" dirty="0"/>
              <a:t>   • Transistor Scaling Trend</a:t>
            </a:r>
          </a:p>
          <a:p>
            <a:pPr marL="0" indent="0">
              <a:buNone/>
            </a:pPr>
            <a:r>
              <a:rPr lang="en-US" sz="1800" b="1" dirty="0"/>
              <a:t>   • Key Innovations that Sustained Moore’s Law</a:t>
            </a:r>
          </a:p>
          <a:p>
            <a:pPr marL="0" indent="0">
              <a:buNone/>
            </a:pPr>
            <a:r>
              <a:rPr lang="en-US" sz="1800" b="1" dirty="0"/>
              <a:t>   • Current Status of Moore’s Law</a:t>
            </a:r>
          </a:p>
          <a:p>
            <a:pPr marL="0" indent="0">
              <a:buNone/>
            </a:pPr>
            <a:endParaRPr lang="en-US" sz="1800" b="1" dirty="0"/>
          </a:p>
          <a:p>
            <a:pPr marL="0" indent="0">
              <a:buNone/>
            </a:pPr>
            <a:r>
              <a:rPr lang="en-US" sz="1800" b="1" dirty="0">
                <a:solidFill>
                  <a:schemeClr val="accent1">
                    <a:lumMod val="75000"/>
                  </a:schemeClr>
                </a:solidFill>
              </a:rPr>
              <a:t>3. Dennard’s Law</a:t>
            </a:r>
          </a:p>
          <a:p>
            <a:pPr marL="0" indent="0">
              <a:buNone/>
            </a:pPr>
            <a:r>
              <a:rPr lang="en-US" sz="1800" b="1" dirty="0"/>
              <a:t>   • Concept and Original Theory</a:t>
            </a:r>
          </a:p>
          <a:p>
            <a:pPr marL="0" indent="0">
              <a:buNone/>
            </a:pPr>
            <a:r>
              <a:rPr lang="en-US" sz="1800" b="1" dirty="0"/>
              <a:t>   • Scaling Principles</a:t>
            </a:r>
          </a:p>
          <a:p>
            <a:pPr marL="0" indent="0">
              <a:buNone/>
            </a:pPr>
            <a:r>
              <a:rPr lang="en-US" sz="1800" b="1" dirty="0"/>
              <a:t>   • Breakdown of Dennard Scaling</a:t>
            </a:r>
          </a:p>
          <a:p>
            <a:pPr marL="0" indent="0">
              <a:buNone/>
            </a:pPr>
            <a:endParaRPr lang="en-US" sz="1800" b="1" dirty="0"/>
          </a:p>
          <a:p>
            <a:pPr marL="0" indent="0">
              <a:buNone/>
            </a:pPr>
            <a:r>
              <a:rPr lang="en-US" sz="1800" b="1" dirty="0">
                <a:solidFill>
                  <a:schemeClr val="accent1">
                    <a:lumMod val="75000"/>
                  </a:schemeClr>
                </a:solidFill>
              </a:rPr>
              <a:t>4. Conclusion</a:t>
            </a:r>
          </a:p>
        </p:txBody>
      </p:sp>
      <p:sp>
        <p:nvSpPr>
          <p:cNvPr id="4" name="Footer Placeholder 3">
            <a:extLst>
              <a:ext uri="{FF2B5EF4-FFF2-40B4-BE49-F238E27FC236}">
                <a16:creationId xmlns:a16="http://schemas.microsoft.com/office/drawing/2014/main" id="{96EEB210-B6EB-4D35-9FEC-F3D91187528C}"/>
              </a:ext>
            </a:extLst>
          </p:cNvPr>
          <p:cNvSpPr>
            <a:spLocks noGrp="1"/>
          </p:cNvSpPr>
          <p:nvPr>
            <p:ph type="ftr" sz="quarter" idx="11"/>
          </p:nvPr>
        </p:nvSpPr>
        <p:spPr/>
        <p:txBody>
          <a:bodyPr/>
          <a:lstStyle/>
          <a:p>
            <a:r>
              <a:rPr lang="en-US"/>
              <a:t>EEE 413</a:t>
            </a:r>
          </a:p>
        </p:txBody>
      </p:sp>
      <p:sp>
        <p:nvSpPr>
          <p:cNvPr id="5" name="Slide Number Placeholder 4">
            <a:extLst>
              <a:ext uri="{FF2B5EF4-FFF2-40B4-BE49-F238E27FC236}">
                <a16:creationId xmlns:a16="http://schemas.microsoft.com/office/drawing/2014/main" id="{4D8FDB4B-9278-4DC1-B5CF-2DBC38B7354F}"/>
              </a:ext>
            </a:extLst>
          </p:cNvPr>
          <p:cNvSpPr>
            <a:spLocks noGrp="1"/>
          </p:cNvSpPr>
          <p:nvPr>
            <p:ph type="sldNum" sz="quarter" idx="12"/>
          </p:nvPr>
        </p:nvSpPr>
        <p:spPr/>
        <p:txBody>
          <a:bodyPr/>
          <a:lstStyle/>
          <a:p>
            <a:fld id="{B7F31ED2-E7D6-4EC4-9705-587D9B1FBC70}" type="slidenum">
              <a:rPr lang="en-US" smtClean="0"/>
              <a:t>2</a:t>
            </a:fld>
            <a:endParaRPr lang="en-US"/>
          </a:p>
        </p:txBody>
      </p:sp>
    </p:spTree>
    <p:extLst>
      <p:ext uri="{BB962C8B-B14F-4D97-AF65-F5344CB8AC3E}">
        <p14:creationId xmlns:p14="http://schemas.microsoft.com/office/powerpoint/2010/main" val="61005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24019-7676-4797-932A-2C337B84BF11}"/>
              </a:ext>
            </a:extLst>
          </p:cNvPr>
          <p:cNvSpPr>
            <a:spLocks noGrp="1"/>
          </p:cNvSpPr>
          <p:nvPr>
            <p:ph type="title"/>
          </p:nvPr>
        </p:nvSpPr>
        <p:spPr/>
        <p:txBody>
          <a:bodyPr>
            <a:normAutofit/>
          </a:bodyPr>
          <a:lstStyle/>
          <a:p>
            <a:r>
              <a:rPr lang="en-US" sz="3400" dirty="0"/>
              <a:t>Modern electronic systems rely on Integrated Circuits (ICs)</a:t>
            </a:r>
          </a:p>
        </p:txBody>
      </p:sp>
      <p:sp>
        <p:nvSpPr>
          <p:cNvPr id="3" name="Content Placeholder 2">
            <a:extLst>
              <a:ext uri="{FF2B5EF4-FFF2-40B4-BE49-F238E27FC236}">
                <a16:creationId xmlns:a16="http://schemas.microsoft.com/office/drawing/2014/main" id="{54A7CDE3-9F1D-4A2E-B919-EFCF31343EFC}"/>
              </a:ext>
            </a:extLst>
          </p:cNvPr>
          <p:cNvSpPr>
            <a:spLocks noGrp="1"/>
          </p:cNvSpPr>
          <p:nvPr>
            <p:ph sz="half" idx="1"/>
          </p:nvPr>
        </p:nvSpPr>
        <p:spPr/>
        <p:txBody>
          <a:bodyPr>
            <a:normAutofit fontScale="85000" lnSpcReduction="20000"/>
          </a:bodyPr>
          <a:lstStyle/>
          <a:p>
            <a:pPr marL="0" indent="0">
              <a:buNone/>
            </a:pPr>
            <a:r>
              <a:rPr lang="en-US" dirty="0"/>
              <a:t>As technology advances, users demand devices that can perform</a:t>
            </a:r>
            <a:br>
              <a:rPr lang="en-US" dirty="0"/>
            </a:br>
            <a:r>
              <a:rPr lang="en-US" dirty="0"/>
              <a:t>more complex computations and tasks.</a:t>
            </a:r>
          </a:p>
          <a:p>
            <a:pPr marL="0" indent="0">
              <a:buNone/>
            </a:pPr>
            <a:endParaRPr lang="en-US" dirty="0"/>
          </a:p>
          <a:p>
            <a:pPr marL="0" indent="0">
              <a:buNone/>
            </a:pPr>
            <a:r>
              <a:rPr lang="en-US" dirty="0"/>
              <a:t>IC performance improves by increasing the number of transistors on a chip[1].</a:t>
            </a:r>
          </a:p>
          <a:p>
            <a:endParaRPr lang="en-US" dirty="0"/>
          </a:p>
          <a:p>
            <a:pPr marL="0" indent="0">
              <a:buNone/>
            </a:pPr>
            <a:r>
              <a:rPr lang="en-US" dirty="0"/>
              <a:t>Smaller transistors allow:</a:t>
            </a:r>
          </a:p>
          <a:p>
            <a:pPr marL="0" indent="0">
              <a:buNone/>
            </a:pPr>
            <a:r>
              <a:rPr lang="en-US" dirty="0"/>
              <a:t>   – Higher transistor density</a:t>
            </a:r>
          </a:p>
          <a:p>
            <a:pPr marL="0" indent="0">
              <a:buNone/>
            </a:pPr>
            <a:r>
              <a:rPr lang="en-US" dirty="0"/>
              <a:t>   – Faster computation</a:t>
            </a:r>
          </a:p>
          <a:p>
            <a:pPr marL="0" indent="0">
              <a:buNone/>
            </a:pPr>
            <a:r>
              <a:rPr lang="en-US" dirty="0"/>
              <a:t>   – Lower cost per function</a:t>
            </a:r>
          </a:p>
          <a:p>
            <a:pPr marL="0" indent="0">
              <a:buNone/>
            </a:pPr>
            <a:r>
              <a:rPr lang="en-US" dirty="0"/>
              <a:t>   – Improved energy efficiency</a:t>
            </a:r>
          </a:p>
          <a:p>
            <a:endParaRPr lang="en-US" dirty="0"/>
          </a:p>
        </p:txBody>
      </p:sp>
      <p:pic>
        <p:nvPicPr>
          <p:cNvPr id="1026" name="Picture 2">
            <a:extLst>
              <a:ext uri="{FF2B5EF4-FFF2-40B4-BE49-F238E27FC236}">
                <a16:creationId xmlns:a16="http://schemas.microsoft.com/office/drawing/2014/main" id="{D03BB162-EA38-40F9-A8F3-CDD7281EEF61}"/>
              </a:ext>
            </a:extLst>
          </p:cNvPr>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l="13941" r="16882"/>
          <a:stretch/>
        </p:blipFill>
        <p:spPr bwMode="auto">
          <a:xfrm>
            <a:off x="6702552" y="1904432"/>
            <a:ext cx="4828032" cy="3928347"/>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a:extLst>
              <a:ext uri="{FF2B5EF4-FFF2-40B4-BE49-F238E27FC236}">
                <a16:creationId xmlns:a16="http://schemas.microsoft.com/office/drawing/2014/main" id="{083D1F35-F520-4EDF-B476-F98A26F0FD56}"/>
              </a:ext>
            </a:extLst>
          </p:cNvPr>
          <p:cNvSpPr>
            <a:spLocks noGrp="1"/>
          </p:cNvSpPr>
          <p:nvPr>
            <p:ph type="ftr" sz="quarter" idx="11"/>
          </p:nvPr>
        </p:nvSpPr>
        <p:spPr/>
        <p:txBody>
          <a:bodyPr/>
          <a:lstStyle/>
          <a:p>
            <a:r>
              <a:rPr lang="en-US"/>
              <a:t>EEE 413</a:t>
            </a:r>
          </a:p>
        </p:txBody>
      </p:sp>
      <p:sp>
        <p:nvSpPr>
          <p:cNvPr id="5" name="Slide Number Placeholder 4">
            <a:extLst>
              <a:ext uri="{FF2B5EF4-FFF2-40B4-BE49-F238E27FC236}">
                <a16:creationId xmlns:a16="http://schemas.microsoft.com/office/drawing/2014/main" id="{D6C7C527-6D68-4195-AC48-C5396DCA2124}"/>
              </a:ext>
            </a:extLst>
          </p:cNvPr>
          <p:cNvSpPr>
            <a:spLocks noGrp="1"/>
          </p:cNvSpPr>
          <p:nvPr>
            <p:ph type="sldNum" sz="quarter" idx="12"/>
          </p:nvPr>
        </p:nvSpPr>
        <p:spPr/>
        <p:txBody>
          <a:bodyPr/>
          <a:lstStyle/>
          <a:p>
            <a:fld id="{B7F31ED2-E7D6-4EC4-9705-587D9B1FBC70}" type="slidenum">
              <a:rPr lang="en-US" smtClean="0"/>
              <a:t>3</a:t>
            </a:fld>
            <a:endParaRPr lang="en-US"/>
          </a:p>
        </p:txBody>
      </p:sp>
    </p:spTree>
    <p:extLst>
      <p:ext uri="{BB962C8B-B14F-4D97-AF65-F5344CB8AC3E}">
        <p14:creationId xmlns:p14="http://schemas.microsoft.com/office/powerpoint/2010/main" val="277430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9446-6340-419B-B890-CF1728D5ECAA}"/>
              </a:ext>
            </a:extLst>
          </p:cNvPr>
          <p:cNvSpPr>
            <a:spLocks noGrp="1"/>
          </p:cNvSpPr>
          <p:nvPr>
            <p:ph type="title"/>
          </p:nvPr>
        </p:nvSpPr>
        <p:spPr/>
        <p:txBody>
          <a:bodyPr/>
          <a:lstStyle/>
          <a:p>
            <a:r>
              <a:rPr lang="en-US" dirty="0"/>
              <a:t>The Moore’s Law: </a:t>
            </a:r>
          </a:p>
        </p:txBody>
      </p:sp>
      <p:sp>
        <p:nvSpPr>
          <p:cNvPr id="3" name="Content Placeholder 2">
            <a:extLst>
              <a:ext uri="{FF2B5EF4-FFF2-40B4-BE49-F238E27FC236}">
                <a16:creationId xmlns:a16="http://schemas.microsoft.com/office/drawing/2014/main" id="{34FDE583-A38C-4380-8A65-F55829A7496E}"/>
              </a:ext>
            </a:extLst>
          </p:cNvPr>
          <p:cNvSpPr>
            <a:spLocks noGrp="1"/>
          </p:cNvSpPr>
          <p:nvPr>
            <p:ph idx="1"/>
          </p:nvPr>
        </p:nvSpPr>
        <p:spPr>
          <a:xfrm>
            <a:off x="3740278" y="1764210"/>
            <a:ext cx="7815067" cy="2088007"/>
          </a:xfrm>
        </p:spPr>
        <p:txBody>
          <a:bodyPr/>
          <a:lstStyle/>
          <a:p>
            <a:pPr marL="0" indent="0">
              <a:buNone/>
            </a:pPr>
            <a:r>
              <a:rPr lang="en-US" dirty="0"/>
              <a:t>“</a:t>
            </a:r>
            <a:r>
              <a:rPr lang="en-US" i="1" dirty="0"/>
              <a:t>The number of transistors on a microchip doubles approximately every two years</a:t>
            </a:r>
            <a:r>
              <a:rPr lang="en-US" dirty="0"/>
              <a:t>[1]” – </a:t>
            </a:r>
            <a:r>
              <a:rPr lang="en-US" b="1" dirty="0"/>
              <a:t>Gordon Moore</a:t>
            </a:r>
            <a:endParaRPr lang="en-US" dirty="0"/>
          </a:p>
        </p:txBody>
      </p:sp>
      <p:sp>
        <p:nvSpPr>
          <p:cNvPr id="5" name="Footer Placeholder 4">
            <a:extLst>
              <a:ext uri="{FF2B5EF4-FFF2-40B4-BE49-F238E27FC236}">
                <a16:creationId xmlns:a16="http://schemas.microsoft.com/office/drawing/2014/main" id="{9FCD63BA-3FF4-4895-A4EA-7B94F4F9A968}"/>
              </a:ext>
            </a:extLst>
          </p:cNvPr>
          <p:cNvSpPr>
            <a:spLocks noGrp="1"/>
          </p:cNvSpPr>
          <p:nvPr>
            <p:ph type="ftr" sz="quarter" idx="11"/>
          </p:nvPr>
        </p:nvSpPr>
        <p:spPr/>
        <p:txBody>
          <a:bodyPr/>
          <a:lstStyle/>
          <a:p>
            <a:r>
              <a:rPr lang="en-US"/>
              <a:t>EEE 413</a:t>
            </a:r>
          </a:p>
        </p:txBody>
      </p:sp>
      <p:sp>
        <p:nvSpPr>
          <p:cNvPr id="4" name="Slide Number Placeholder 3">
            <a:extLst>
              <a:ext uri="{FF2B5EF4-FFF2-40B4-BE49-F238E27FC236}">
                <a16:creationId xmlns:a16="http://schemas.microsoft.com/office/drawing/2014/main" id="{3D7B222F-F628-48A5-A873-20DA4D01130B}"/>
              </a:ext>
            </a:extLst>
          </p:cNvPr>
          <p:cNvSpPr>
            <a:spLocks noGrp="1"/>
          </p:cNvSpPr>
          <p:nvPr>
            <p:ph type="sldNum" sz="quarter" idx="12"/>
          </p:nvPr>
        </p:nvSpPr>
        <p:spPr/>
        <p:txBody>
          <a:bodyPr/>
          <a:lstStyle/>
          <a:p>
            <a:fld id="{B7F31ED2-E7D6-4EC4-9705-587D9B1FBC70}" type="slidenum">
              <a:rPr lang="en-US" smtClean="0"/>
              <a:t>4</a:t>
            </a:fld>
            <a:endParaRPr lang="en-US"/>
          </a:p>
        </p:txBody>
      </p:sp>
      <p:pic>
        <p:nvPicPr>
          <p:cNvPr id="1026" name="Picture 2" descr="A person wearing glasses and smiling&#10;&#10;Description automatically generated">
            <a:extLst>
              <a:ext uri="{FF2B5EF4-FFF2-40B4-BE49-F238E27FC236}">
                <a16:creationId xmlns:a16="http://schemas.microsoft.com/office/drawing/2014/main" id="{F4A27F38-1CB8-40AF-B46B-C1B297125165}"/>
              </a:ext>
              <a:ext uri="{C183D7F6-B498-43B3-948B-1728B52AA6E4}">
                <adec:decorative xmlns:adec="http://schemas.microsoft.com/office/drawing/2017/decorative" val="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8560"/>
          <a:stretch/>
        </p:blipFill>
        <p:spPr bwMode="auto">
          <a:xfrm>
            <a:off x="838200" y="1764210"/>
            <a:ext cx="2432304" cy="291979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FC6DEED-D0EF-4991-830C-58ABC858C602}"/>
              </a:ext>
            </a:extLst>
          </p:cNvPr>
          <p:cNvSpPr txBox="1"/>
          <p:nvPr/>
        </p:nvSpPr>
        <p:spPr>
          <a:xfrm>
            <a:off x="761619" y="4757529"/>
            <a:ext cx="2896362" cy="923330"/>
          </a:xfrm>
          <a:prstGeom prst="rect">
            <a:avLst/>
          </a:prstGeom>
          <a:noFill/>
        </p:spPr>
        <p:txBody>
          <a:bodyPr wrap="square">
            <a:spAutoFit/>
          </a:bodyPr>
          <a:lstStyle/>
          <a:p>
            <a:r>
              <a:rPr lang="en-US" dirty="0"/>
              <a:t>Gordon Moore (1929-2023)</a:t>
            </a:r>
          </a:p>
          <a:p>
            <a:r>
              <a:rPr lang="en-US" dirty="0"/>
              <a:t>Co-founder @ Intel &amp; Fairchild Semiconductor</a:t>
            </a:r>
          </a:p>
        </p:txBody>
      </p:sp>
      <p:cxnSp>
        <p:nvCxnSpPr>
          <p:cNvPr id="7" name="Straight Connector 6">
            <a:extLst>
              <a:ext uri="{FF2B5EF4-FFF2-40B4-BE49-F238E27FC236}">
                <a16:creationId xmlns:a16="http://schemas.microsoft.com/office/drawing/2014/main" id="{D85B8176-29AE-4ACF-9F67-01C356A50DCF}"/>
              </a:ext>
            </a:extLst>
          </p:cNvPr>
          <p:cNvCxnSpPr>
            <a:cxnSpLocks/>
          </p:cNvCxnSpPr>
          <p:nvPr/>
        </p:nvCxnSpPr>
        <p:spPr>
          <a:xfrm>
            <a:off x="3668194" y="1764210"/>
            <a:ext cx="0" cy="822960"/>
          </a:xfrm>
          <a:prstGeom prst="line">
            <a:avLst/>
          </a:prstGeom>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4DD1FB86-8A82-4C0F-AE17-E7AA23995D7D}"/>
              </a:ext>
            </a:extLst>
          </p:cNvPr>
          <p:cNvSpPr txBox="1"/>
          <p:nvPr/>
        </p:nvSpPr>
        <p:spPr>
          <a:xfrm>
            <a:off x="3788663" y="2852253"/>
            <a:ext cx="7565137" cy="3170099"/>
          </a:xfrm>
          <a:prstGeom prst="rect">
            <a:avLst/>
          </a:prstGeom>
          <a:noFill/>
        </p:spPr>
        <p:txBody>
          <a:bodyPr wrap="square" rtlCol="0">
            <a:spAutoFit/>
          </a:bodyPr>
          <a:lstStyle/>
          <a:p>
            <a:pPr marL="285750" indent="-285750" algn="l">
              <a:buFont typeface="Wingdings" panose="05000000000000000000" pitchFamily="2" charset="2"/>
              <a:buChar char="q"/>
            </a:pPr>
            <a:r>
              <a:rPr lang="en-US" sz="2000" dirty="0"/>
              <a:t>Moore’s Law was first proposed by Gordon Moore in 1965.</a:t>
            </a:r>
          </a:p>
          <a:p>
            <a:pPr marL="285750" indent="-285750" algn="l">
              <a:buFont typeface="Wingdings" panose="05000000000000000000" pitchFamily="2" charset="2"/>
              <a:buChar char="q"/>
            </a:pPr>
            <a:r>
              <a:rPr lang="en-US" sz="2000" dirty="0"/>
              <a:t>Published in Electronics Magazine: “</a:t>
            </a:r>
            <a:r>
              <a:rPr lang="en-US" sz="2000" i="1" dirty="0"/>
              <a:t>Cramming More Components onto Integrated Circuits</a:t>
            </a:r>
            <a:r>
              <a:rPr lang="en-US" sz="2000" dirty="0"/>
              <a:t>”[2].</a:t>
            </a:r>
          </a:p>
          <a:p>
            <a:pPr marL="285750" indent="-285750" algn="l">
              <a:buFont typeface="Wingdings" panose="05000000000000000000" pitchFamily="2" charset="2"/>
              <a:buChar char="q"/>
            </a:pPr>
            <a:r>
              <a:rPr lang="en-US" sz="2000" dirty="0"/>
              <a:t>Moore observed that the number of components per chip had doubled approximately every year.</a:t>
            </a:r>
          </a:p>
          <a:p>
            <a:pPr marL="285750" indent="-285750" algn="l">
              <a:buFont typeface="Wingdings" panose="05000000000000000000" pitchFamily="2" charset="2"/>
              <a:buChar char="q"/>
            </a:pPr>
            <a:r>
              <a:rPr lang="en-US" sz="2000" dirty="0"/>
              <a:t>In 1975, this prediction was revised to doubling approximately every two years.</a:t>
            </a:r>
          </a:p>
          <a:p>
            <a:pPr marL="285750" indent="-285750" algn="l">
              <a:buFont typeface="Wingdings" panose="05000000000000000000" pitchFamily="2" charset="2"/>
              <a:buChar char="q"/>
            </a:pPr>
            <a:r>
              <a:rPr lang="en-US" sz="2000" dirty="0"/>
              <a:t>Moore thought that this trend will last for a decade. But it has guided semiconductor technology development for more than five decades[2].</a:t>
            </a:r>
          </a:p>
        </p:txBody>
      </p:sp>
    </p:spTree>
    <p:extLst>
      <p:ext uri="{BB962C8B-B14F-4D97-AF65-F5344CB8AC3E}">
        <p14:creationId xmlns:p14="http://schemas.microsoft.com/office/powerpoint/2010/main" val="2594246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F3E68-D0F3-43E4-8262-29F304964A78}"/>
              </a:ext>
            </a:extLst>
          </p:cNvPr>
          <p:cNvSpPr>
            <a:spLocks noGrp="1"/>
          </p:cNvSpPr>
          <p:nvPr>
            <p:ph type="ctrTitle"/>
          </p:nvPr>
        </p:nvSpPr>
        <p:spPr>
          <a:xfrm>
            <a:off x="1441704" y="439578"/>
            <a:ext cx="9144000" cy="861885"/>
          </a:xfrm>
        </p:spPr>
        <p:txBody>
          <a:bodyPr>
            <a:normAutofit/>
          </a:bodyPr>
          <a:lstStyle/>
          <a:p>
            <a:r>
              <a:rPr lang="en-US" sz="4400" dirty="0"/>
              <a:t>Moore’s Original Observation (1965)</a:t>
            </a:r>
          </a:p>
        </p:txBody>
      </p:sp>
      <p:sp>
        <p:nvSpPr>
          <p:cNvPr id="3" name="Subtitle 2">
            <a:extLst>
              <a:ext uri="{FF2B5EF4-FFF2-40B4-BE49-F238E27FC236}">
                <a16:creationId xmlns:a16="http://schemas.microsoft.com/office/drawing/2014/main" id="{84F540BE-EE2D-42E8-BEDE-E93F685D5F66}"/>
              </a:ext>
            </a:extLst>
          </p:cNvPr>
          <p:cNvSpPr>
            <a:spLocks noGrp="1"/>
          </p:cNvSpPr>
          <p:nvPr>
            <p:ph type="subTitle" idx="1"/>
          </p:nvPr>
        </p:nvSpPr>
        <p:spPr>
          <a:xfrm>
            <a:off x="561259" y="1931859"/>
            <a:ext cx="6349410" cy="4122293"/>
          </a:xfrm>
        </p:spPr>
        <p:txBody>
          <a:bodyPr>
            <a:noAutofit/>
          </a:bodyPr>
          <a:lstStyle/>
          <a:p>
            <a:pPr marL="342900" indent="-342900" algn="l">
              <a:buFont typeface="Wingdings" panose="05000000000000000000" pitchFamily="2" charset="2"/>
              <a:buChar char="q"/>
            </a:pPr>
            <a:r>
              <a:rPr lang="en-US" sz="2000" dirty="0"/>
              <a:t>As manufacturing technology improves, smaller transistors can be fabricated[2].</a:t>
            </a:r>
          </a:p>
          <a:p>
            <a:pPr marL="342900" indent="-342900" algn="l">
              <a:buFont typeface="Wingdings" panose="05000000000000000000" pitchFamily="2" charset="2"/>
              <a:buChar char="q"/>
            </a:pPr>
            <a:r>
              <a:rPr lang="en-US" sz="2000" dirty="0"/>
              <a:t>Smaller devices allow more components on the same chip area.</a:t>
            </a:r>
          </a:p>
          <a:p>
            <a:pPr marL="342900" indent="-342900" algn="l">
              <a:buFont typeface="Wingdings" panose="05000000000000000000" pitchFamily="2" charset="2"/>
              <a:buChar char="q"/>
            </a:pPr>
            <a:r>
              <a:rPr lang="en-US" sz="2000" dirty="0"/>
              <a:t>Moore showed that cost per component decreases when more components are integrated on one chip.</a:t>
            </a:r>
          </a:p>
          <a:p>
            <a:pPr marL="342900" indent="-342900" algn="l">
              <a:buFont typeface="Wingdings" panose="05000000000000000000" pitchFamily="2" charset="2"/>
              <a:buChar char="q"/>
            </a:pPr>
            <a:r>
              <a:rPr lang="en-US" sz="2000" dirty="0"/>
              <a:t>There exists an optimal complexity point where the cost per function becomes minimum[2].</a:t>
            </a:r>
          </a:p>
          <a:p>
            <a:pPr marL="342900" indent="-342900" algn="l">
              <a:buFont typeface="Wingdings" panose="05000000000000000000" pitchFamily="2" charset="2"/>
              <a:buChar char="q"/>
            </a:pPr>
            <a:r>
              <a:rPr lang="en-US" sz="2000" dirty="0"/>
              <a:t>Based on historical data and manufacturing trends, Moore predicted that the number of components per chip would double roughly every year[2].</a:t>
            </a:r>
          </a:p>
        </p:txBody>
      </p:sp>
      <p:sp>
        <p:nvSpPr>
          <p:cNvPr id="6" name="Footer Placeholder 5">
            <a:extLst>
              <a:ext uri="{FF2B5EF4-FFF2-40B4-BE49-F238E27FC236}">
                <a16:creationId xmlns:a16="http://schemas.microsoft.com/office/drawing/2014/main" id="{7ED47E49-03C2-40D4-87D9-6CD75AA7932C}"/>
              </a:ext>
            </a:extLst>
          </p:cNvPr>
          <p:cNvSpPr>
            <a:spLocks noGrp="1"/>
          </p:cNvSpPr>
          <p:nvPr>
            <p:ph type="ftr" sz="quarter" idx="11"/>
          </p:nvPr>
        </p:nvSpPr>
        <p:spPr/>
        <p:txBody>
          <a:bodyPr/>
          <a:lstStyle/>
          <a:p>
            <a:r>
              <a:rPr lang="en-US"/>
              <a:t>EEE 413</a:t>
            </a:r>
          </a:p>
        </p:txBody>
      </p:sp>
      <p:sp>
        <p:nvSpPr>
          <p:cNvPr id="4" name="Slide Number Placeholder 3">
            <a:extLst>
              <a:ext uri="{FF2B5EF4-FFF2-40B4-BE49-F238E27FC236}">
                <a16:creationId xmlns:a16="http://schemas.microsoft.com/office/drawing/2014/main" id="{FD6E956F-632B-42DE-81EC-0C1A1AE03080}"/>
              </a:ext>
            </a:extLst>
          </p:cNvPr>
          <p:cNvSpPr>
            <a:spLocks noGrp="1"/>
          </p:cNvSpPr>
          <p:nvPr>
            <p:ph type="sldNum" sz="quarter" idx="12"/>
          </p:nvPr>
        </p:nvSpPr>
        <p:spPr/>
        <p:txBody>
          <a:bodyPr/>
          <a:lstStyle/>
          <a:p>
            <a:fld id="{B7F31ED2-E7D6-4EC4-9705-587D9B1FBC70}" type="slidenum">
              <a:rPr lang="en-US" smtClean="0"/>
              <a:t>5</a:t>
            </a:fld>
            <a:endParaRPr lang="en-US"/>
          </a:p>
        </p:txBody>
      </p:sp>
      <p:pic>
        <p:nvPicPr>
          <p:cNvPr id="5" name="Picture 4">
            <a:extLst>
              <a:ext uri="{FF2B5EF4-FFF2-40B4-BE49-F238E27FC236}">
                <a16:creationId xmlns:a16="http://schemas.microsoft.com/office/drawing/2014/main" id="{98C829DD-0C2C-48D8-A7F4-23E92D3C53D2}"/>
              </a:ext>
            </a:extLst>
          </p:cNvPr>
          <p:cNvPicPr>
            <a:picLocks noChangeAspect="1"/>
          </p:cNvPicPr>
          <p:nvPr/>
        </p:nvPicPr>
        <p:blipFill>
          <a:blip r:embed="rId2"/>
          <a:stretch>
            <a:fillRect/>
          </a:stretch>
        </p:blipFill>
        <p:spPr>
          <a:xfrm>
            <a:off x="6829339" y="1737739"/>
            <a:ext cx="5362661" cy="4014216"/>
          </a:xfrm>
          <a:prstGeom prst="rect">
            <a:avLst/>
          </a:prstGeom>
        </p:spPr>
      </p:pic>
    </p:spTree>
    <p:extLst>
      <p:ext uri="{BB962C8B-B14F-4D97-AF65-F5344CB8AC3E}">
        <p14:creationId xmlns:p14="http://schemas.microsoft.com/office/powerpoint/2010/main" val="2904094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2AC14-538F-4D09-B3DB-A5042AD3CD0B}"/>
              </a:ext>
            </a:extLst>
          </p:cNvPr>
          <p:cNvSpPr>
            <a:spLocks noGrp="1"/>
          </p:cNvSpPr>
          <p:nvPr>
            <p:ph type="title"/>
          </p:nvPr>
        </p:nvSpPr>
        <p:spPr>
          <a:xfrm>
            <a:off x="874776" y="-498348"/>
            <a:ext cx="10479024" cy="1600200"/>
          </a:xfrm>
        </p:spPr>
        <p:txBody>
          <a:bodyPr>
            <a:normAutofit/>
          </a:bodyPr>
          <a:lstStyle/>
          <a:p>
            <a:r>
              <a:rPr lang="en-US" sz="4000" dirty="0"/>
              <a:t>Moore’s Law and Transistor count over the years.</a:t>
            </a:r>
          </a:p>
        </p:txBody>
      </p:sp>
      <p:sp>
        <p:nvSpPr>
          <p:cNvPr id="4" name="Text Placeholder 3">
            <a:extLst>
              <a:ext uri="{FF2B5EF4-FFF2-40B4-BE49-F238E27FC236}">
                <a16:creationId xmlns:a16="http://schemas.microsoft.com/office/drawing/2014/main" id="{29E8B893-65A1-4AB8-A702-3CA6F03A3C05}"/>
              </a:ext>
            </a:extLst>
          </p:cNvPr>
          <p:cNvSpPr>
            <a:spLocks noGrp="1"/>
          </p:cNvSpPr>
          <p:nvPr>
            <p:ph type="body" sz="half" idx="2"/>
          </p:nvPr>
        </p:nvSpPr>
        <p:spPr>
          <a:xfrm>
            <a:off x="557784" y="5257800"/>
            <a:ext cx="10479024" cy="1298448"/>
          </a:xfrm>
        </p:spPr>
        <p:txBody>
          <a:bodyPr>
            <a:normAutofit/>
          </a:bodyPr>
          <a:lstStyle/>
          <a:p>
            <a:r>
              <a:rPr lang="en-US" sz="2000" dirty="0"/>
              <a:t>Moore’s Law predicts exponential growth in the number of transistors per chip.</a:t>
            </a:r>
          </a:p>
          <a:p>
            <a:r>
              <a:rPr lang="en-US" sz="2000" dirty="0"/>
              <a:t>When plotted on a logarithmic scale, the trend appears approximately linear.</a:t>
            </a:r>
          </a:p>
          <a:p>
            <a:r>
              <a:rPr lang="en-US" sz="2000" dirty="0"/>
              <a:t>This demonstrates that transistor density has doubled roughly every two years for several decades.</a:t>
            </a:r>
          </a:p>
        </p:txBody>
      </p:sp>
      <p:sp>
        <p:nvSpPr>
          <p:cNvPr id="5" name="Footer Placeholder 4">
            <a:extLst>
              <a:ext uri="{FF2B5EF4-FFF2-40B4-BE49-F238E27FC236}">
                <a16:creationId xmlns:a16="http://schemas.microsoft.com/office/drawing/2014/main" id="{44C01C51-F81F-4FFC-AA98-FF087A912406}"/>
              </a:ext>
            </a:extLst>
          </p:cNvPr>
          <p:cNvSpPr>
            <a:spLocks noGrp="1"/>
          </p:cNvSpPr>
          <p:nvPr>
            <p:ph type="ftr" sz="quarter" idx="11"/>
          </p:nvPr>
        </p:nvSpPr>
        <p:spPr/>
        <p:txBody>
          <a:bodyPr/>
          <a:lstStyle/>
          <a:p>
            <a:r>
              <a:rPr lang="en-US"/>
              <a:t>EEE 413</a:t>
            </a:r>
          </a:p>
        </p:txBody>
      </p:sp>
      <p:sp>
        <p:nvSpPr>
          <p:cNvPr id="3" name="Slide Number Placeholder 2">
            <a:extLst>
              <a:ext uri="{FF2B5EF4-FFF2-40B4-BE49-F238E27FC236}">
                <a16:creationId xmlns:a16="http://schemas.microsoft.com/office/drawing/2014/main" id="{11AB5AB2-2636-46D5-B6EA-D4489BF6C64C}"/>
              </a:ext>
            </a:extLst>
          </p:cNvPr>
          <p:cNvSpPr>
            <a:spLocks noGrp="1"/>
          </p:cNvSpPr>
          <p:nvPr>
            <p:ph type="sldNum" sz="quarter" idx="12"/>
          </p:nvPr>
        </p:nvSpPr>
        <p:spPr/>
        <p:txBody>
          <a:bodyPr/>
          <a:lstStyle/>
          <a:p>
            <a:fld id="{B7F31ED2-E7D6-4EC4-9705-587D9B1FBC70}" type="slidenum">
              <a:rPr lang="en-US" smtClean="0"/>
              <a:t>6</a:t>
            </a:fld>
            <a:endParaRPr lang="en-US"/>
          </a:p>
        </p:txBody>
      </p:sp>
      <p:pic>
        <p:nvPicPr>
          <p:cNvPr id="2050" name="Picture 2" descr="Moore's Law And The Exponential Growth Of Technology | Electrical4U">
            <a:extLst>
              <a:ext uri="{FF2B5EF4-FFF2-40B4-BE49-F238E27FC236}">
                <a16:creationId xmlns:a16="http://schemas.microsoft.com/office/drawing/2014/main" id="{EA20326D-8AD3-4B67-9710-7518EB981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5184" y="1158240"/>
            <a:ext cx="641223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440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50A35-C5FA-457A-825F-C6BB12857207}"/>
              </a:ext>
            </a:extLst>
          </p:cNvPr>
          <p:cNvSpPr>
            <a:spLocks noGrp="1"/>
          </p:cNvSpPr>
          <p:nvPr>
            <p:ph type="title"/>
          </p:nvPr>
        </p:nvSpPr>
        <p:spPr/>
        <p:txBody>
          <a:bodyPr/>
          <a:lstStyle/>
          <a:p>
            <a:r>
              <a:rPr lang="en-US" dirty="0"/>
              <a:t>Key Innovations That Sustained Moore’s Law</a:t>
            </a:r>
          </a:p>
        </p:txBody>
      </p:sp>
      <p:sp>
        <p:nvSpPr>
          <p:cNvPr id="3" name="Content Placeholder 2">
            <a:extLst>
              <a:ext uri="{FF2B5EF4-FFF2-40B4-BE49-F238E27FC236}">
                <a16:creationId xmlns:a16="http://schemas.microsoft.com/office/drawing/2014/main" id="{6AF42503-262E-4D00-88E2-574C28DE583D}"/>
              </a:ext>
            </a:extLst>
          </p:cNvPr>
          <p:cNvSpPr>
            <a:spLocks noGrp="1"/>
          </p:cNvSpPr>
          <p:nvPr>
            <p:ph idx="1"/>
          </p:nvPr>
        </p:nvSpPr>
        <p:spPr>
          <a:xfrm>
            <a:off x="838200" y="1619149"/>
            <a:ext cx="10931013" cy="1074890"/>
          </a:xfrm>
        </p:spPr>
        <p:txBody>
          <a:bodyPr>
            <a:normAutofit/>
          </a:bodyPr>
          <a:lstStyle/>
          <a:p>
            <a:pPr marL="0" indent="0">
              <a:buNone/>
            </a:pPr>
            <a:r>
              <a:rPr lang="en-US" sz="2400" dirty="0"/>
              <a:t>Continuous improvements in semiconductor fabrication enabled Moore’s Law for several decades.</a:t>
            </a:r>
          </a:p>
        </p:txBody>
      </p:sp>
      <p:sp>
        <p:nvSpPr>
          <p:cNvPr id="5" name="Footer Placeholder 4">
            <a:extLst>
              <a:ext uri="{FF2B5EF4-FFF2-40B4-BE49-F238E27FC236}">
                <a16:creationId xmlns:a16="http://schemas.microsoft.com/office/drawing/2014/main" id="{B52C142E-C281-4C5B-B1DA-44435E7AC9F5}"/>
              </a:ext>
            </a:extLst>
          </p:cNvPr>
          <p:cNvSpPr>
            <a:spLocks noGrp="1"/>
          </p:cNvSpPr>
          <p:nvPr>
            <p:ph type="ftr" sz="quarter" idx="11"/>
          </p:nvPr>
        </p:nvSpPr>
        <p:spPr/>
        <p:txBody>
          <a:bodyPr/>
          <a:lstStyle/>
          <a:p>
            <a:r>
              <a:rPr lang="en-US"/>
              <a:t>EEE 413</a:t>
            </a:r>
          </a:p>
        </p:txBody>
      </p:sp>
      <p:sp>
        <p:nvSpPr>
          <p:cNvPr id="4" name="Slide Number Placeholder 3">
            <a:extLst>
              <a:ext uri="{FF2B5EF4-FFF2-40B4-BE49-F238E27FC236}">
                <a16:creationId xmlns:a16="http://schemas.microsoft.com/office/drawing/2014/main" id="{F72A401E-CAAC-46E1-9E46-3C0ACD608E1D}"/>
              </a:ext>
            </a:extLst>
          </p:cNvPr>
          <p:cNvSpPr>
            <a:spLocks noGrp="1"/>
          </p:cNvSpPr>
          <p:nvPr>
            <p:ph type="sldNum" sz="quarter" idx="12"/>
          </p:nvPr>
        </p:nvSpPr>
        <p:spPr/>
        <p:txBody>
          <a:bodyPr/>
          <a:lstStyle/>
          <a:p>
            <a:fld id="{B7F31ED2-E7D6-4EC4-9705-587D9B1FBC70}" type="slidenum">
              <a:rPr lang="en-US" smtClean="0"/>
              <a:t>7</a:t>
            </a:fld>
            <a:endParaRPr lang="en-US"/>
          </a:p>
        </p:txBody>
      </p:sp>
      <p:pic>
        <p:nvPicPr>
          <p:cNvPr id="5122" name="Picture 2" descr="Intel patent suggests 'stacked forksheet transistors' could enable ...">
            <a:extLst>
              <a:ext uri="{FF2B5EF4-FFF2-40B4-BE49-F238E27FC236}">
                <a16:creationId xmlns:a16="http://schemas.microsoft.com/office/drawing/2014/main" id="{23219522-FA81-461E-81B0-8BB04E899B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 r="169" b="10800"/>
          <a:stretch/>
        </p:blipFill>
        <p:spPr bwMode="auto">
          <a:xfrm>
            <a:off x="2310581" y="2377384"/>
            <a:ext cx="7983793" cy="3978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870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A0D82-9A9A-4FF8-9E6C-610DA74E5947}"/>
              </a:ext>
            </a:extLst>
          </p:cNvPr>
          <p:cNvSpPr>
            <a:spLocks noGrp="1"/>
          </p:cNvSpPr>
          <p:nvPr>
            <p:ph type="title"/>
          </p:nvPr>
        </p:nvSpPr>
        <p:spPr/>
        <p:txBody>
          <a:bodyPr/>
          <a:lstStyle/>
          <a:p>
            <a:r>
              <a:rPr lang="en-US" dirty="0"/>
              <a:t>Is Moore’s Law Still Valid Today?</a:t>
            </a:r>
          </a:p>
        </p:txBody>
      </p:sp>
      <p:sp>
        <p:nvSpPr>
          <p:cNvPr id="4" name="Footer Placeholder 3">
            <a:extLst>
              <a:ext uri="{FF2B5EF4-FFF2-40B4-BE49-F238E27FC236}">
                <a16:creationId xmlns:a16="http://schemas.microsoft.com/office/drawing/2014/main" id="{6BF05AD4-4FF3-4AB6-8A3A-0ED1F99C987E}"/>
              </a:ext>
            </a:extLst>
          </p:cNvPr>
          <p:cNvSpPr>
            <a:spLocks noGrp="1"/>
          </p:cNvSpPr>
          <p:nvPr>
            <p:ph type="ftr" sz="quarter" idx="11"/>
          </p:nvPr>
        </p:nvSpPr>
        <p:spPr/>
        <p:txBody>
          <a:bodyPr/>
          <a:lstStyle/>
          <a:p>
            <a:r>
              <a:rPr lang="en-US"/>
              <a:t>EEE 413</a:t>
            </a:r>
          </a:p>
        </p:txBody>
      </p:sp>
      <p:sp>
        <p:nvSpPr>
          <p:cNvPr id="3" name="Slide Number Placeholder 2">
            <a:extLst>
              <a:ext uri="{FF2B5EF4-FFF2-40B4-BE49-F238E27FC236}">
                <a16:creationId xmlns:a16="http://schemas.microsoft.com/office/drawing/2014/main" id="{8A592F06-26B9-4C90-A623-CC536AD69F77}"/>
              </a:ext>
            </a:extLst>
          </p:cNvPr>
          <p:cNvSpPr>
            <a:spLocks noGrp="1"/>
          </p:cNvSpPr>
          <p:nvPr>
            <p:ph type="sldNum" sz="quarter" idx="12"/>
          </p:nvPr>
        </p:nvSpPr>
        <p:spPr/>
        <p:txBody>
          <a:bodyPr/>
          <a:lstStyle/>
          <a:p>
            <a:fld id="{B7F31ED2-E7D6-4EC4-9705-587D9B1FBC70}" type="slidenum">
              <a:rPr lang="en-US" smtClean="0"/>
              <a:t>8</a:t>
            </a:fld>
            <a:endParaRPr lang="en-US"/>
          </a:p>
        </p:txBody>
      </p:sp>
      <p:sp>
        <p:nvSpPr>
          <p:cNvPr id="6" name="TextBox 5">
            <a:extLst>
              <a:ext uri="{FF2B5EF4-FFF2-40B4-BE49-F238E27FC236}">
                <a16:creationId xmlns:a16="http://schemas.microsoft.com/office/drawing/2014/main" id="{D1EADBB0-CAE6-40BD-BFFF-3DA6E2DB1175}"/>
              </a:ext>
            </a:extLst>
          </p:cNvPr>
          <p:cNvSpPr txBox="1"/>
          <p:nvPr/>
        </p:nvSpPr>
        <p:spPr>
          <a:xfrm>
            <a:off x="1017270" y="1803136"/>
            <a:ext cx="10103014" cy="3785652"/>
          </a:xfrm>
          <a:prstGeom prst="rect">
            <a:avLst/>
          </a:prstGeom>
          <a:noFill/>
        </p:spPr>
        <p:txBody>
          <a:bodyPr wrap="square">
            <a:spAutoFit/>
          </a:bodyPr>
          <a:lstStyle/>
          <a:p>
            <a:r>
              <a:rPr lang="en-US" sz="2400" dirty="0"/>
              <a:t>Moore’s Law remained accurate for nearly five decades.</a:t>
            </a:r>
          </a:p>
          <a:p>
            <a:endParaRPr lang="en-US" sz="2400" dirty="0"/>
          </a:p>
          <a:p>
            <a:r>
              <a:rPr lang="en-US" sz="2400" dirty="0"/>
              <a:t>However, transistor scaling is becoming increasingly difficult.</a:t>
            </a:r>
          </a:p>
          <a:p>
            <a:endParaRPr lang="en-US" sz="2400" dirty="0"/>
          </a:p>
          <a:p>
            <a:r>
              <a:rPr lang="en-US" sz="2400" b="1" dirty="0"/>
              <a:t>Physical limits:</a:t>
            </a:r>
            <a:r>
              <a:rPr lang="en-US" sz="2400" dirty="0"/>
              <a:t> quantum tunneling, heat dissipation, and power density[3].</a:t>
            </a:r>
          </a:p>
          <a:p>
            <a:endParaRPr lang="en-US" sz="2400" dirty="0"/>
          </a:p>
          <a:p>
            <a:r>
              <a:rPr lang="en-US" sz="2400" b="1" dirty="0"/>
              <a:t>Economic limits:</a:t>
            </a:r>
            <a:r>
              <a:rPr lang="en-US" sz="2400" dirty="0"/>
              <a:t> extremely high fabrication costs[3].</a:t>
            </a:r>
          </a:p>
          <a:p>
            <a:endParaRPr lang="en-US" sz="2400" dirty="0"/>
          </a:p>
          <a:p>
            <a:r>
              <a:rPr lang="en-US" sz="2400" dirty="0"/>
              <a:t>Today, performance improvements increasingly rely on new architectures such as parallel processing and specialized accelerators.</a:t>
            </a:r>
          </a:p>
        </p:txBody>
      </p:sp>
    </p:spTree>
    <p:extLst>
      <p:ext uri="{BB962C8B-B14F-4D97-AF65-F5344CB8AC3E}">
        <p14:creationId xmlns:p14="http://schemas.microsoft.com/office/powerpoint/2010/main" val="3055863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96514-9122-40C5-A89C-D9BF852B59E6}"/>
              </a:ext>
            </a:extLst>
          </p:cNvPr>
          <p:cNvSpPr>
            <a:spLocks noGrp="1"/>
          </p:cNvSpPr>
          <p:nvPr>
            <p:ph type="title"/>
          </p:nvPr>
        </p:nvSpPr>
        <p:spPr>
          <a:xfrm>
            <a:off x="838200" y="337693"/>
            <a:ext cx="10515600" cy="1325563"/>
          </a:xfrm>
        </p:spPr>
        <p:txBody>
          <a:bodyPr/>
          <a:lstStyle/>
          <a:p>
            <a:r>
              <a:rPr lang="en-US" dirty="0"/>
              <a:t>The Challenge of Scaling Transistors</a:t>
            </a:r>
          </a:p>
        </p:txBody>
      </p:sp>
      <p:sp>
        <p:nvSpPr>
          <p:cNvPr id="9" name="Footer Placeholder 8">
            <a:extLst>
              <a:ext uri="{FF2B5EF4-FFF2-40B4-BE49-F238E27FC236}">
                <a16:creationId xmlns:a16="http://schemas.microsoft.com/office/drawing/2014/main" id="{A480CAE0-EEDC-4BC5-AB4A-CF4C487E0CAB}"/>
              </a:ext>
            </a:extLst>
          </p:cNvPr>
          <p:cNvSpPr>
            <a:spLocks noGrp="1"/>
          </p:cNvSpPr>
          <p:nvPr>
            <p:ph type="ftr" sz="quarter" idx="11"/>
          </p:nvPr>
        </p:nvSpPr>
        <p:spPr/>
        <p:txBody>
          <a:bodyPr/>
          <a:lstStyle/>
          <a:p>
            <a:r>
              <a:rPr lang="en-US"/>
              <a:t>EEE 413</a:t>
            </a:r>
          </a:p>
        </p:txBody>
      </p:sp>
      <p:sp>
        <p:nvSpPr>
          <p:cNvPr id="5" name="Slide Number Placeholder 4">
            <a:extLst>
              <a:ext uri="{FF2B5EF4-FFF2-40B4-BE49-F238E27FC236}">
                <a16:creationId xmlns:a16="http://schemas.microsoft.com/office/drawing/2014/main" id="{33EC9E22-0E70-4340-A619-9A69E8D37A5E}"/>
              </a:ext>
            </a:extLst>
          </p:cNvPr>
          <p:cNvSpPr>
            <a:spLocks noGrp="1"/>
          </p:cNvSpPr>
          <p:nvPr>
            <p:ph type="sldNum" sz="quarter" idx="12"/>
          </p:nvPr>
        </p:nvSpPr>
        <p:spPr/>
        <p:txBody>
          <a:bodyPr/>
          <a:lstStyle/>
          <a:p>
            <a:fld id="{B7F31ED2-E7D6-4EC4-9705-587D9B1FBC70}" type="slidenum">
              <a:rPr lang="en-US" smtClean="0"/>
              <a:t>9</a:t>
            </a:fld>
            <a:endParaRPr lang="en-US"/>
          </a:p>
        </p:txBody>
      </p:sp>
      <p:sp>
        <p:nvSpPr>
          <p:cNvPr id="6" name="TextBox 5">
            <a:extLst>
              <a:ext uri="{FF2B5EF4-FFF2-40B4-BE49-F238E27FC236}">
                <a16:creationId xmlns:a16="http://schemas.microsoft.com/office/drawing/2014/main" id="{74803E98-6463-49B3-B54A-D8360EE43C3F}"/>
              </a:ext>
            </a:extLst>
          </p:cNvPr>
          <p:cNvSpPr txBox="1"/>
          <p:nvPr/>
        </p:nvSpPr>
        <p:spPr>
          <a:xfrm>
            <a:off x="838200" y="1690688"/>
            <a:ext cx="9549384" cy="707886"/>
          </a:xfrm>
          <a:prstGeom prst="rect">
            <a:avLst/>
          </a:prstGeom>
          <a:noFill/>
        </p:spPr>
        <p:txBody>
          <a:bodyPr wrap="square">
            <a:spAutoFit/>
          </a:bodyPr>
          <a:lstStyle/>
          <a:p>
            <a:r>
              <a:rPr lang="en-US" sz="2000" dirty="0"/>
              <a:t>Moore’s Law encouraged continuous scaling down of transistor to place more devices on a single chip.</a:t>
            </a:r>
          </a:p>
        </p:txBody>
      </p:sp>
      <p:pic>
        <p:nvPicPr>
          <p:cNvPr id="10242" name="Picture 2" descr="Scaling of CMOS and its Issues - Florisera">
            <a:extLst>
              <a:ext uri="{FF2B5EF4-FFF2-40B4-BE49-F238E27FC236}">
                <a16:creationId xmlns:a16="http://schemas.microsoft.com/office/drawing/2014/main" id="{A671516E-6CDB-4328-A540-784A56A168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530" b="24102"/>
          <a:stretch/>
        </p:blipFill>
        <p:spPr bwMode="auto">
          <a:xfrm>
            <a:off x="950976" y="2885347"/>
            <a:ext cx="5221224" cy="248739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82C2C6-7581-4E15-A30A-2C5BCF49DB5D}"/>
              </a:ext>
            </a:extLst>
          </p:cNvPr>
          <p:cNvSpPr txBox="1"/>
          <p:nvPr/>
        </p:nvSpPr>
        <p:spPr>
          <a:xfrm>
            <a:off x="6537960" y="3016251"/>
            <a:ext cx="5285232" cy="2246769"/>
          </a:xfrm>
          <a:prstGeom prst="rect">
            <a:avLst/>
          </a:prstGeom>
          <a:noFill/>
        </p:spPr>
        <p:txBody>
          <a:bodyPr wrap="square">
            <a:spAutoFit/>
          </a:bodyPr>
          <a:lstStyle/>
          <a:p>
            <a:r>
              <a:rPr lang="en-US" sz="2000" dirty="0"/>
              <a:t>However, simply shrinking transistor dimensions raises important physical challenges.</a:t>
            </a:r>
          </a:p>
          <a:p>
            <a:endParaRPr lang="en-US" sz="2000" dirty="0"/>
          </a:p>
          <a:p>
            <a:r>
              <a:rPr lang="en-US" sz="2000" dirty="0"/>
              <a:t>For example:</a:t>
            </a:r>
          </a:p>
          <a:p>
            <a:r>
              <a:rPr lang="en-US" sz="2000" dirty="0"/>
              <a:t>- Electric fields may increase</a:t>
            </a:r>
          </a:p>
          <a:p>
            <a:r>
              <a:rPr lang="en-US" sz="2000" dirty="0"/>
              <a:t>- Power may increase</a:t>
            </a:r>
          </a:p>
          <a:p>
            <a:r>
              <a:rPr lang="en-US" sz="2000" dirty="0"/>
              <a:t>- Device may break down</a:t>
            </a:r>
          </a:p>
        </p:txBody>
      </p:sp>
      <p:sp>
        <p:nvSpPr>
          <p:cNvPr id="8" name="TextBox 7">
            <a:extLst>
              <a:ext uri="{FF2B5EF4-FFF2-40B4-BE49-F238E27FC236}">
                <a16:creationId xmlns:a16="http://schemas.microsoft.com/office/drawing/2014/main" id="{16B454EA-8AB1-4634-AD05-7D9B0842AB3B}"/>
              </a:ext>
            </a:extLst>
          </p:cNvPr>
          <p:cNvSpPr txBox="1"/>
          <p:nvPr/>
        </p:nvSpPr>
        <p:spPr>
          <a:xfrm>
            <a:off x="950976" y="5682637"/>
            <a:ext cx="10076688" cy="646331"/>
          </a:xfrm>
          <a:prstGeom prst="rect">
            <a:avLst/>
          </a:prstGeom>
          <a:noFill/>
        </p:spPr>
        <p:txBody>
          <a:bodyPr wrap="square">
            <a:spAutoFit/>
          </a:bodyPr>
          <a:lstStyle/>
          <a:p>
            <a:r>
              <a:rPr lang="en-US" sz="1800" dirty="0"/>
              <a:t>Engineers needed a scaling approach that would allow smaller transistors while maintaining proper operation.</a:t>
            </a:r>
          </a:p>
        </p:txBody>
      </p:sp>
    </p:spTree>
    <p:extLst>
      <p:ext uri="{BB962C8B-B14F-4D97-AF65-F5344CB8AC3E}">
        <p14:creationId xmlns:p14="http://schemas.microsoft.com/office/powerpoint/2010/main" val="1518442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A0F3-AF82-4723-AAB5-9DE387C5BCAC}"/>
              </a:ext>
            </a:extLst>
          </p:cNvPr>
          <p:cNvSpPr>
            <a:spLocks noGrp="1"/>
          </p:cNvSpPr>
          <p:nvPr>
            <p:ph type="title"/>
          </p:nvPr>
        </p:nvSpPr>
        <p:spPr/>
        <p:txBody>
          <a:bodyPr/>
          <a:lstStyle/>
          <a:p>
            <a:r>
              <a:rPr lang="en-US" dirty="0"/>
              <a:t>Dennard’s Law (Dennard Scaling)</a:t>
            </a:r>
          </a:p>
        </p:txBody>
      </p:sp>
      <p:sp>
        <p:nvSpPr>
          <p:cNvPr id="3" name="Content Placeholder 2">
            <a:extLst>
              <a:ext uri="{FF2B5EF4-FFF2-40B4-BE49-F238E27FC236}">
                <a16:creationId xmlns:a16="http://schemas.microsoft.com/office/drawing/2014/main" id="{4E98049F-4A71-4902-934E-FDE9BF204AC2}"/>
              </a:ext>
            </a:extLst>
          </p:cNvPr>
          <p:cNvSpPr>
            <a:spLocks noGrp="1"/>
          </p:cNvSpPr>
          <p:nvPr>
            <p:ph idx="1"/>
          </p:nvPr>
        </p:nvSpPr>
        <p:spPr>
          <a:xfrm>
            <a:off x="838200" y="2026793"/>
            <a:ext cx="6870192" cy="3395599"/>
          </a:xfrm>
        </p:spPr>
        <p:txBody>
          <a:bodyPr>
            <a:normAutofit fontScale="77500" lnSpcReduction="20000"/>
          </a:bodyPr>
          <a:lstStyle/>
          <a:p>
            <a:pPr marL="0" indent="0">
              <a:buNone/>
            </a:pPr>
            <a:r>
              <a:rPr lang="en-US" dirty="0"/>
              <a:t>Dennard’s Law was proposed by Robert Dennard in 1974.</a:t>
            </a:r>
          </a:p>
          <a:p>
            <a:pPr marL="0" indent="0">
              <a:buNone/>
            </a:pPr>
            <a:endParaRPr lang="en-US" dirty="0"/>
          </a:p>
          <a:p>
            <a:pPr marL="0" indent="0">
              <a:buNone/>
            </a:pPr>
            <a:r>
              <a:rPr lang="en-US" dirty="0"/>
              <a:t>It states that when transistor dimensions scale down,</a:t>
            </a:r>
          </a:p>
          <a:p>
            <a:pPr marL="0" indent="0">
              <a:buNone/>
            </a:pPr>
            <a:r>
              <a:rPr lang="en-US" dirty="0"/>
              <a:t>voltage and current should also scale proportionally[4].</a:t>
            </a:r>
          </a:p>
          <a:p>
            <a:pPr marL="0" indent="0">
              <a:buNone/>
            </a:pPr>
            <a:endParaRPr lang="en-US" dirty="0"/>
          </a:p>
          <a:p>
            <a:pPr marL="0" indent="0">
              <a:buNone/>
            </a:pPr>
            <a:r>
              <a:rPr lang="en-US" dirty="0"/>
              <a:t>As a result, power density remains approximately constant[4].</a:t>
            </a:r>
          </a:p>
          <a:p>
            <a:pPr marL="0" indent="0">
              <a:buNone/>
            </a:pPr>
            <a:endParaRPr lang="en-US" dirty="0"/>
          </a:p>
          <a:p>
            <a:pPr marL="0" indent="0">
              <a:buNone/>
            </a:pPr>
            <a:r>
              <a:rPr lang="en-US" dirty="0"/>
              <a:t>This allowed chips to become faster without increasing power consumption.</a:t>
            </a:r>
          </a:p>
          <a:p>
            <a:pPr marL="0" indent="0">
              <a:buNone/>
            </a:pPr>
            <a:endParaRPr lang="en-US" dirty="0"/>
          </a:p>
        </p:txBody>
      </p:sp>
      <p:sp>
        <p:nvSpPr>
          <p:cNvPr id="6" name="Footer Placeholder 5">
            <a:extLst>
              <a:ext uri="{FF2B5EF4-FFF2-40B4-BE49-F238E27FC236}">
                <a16:creationId xmlns:a16="http://schemas.microsoft.com/office/drawing/2014/main" id="{D0DE572F-1458-48A5-A09E-E3F07DC0463F}"/>
              </a:ext>
            </a:extLst>
          </p:cNvPr>
          <p:cNvSpPr>
            <a:spLocks noGrp="1"/>
          </p:cNvSpPr>
          <p:nvPr>
            <p:ph type="ftr" sz="quarter" idx="11"/>
          </p:nvPr>
        </p:nvSpPr>
        <p:spPr/>
        <p:txBody>
          <a:bodyPr/>
          <a:lstStyle/>
          <a:p>
            <a:r>
              <a:rPr lang="en-US"/>
              <a:t>EEE 413</a:t>
            </a:r>
          </a:p>
        </p:txBody>
      </p:sp>
      <p:sp>
        <p:nvSpPr>
          <p:cNvPr id="5" name="Slide Number Placeholder 4">
            <a:extLst>
              <a:ext uri="{FF2B5EF4-FFF2-40B4-BE49-F238E27FC236}">
                <a16:creationId xmlns:a16="http://schemas.microsoft.com/office/drawing/2014/main" id="{A6FA73BD-8879-49D6-8BD0-1FB74D8CCE08}"/>
              </a:ext>
            </a:extLst>
          </p:cNvPr>
          <p:cNvSpPr>
            <a:spLocks noGrp="1"/>
          </p:cNvSpPr>
          <p:nvPr>
            <p:ph type="sldNum" sz="quarter" idx="12"/>
          </p:nvPr>
        </p:nvSpPr>
        <p:spPr/>
        <p:txBody>
          <a:bodyPr/>
          <a:lstStyle/>
          <a:p>
            <a:fld id="{B7F31ED2-E7D6-4EC4-9705-587D9B1FBC70}" type="slidenum">
              <a:rPr lang="en-US" smtClean="0"/>
              <a:t>10</a:t>
            </a:fld>
            <a:endParaRPr lang="en-US"/>
          </a:p>
        </p:txBody>
      </p:sp>
      <p:pic>
        <p:nvPicPr>
          <p:cNvPr id="6148" name="Picture 4" descr="Robert Dennard, IBM Inventor Whose Chip Changed Computing, Dies at 91 - The  New York Times">
            <a:extLst>
              <a:ext uri="{FF2B5EF4-FFF2-40B4-BE49-F238E27FC236}">
                <a16:creationId xmlns:a16="http://schemas.microsoft.com/office/drawing/2014/main" id="{0DEA9F33-E531-4D64-B37D-E8031C1553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77742" y="1951637"/>
            <a:ext cx="2647457" cy="30269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E8A7B30-2995-4772-BEAA-F9D4F8342E7B}"/>
              </a:ext>
            </a:extLst>
          </p:cNvPr>
          <p:cNvSpPr txBox="1"/>
          <p:nvPr/>
        </p:nvSpPr>
        <p:spPr>
          <a:xfrm>
            <a:off x="8395446" y="5120640"/>
            <a:ext cx="3217434" cy="923330"/>
          </a:xfrm>
          <a:prstGeom prst="rect">
            <a:avLst/>
          </a:prstGeom>
          <a:noFill/>
        </p:spPr>
        <p:txBody>
          <a:bodyPr wrap="square" rtlCol="0">
            <a:spAutoFit/>
          </a:bodyPr>
          <a:lstStyle/>
          <a:p>
            <a:r>
              <a:rPr lang="en-US" dirty="0"/>
              <a:t>Robert Heath Dennard (1932-2024) | Electrical Engineers | Inventor | Fellowship @ IBM</a:t>
            </a:r>
          </a:p>
        </p:txBody>
      </p:sp>
    </p:spTree>
    <p:extLst>
      <p:ext uri="{BB962C8B-B14F-4D97-AF65-F5344CB8AC3E}">
        <p14:creationId xmlns:p14="http://schemas.microsoft.com/office/powerpoint/2010/main" val="632576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DA711-2500-4BD3-BF47-BCE82B4E1CB3}"/>
              </a:ext>
            </a:extLst>
          </p:cNvPr>
          <p:cNvSpPr>
            <a:spLocks noGrp="1"/>
          </p:cNvSpPr>
          <p:nvPr>
            <p:ph type="title"/>
          </p:nvPr>
        </p:nvSpPr>
        <p:spPr/>
        <p:txBody>
          <a:bodyPr/>
          <a:lstStyle/>
          <a:p>
            <a:r>
              <a:rPr lang="en-US" dirty="0"/>
              <a:t>Original Idea Of Dennard Law</a:t>
            </a:r>
          </a:p>
        </p:txBody>
      </p:sp>
      <p:sp>
        <p:nvSpPr>
          <p:cNvPr id="3" name="Content Placeholder 2">
            <a:extLst>
              <a:ext uri="{FF2B5EF4-FFF2-40B4-BE49-F238E27FC236}">
                <a16:creationId xmlns:a16="http://schemas.microsoft.com/office/drawing/2014/main" id="{CAF84C13-1498-46FA-96A1-51668C40597F}"/>
              </a:ext>
            </a:extLst>
          </p:cNvPr>
          <p:cNvSpPr>
            <a:spLocks noGrp="1"/>
          </p:cNvSpPr>
          <p:nvPr>
            <p:ph idx="1"/>
          </p:nvPr>
        </p:nvSpPr>
        <p:spPr>
          <a:xfrm>
            <a:off x="838200" y="1683783"/>
            <a:ext cx="10774680" cy="501634"/>
          </a:xfrm>
        </p:spPr>
        <p:txBody>
          <a:bodyPr/>
          <a:lstStyle/>
          <a:p>
            <a:pPr marL="0" indent="0">
              <a:buNone/>
            </a:pPr>
            <a:r>
              <a:rPr lang="en-US" dirty="0"/>
              <a:t>The original Idea was to shrink the distance between drain and source[5]. </a:t>
            </a:r>
          </a:p>
        </p:txBody>
      </p:sp>
      <p:sp>
        <p:nvSpPr>
          <p:cNvPr id="10" name="Footer Placeholder 9">
            <a:extLst>
              <a:ext uri="{FF2B5EF4-FFF2-40B4-BE49-F238E27FC236}">
                <a16:creationId xmlns:a16="http://schemas.microsoft.com/office/drawing/2014/main" id="{65B158A8-EAC7-4075-992D-FF5944C06FDD}"/>
              </a:ext>
            </a:extLst>
          </p:cNvPr>
          <p:cNvSpPr>
            <a:spLocks noGrp="1"/>
          </p:cNvSpPr>
          <p:nvPr>
            <p:ph type="ftr" sz="quarter" idx="11"/>
          </p:nvPr>
        </p:nvSpPr>
        <p:spPr/>
        <p:txBody>
          <a:bodyPr/>
          <a:lstStyle/>
          <a:p>
            <a:r>
              <a:rPr lang="en-US"/>
              <a:t>EEE 413</a:t>
            </a:r>
          </a:p>
        </p:txBody>
      </p:sp>
      <p:sp>
        <p:nvSpPr>
          <p:cNvPr id="9" name="Slide Number Placeholder 8">
            <a:extLst>
              <a:ext uri="{FF2B5EF4-FFF2-40B4-BE49-F238E27FC236}">
                <a16:creationId xmlns:a16="http://schemas.microsoft.com/office/drawing/2014/main" id="{482756FE-D5E6-48A7-BDB6-62AFD0A72F86}"/>
              </a:ext>
            </a:extLst>
          </p:cNvPr>
          <p:cNvSpPr>
            <a:spLocks noGrp="1"/>
          </p:cNvSpPr>
          <p:nvPr>
            <p:ph type="sldNum" sz="quarter" idx="12"/>
          </p:nvPr>
        </p:nvSpPr>
        <p:spPr/>
        <p:txBody>
          <a:bodyPr/>
          <a:lstStyle/>
          <a:p>
            <a:fld id="{B7F31ED2-E7D6-4EC4-9705-587D9B1FBC70}" type="slidenum">
              <a:rPr lang="en-US" smtClean="0"/>
              <a:t>11</a:t>
            </a:fld>
            <a:endParaRPr lang="en-US"/>
          </a:p>
        </p:txBody>
      </p:sp>
      <p:pic>
        <p:nvPicPr>
          <p:cNvPr id="5" name="Picture 4">
            <a:extLst>
              <a:ext uri="{FF2B5EF4-FFF2-40B4-BE49-F238E27FC236}">
                <a16:creationId xmlns:a16="http://schemas.microsoft.com/office/drawing/2014/main" id="{2AED0CE1-0458-4481-907F-7A5150965D84}"/>
              </a:ext>
            </a:extLst>
          </p:cNvPr>
          <p:cNvPicPr>
            <a:picLocks noChangeAspect="1"/>
          </p:cNvPicPr>
          <p:nvPr/>
        </p:nvPicPr>
        <p:blipFill>
          <a:blip r:embed="rId2"/>
          <a:stretch>
            <a:fillRect/>
          </a:stretch>
        </p:blipFill>
        <p:spPr>
          <a:xfrm>
            <a:off x="5377376" y="3009346"/>
            <a:ext cx="6235504" cy="3009497"/>
          </a:xfrm>
          <a:prstGeom prst="rect">
            <a:avLst/>
          </a:prstGeom>
        </p:spPr>
      </p:pic>
      <p:graphicFrame>
        <p:nvGraphicFramePr>
          <p:cNvPr id="4" name="Table 3">
            <a:extLst>
              <a:ext uri="{FF2B5EF4-FFF2-40B4-BE49-F238E27FC236}">
                <a16:creationId xmlns:a16="http://schemas.microsoft.com/office/drawing/2014/main" id="{71776BC9-0233-48E9-B169-CDEB4CD7ADBA}"/>
              </a:ext>
            </a:extLst>
          </p:cNvPr>
          <p:cNvGraphicFramePr>
            <a:graphicFrameLocks noGrp="1"/>
          </p:cNvGraphicFramePr>
          <p:nvPr>
            <p:extLst>
              <p:ext uri="{D42A27DB-BD31-4B8C-83A1-F6EECF244321}">
                <p14:modId xmlns:p14="http://schemas.microsoft.com/office/powerpoint/2010/main" val="2036264390"/>
              </p:ext>
            </p:extLst>
          </p:nvPr>
        </p:nvGraphicFramePr>
        <p:xfrm>
          <a:off x="932688" y="3711177"/>
          <a:ext cx="5672328" cy="1463040"/>
        </p:xfrm>
        <a:graphic>
          <a:graphicData uri="http://schemas.openxmlformats.org/drawingml/2006/table">
            <a:tbl>
              <a:tblPr/>
              <a:tblGrid>
                <a:gridCol w="2836164">
                  <a:extLst>
                    <a:ext uri="{9D8B030D-6E8A-4147-A177-3AD203B41FA5}">
                      <a16:colId xmlns:a16="http://schemas.microsoft.com/office/drawing/2014/main" val="2238481925"/>
                    </a:ext>
                  </a:extLst>
                </a:gridCol>
                <a:gridCol w="2836164">
                  <a:extLst>
                    <a:ext uri="{9D8B030D-6E8A-4147-A177-3AD203B41FA5}">
                      <a16:colId xmlns:a16="http://schemas.microsoft.com/office/drawing/2014/main" val="1943001166"/>
                    </a:ext>
                  </a:extLst>
                </a:gridCol>
              </a:tblGrid>
              <a:tr h="0">
                <a:tc>
                  <a:txBody>
                    <a:bodyPr/>
                    <a:lstStyle/>
                    <a:p>
                      <a:r>
                        <a:rPr lang="en-US"/>
                        <a:t>Parameter</a:t>
                      </a:r>
                    </a:p>
                  </a:txBody>
                  <a:tcPr anchor="ctr">
                    <a:lnL>
                      <a:noFill/>
                    </a:lnL>
                    <a:lnR>
                      <a:noFill/>
                    </a:lnR>
                    <a:lnT>
                      <a:noFill/>
                    </a:lnT>
                    <a:lnB>
                      <a:noFill/>
                    </a:lnB>
                  </a:tcPr>
                </a:tc>
                <a:tc>
                  <a:txBody>
                    <a:bodyPr/>
                    <a:lstStyle/>
                    <a:p>
                      <a:r>
                        <a:rPr lang="en-US"/>
                        <a:t>Scaling</a:t>
                      </a:r>
                    </a:p>
                  </a:txBody>
                  <a:tcPr anchor="ctr">
                    <a:lnL>
                      <a:noFill/>
                    </a:lnL>
                    <a:lnR>
                      <a:noFill/>
                    </a:lnR>
                    <a:lnT>
                      <a:noFill/>
                    </a:lnT>
                    <a:lnB>
                      <a:noFill/>
                    </a:lnB>
                  </a:tcPr>
                </a:tc>
                <a:extLst>
                  <a:ext uri="{0D108BD9-81ED-4DB2-BD59-A6C34878D82A}">
                    <a16:rowId xmlns:a16="http://schemas.microsoft.com/office/drawing/2014/main" val="1469141858"/>
                  </a:ext>
                </a:extLst>
              </a:tr>
              <a:tr h="0">
                <a:tc>
                  <a:txBody>
                    <a:bodyPr/>
                    <a:lstStyle/>
                    <a:p>
                      <a:r>
                        <a:rPr lang="en-US" dirty="0"/>
                        <a:t>Channel length</a:t>
                      </a:r>
                    </a:p>
                  </a:txBody>
                  <a:tcPr anchor="ctr">
                    <a:lnL>
                      <a:noFill/>
                    </a:lnL>
                    <a:lnR>
                      <a:noFill/>
                    </a:lnR>
                    <a:lnT>
                      <a:noFill/>
                    </a:lnT>
                    <a:lnB>
                      <a:noFill/>
                    </a:lnB>
                  </a:tcPr>
                </a:tc>
                <a:tc>
                  <a:txBody>
                    <a:bodyPr/>
                    <a:lstStyle/>
                    <a:p>
                      <a:r>
                        <a:rPr lang="en-US"/>
                        <a:t>L → L/k</a:t>
                      </a:r>
                    </a:p>
                  </a:txBody>
                  <a:tcPr anchor="ctr">
                    <a:lnL>
                      <a:noFill/>
                    </a:lnL>
                    <a:lnR>
                      <a:noFill/>
                    </a:lnR>
                    <a:lnT>
                      <a:noFill/>
                    </a:lnT>
                    <a:lnB>
                      <a:noFill/>
                    </a:lnB>
                  </a:tcPr>
                </a:tc>
                <a:extLst>
                  <a:ext uri="{0D108BD9-81ED-4DB2-BD59-A6C34878D82A}">
                    <a16:rowId xmlns:a16="http://schemas.microsoft.com/office/drawing/2014/main" val="3921372422"/>
                  </a:ext>
                </a:extLst>
              </a:tr>
              <a:tr h="0">
                <a:tc>
                  <a:txBody>
                    <a:bodyPr/>
                    <a:lstStyle/>
                    <a:p>
                      <a:r>
                        <a:rPr lang="en-US" dirty="0"/>
                        <a:t>Channel width</a:t>
                      </a:r>
                    </a:p>
                  </a:txBody>
                  <a:tcPr anchor="ctr">
                    <a:lnL>
                      <a:noFill/>
                    </a:lnL>
                    <a:lnR>
                      <a:noFill/>
                    </a:lnR>
                    <a:lnT>
                      <a:noFill/>
                    </a:lnT>
                    <a:lnB>
                      <a:noFill/>
                    </a:lnB>
                  </a:tcPr>
                </a:tc>
                <a:tc>
                  <a:txBody>
                    <a:bodyPr/>
                    <a:lstStyle/>
                    <a:p>
                      <a:r>
                        <a:rPr lang="en-US" dirty="0"/>
                        <a:t>W → W/k</a:t>
                      </a:r>
                    </a:p>
                  </a:txBody>
                  <a:tcPr anchor="ctr">
                    <a:lnL>
                      <a:noFill/>
                    </a:lnL>
                    <a:lnR>
                      <a:noFill/>
                    </a:lnR>
                    <a:lnT>
                      <a:noFill/>
                    </a:lnT>
                    <a:lnB>
                      <a:noFill/>
                    </a:lnB>
                  </a:tcPr>
                </a:tc>
                <a:extLst>
                  <a:ext uri="{0D108BD9-81ED-4DB2-BD59-A6C34878D82A}">
                    <a16:rowId xmlns:a16="http://schemas.microsoft.com/office/drawing/2014/main" val="3856291270"/>
                  </a:ext>
                </a:extLst>
              </a:tr>
              <a:tr h="0">
                <a:tc>
                  <a:txBody>
                    <a:bodyPr/>
                    <a:lstStyle/>
                    <a:p>
                      <a:r>
                        <a:rPr lang="en-US"/>
                        <a:t>Oxide thickness</a:t>
                      </a:r>
                    </a:p>
                  </a:txBody>
                  <a:tcPr anchor="ctr">
                    <a:lnL>
                      <a:noFill/>
                    </a:lnL>
                    <a:lnR>
                      <a:noFill/>
                    </a:lnR>
                    <a:lnT>
                      <a:noFill/>
                    </a:lnT>
                    <a:lnB>
                      <a:noFill/>
                    </a:lnB>
                  </a:tcPr>
                </a:tc>
                <a:tc>
                  <a:txBody>
                    <a:bodyPr/>
                    <a:lstStyle/>
                    <a:p>
                      <a:r>
                        <a:rPr lang="en-US" dirty="0"/>
                        <a:t>tox → tox/k</a:t>
                      </a:r>
                    </a:p>
                  </a:txBody>
                  <a:tcPr anchor="ctr">
                    <a:lnL>
                      <a:noFill/>
                    </a:lnL>
                    <a:lnR>
                      <a:noFill/>
                    </a:lnR>
                    <a:lnT>
                      <a:noFill/>
                    </a:lnT>
                    <a:lnB>
                      <a:noFill/>
                    </a:lnB>
                  </a:tcPr>
                </a:tc>
                <a:extLst>
                  <a:ext uri="{0D108BD9-81ED-4DB2-BD59-A6C34878D82A}">
                    <a16:rowId xmlns:a16="http://schemas.microsoft.com/office/drawing/2014/main" val="1083006970"/>
                  </a:ext>
                </a:extLst>
              </a:tr>
            </a:tbl>
          </a:graphicData>
        </a:graphic>
      </p:graphicFrame>
      <p:sp>
        <p:nvSpPr>
          <p:cNvPr id="6" name="Rectangle 1">
            <a:extLst>
              <a:ext uri="{FF2B5EF4-FFF2-40B4-BE49-F238E27FC236}">
                <a16:creationId xmlns:a16="http://schemas.microsoft.com/office/drawing/2014/main" id="{32AD4E51-AA9E-4364-9130-DAEF13016E78}"/>
              </a:ext>
            </a:extLst>
          </p:cNvPr>
          <p:cNvSpPr>
            <a:spLocks noChangeArrowheads="1"/>
          </p:cNvSpPr>
          <p:nvPr/>
        </p:nvSpPr>
        <p:spPr bwMode="auto">
          <a:xfrm>
            <a:off x="932688" y="30468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Assume we shrink the transistor dimensions by a factor </a:t>
            </a:r>
            <a:r>
              <a:rPr kumimoji="0" lang="en-US" altLang="en-US" sz="1800" b="1" i="0" u="none" strike="noStrike" cap="none" normalizeH="0" baseline="0" dirty="0">
                <a:ln>
                  <a:noFill/>
                </a:ln>
                <a:solidFill>
                  <a:schemeClr val="tx1"/>
                </a:solidFill>
                <a:effectLst/>
                <a:latin typeface="Arial" panose="020B0604020202020204" pitchFamily="34" charset="0"/>
              </a:rPr>
              <a:t>k</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If </a:t>
            </a:r>
            <a:r>
              <a:rPr kumimoji="0" lang="en-US" altLang="en-US" sz="1800" b="1" i="0" u="none" strike="noStrike" cap="none" normalizeH="0" baseline="0" dirty="0">
                <a:ln>
                  <a:noFill/>
                </a:ln>
                <a:solidFill>
                  <a:schemeClr val="tx1"/>
                </a:solidFill>
                <a:effectLst/>
                <a:latin typeface="Arial" panose="020B0604020202020204" pitchFamily="34" charset="0"/>
              </a:rPr>
              <a:t>k = 2</a:t>
            </a:r>
            <a:r>
              <a:rPr kumimoji="0" lang="en-US" altLang="en-US" sz="1800" b="0" i="0" u="none" strike="noStrike" cap="none" normalizeH="0" baseline="0" dirty="0">
                <a:ln>
                  <a:noFill/>
                </a:ln>
                <a:solidFill>
                  <a:schemeClr val="tx1"/>
                </a:solidFill>
                <a:effectLst/>
                <a:latin typeface="Arial" panose="020B0604020202020204" pitchFamily="34" charset="0"/>
              </a:rPr>
              <a:t>, every dimension becomes </a:t>
            </a:r>
            <a:r>
              <a:rPr kumimoji="0" lang="en-US" altLang="en-US" sz="1800" b="1" i="0" u="none" strike="noStrike" cap="none" normalizeH="0" baseline="0" dirty="0">
                <a:ln>
                  <a:noFill/>
                </a:ln>
                <a:solidFill>
                  <a:schemeClr val="tx1"/>
                </a:solidFill>
                <a:effectLst/>
                <a:latin typeface="Arial" panose="020B0604020202020204" pitchFamily="34" charset="0"/>
              </a:rPr>
              <a:t>half</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6B1841C0-E779-487E-8DAC-86EBACC27CE1}"/>
              </a:ext>
            </a:extLst>
          </p:cNvPr>
          <p:cNvGraphicFramePr>
            <a:graphicFrameLocks noGrp="1"/>
          </p:cNvGraphicFramePr>
          <p:nvPr>
            <p:extLst>
              <p:ext uri="{D42A27DB-BD31-4B8C-83A1-F6EECF244321}">
                <p14:modId xmlns:p14="http://schemas.microsoft.com/office/powerpoint/2010/main" val="3995414136"/>
              </p:ext>
            </p:extLst>
          </p:nvPr>
        </p:nvGraphicFramePr>
        <p:xfrm>
          <a:off x="932688" y="5184951"/>
          <a:ext cx="5672328" cy="731520"/>
        </p:xfrm>
        <a:graphic>
          <a:graphicData uri="http://schemas.openxmlformats.org/drawingml/2006/table">
            <a:tbl>
              <a:tblPr/>
              <a:tblGrid>
                <a:gridCol w="2836164">
                  <a:extLst>
                    <a:ext uri="{9D8B030D-6E8A-4147-A177-3AD203B41FA5}">
                      <a16:colId xmlns:a16="http://schemas.microsoft.com/office/drawing/2014/main" val="1599090098"/>
                    </a:ext>
                  </a:extLst>
                </a:gridCol>
                <a:gridCol w="2836164">
                  <a:extLst>
                    <a:ext uri="{9D8B030D-6E8A-4147-A177-3AD203B41FA5}">
                      <a16:colId xmlns:a16="http://schemas.microsoft.com/office/drawing/2014/main" val="3867182995"/>
                    </a:ext>
                  </a:extLst>
                </a:gridCol>
              </a:tblGrid>
              <a:tr h="0">
                <a:tc>
                  <a:txBody>
                    <a:bodyPr/>
                    <a:lstStyle/>
                    <a:p>
                      <a:r>
                        <a:rPr lang="en-US" dirty="0"/>
                        <a:t>Supply voltage</a:t>
                      </a:r>
                    </a:p>
                  </a:txBody>
                  <a:tcPr anchor="ctr">
                    <a:lnL>
                      <a:noFill/>
                    </a:lnL>
                    <a:lnR>
                      <a:noFill/>
                    </a:lnR>
                    <a:lnT>
                      <a:noFill/>
                    </a:lnT>
                    <a:lnB>
                      <a:noFill/>
                    </a:lnB>
                  </a:tcPr>
                </a:tc>
                <a:tc>
                  <a:txBody>
                    <a:bodyPr/>
                    <a:lstStyle/>
                    <a:p>
                      <a:r>
                        <a:rPr lang="en-US" dirty="0"/>
                        <a:t>V → V/k</a:t>
                      </a:r>
                    </a:p>
                  </a:txBody>
                  <a:tcPr anchor="ctr">
                    <a:lnL>
                      <a:noFill/>
                    </a:lnL>
                    <a:lnR>
                      <a:noFill/>
                    </a:lnR>
                    <a:lnT>
                      <a:noFill/>
                    </a:lnT>
                    <a:lnB>
                      <a:noFill/>
                    </a:lnB>
                  </a:tcPr>
                </a:tc>
                <a:extLst>
                  <a:ext uri="{0D108BD9-81ED-4DB2-BD59-A6C34878D82A}">
                    <a16:rowId xmlns:a16="http://schemas.microsoft.com/office/drawing/2014/main" val="2571870174"/>
                  </a:ext>
                </a:extLst>
              </a:tr>
              <a:tr h="0">
                <a:tc>
                  <a:txBody>
                    <a:bodyPr/>
                    <a:lstStyle/>
                    <a:p>
                      <a:r>
                        <a:rPr lang="en-US"/>
                        <a:t>Threshold voltage</a:t>
                      </a:r>
                    </a:p>
                  </a:txBody>
                  <a:tcPr anchor="ctr">
                    <a:lnL>
                      <a:noFill/>
                    </a:lnL>
                    <a:lnR>
                      <a:noFill/>
                    </a:lnR>
                    <a:lnT>
                      <a:noFill/>
                    </a:lnT>
                    <a:lnB>
                      <a:noFill/>
                    </a:lnB>
                  </a:tcPr>
                </a:tc>
                <a:tc>
                  <a:txBody>
                    <a:bodyPr/>
                    <a:lstStyle/>
                    <a:p>
                      <a:r>
                        <a:rPr lang="en-US" dirty="0"/>
                        <a:t>Vt → Vt/k</a:t>
                      </a:r>
                    </a:p>
                  </a:txBody>
                  <a:tcPr anchor="ctr">
                    <a:lnL>
                      <a:noFill/>
                    </a:lnL>
                    <a:lnR>
                      <a:noFill/>
                    </a:lnR>
                    <a:lnT>
                      <a:noFill/>
                    </a:lnT>
                    <a:lnB>
                      <a:noFill/>
                    </a:lnB>
                  </a:tcPr>
                </a:tc>
                <a:extLst>
                  <a:ext uri="{0D108BD9-81ED-4DB2-BD59-A6C34878D82A}">
                    <a16:rowId xmlns:a16="http://schemas.microsoft.com/office/drawing/2014/main" val="1931643063"/>
                  </a:ext>
                </a:extLst>
              </a:tr>
            </a:tbl>
          </a:graphicData>
        </a:graphic>
      </p:graphicFrame>
    </p:spTree>
    <p:extLst>
      <p:ext uri="{BB962C8B-B14F-4D97-AF65-F5344CB8AC3E}">
        <p14:creationId xmlns:p14="http://schemas.microsoft.com/office/powerpoint/2010/main" val="689280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0FEA0-CB5F-4776-BF9C-FA5397ED5EB8}"/>
              </a:ext>
            </a:extLst>
          </p:cNvPr>
          <p:cNvSpPr>
            <a:spLocks noGrp="1"/>
          </p:cNvSpPr>
          <p:nvPr>
            <p:ph type="title"/>
          </p:nvPr>
        </p:nvSpPr>
        <p:spPr/>
        <p:txBody>
          <a:bodyPr/>
          <a:lstStyle/>
          <a:p>
            <a:r>
              <a:rPr lang="en-US" dirty="0"/>
              <a:t>Dennard’s Law Scaling </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A5F8E5A-2731-4ED8-954E-84389BEBD4EA}"/>
                  </a:ext>
                </a:extLst>
              </p:cNvPr>
              <p:cNvSpPr>
                <a:spLocks noGrp="1"/>
              </p:cNvSpPr>
              <p:nvPr>
                <p:ph idx="1"/>
              </p:nvPr>
            </p:nvSpPr>
            <p:spPr>
              <a:xfrm>
                <a:off x="838200" y="1825625"/>
                <a:ext cx="6751320" cy="4209415"/>
              </a:xfrm>
            </p:spPr>
            <p:txBody>
              <a:bodyPr>
                <a:normAutofit fontScale="85000" lnSpcReduction="20000"/>
              </a:bodyPr>
              <a:lstStyle/>
              <a:p>
                <a:pPr marL="0" indent="0">
                  <a:buNone/>
                </a:pPr>
                <a:r>
                  <a:rPr lang="en-US" dirty="0"/>
                  <a:t>There for the Electric field </a:t>
                </a:r>
                <a14:m>
                  <m:oMath xmlns:m="http://schemas.openxmlformats.org/officeDocument/2006/math">
                    <m:r>
                      <a:rPr lang="en-US">
                        <a:latin typeface="Cambria Math" panose="02040503050406030204" pitchFamily="18" charset="0"/>
                      </a:rPr>
                      <m:t>(</m:t>
                    </m:r>
                    <m:r>
                      <m:rPr>
                        <m:sty m:val="p"/>
                      </m:rPr>
                      <a:rPr lang="en-US" b="0" i="0" smtClean="0">
                        <a:latin typeface="Cambria Math" panose="02040503050406030204" pitchFamily="18" charset="0"/>
                      </a:rPr>
                      <m:t>E</m:t>
                    </m:r>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𝐿</m:t>
                        </m:r>
                      </m:den>
                    </m:f>
                    <m:r>
                      <a:rPr lang="en-US" b="0" i="1" smtClean="0">
                        <a:latin typeface="Cambria Math" panose="02040503050406030204" pitchFamily="18" charset="0"/>
                      </a:rPr>
                      <m:t>)</m:t>
                    </m:r>
                  </m:oMath>
                </a14:m>
                <a:r>
                  <a:rPr lang="en-US" dirty="0"/>
                  <a:t>  becomes, </a:t>
                </a:r>
              </a:p>
              <a:p>
                <a:pPr marL="0" indent="0">
                  <a:buNone/>
                </a:pPr>
                <a:r>
                  <a:rPr lang="en-US" i="1" dirty="0"/>
                  <a:t>E</a:t>
                </a:r>
                <a14:m>
                  <m:oMath xmlns:m="http://schemas.openxmlformats.org/officeDocument/2006/math">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𝑘</m:t>
                        </m:r>
                      </m:num>
                      <m:den>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𝑘</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𝑉</m:t>
                        </m:r>
                      </m:num>
                      <m:den>
                        <m:r>
                          <a:rPr lang="en-US" b="0" i="1" smtClean="0">
                            <a:latin typeface="Cambria Math" panose="02040503050406030204" pitchFamily="18" charset="0"/>
                          </a:rPr>
                          <m:t>𝐿</m:t>
                        </m:r>
                      </m:den>
                    </m:f>
                    <m:r>
                      <a:rPr lang="en-US" b="0" i="1" smtClean="0">
                        <a:latin typeface="Cambria Math" panose="02040503050406030204" pitchFamily="18" charset="0"/>
                      </a:rPr>
                      <m:t> </m:t>
                    </m:r>
                  </m:oMath>
                </a14:m>
                <a:endParaRPr lang="en-US" i="1" dirty="0"/>
              </a:p>
              <a:p>
                <a:pPr marL="0" indent="0">
                  <a:buNone/>
                </a:pPr>
                <a:endParaRPr lang="en-US" dirty="0"/>
              </a:p>
              <a:p>
                <a:pPr marL="0" indent="0">
                  <a:buNone/>
                </a:pPr>
                <a:r>
                  <a:rPr lang="en-US" dirty="0"/>
                  <a:t>And the power,</a:t>
                </a:r>
              </a:p>
              <a:p>
                <a:pPr marL="0" indent="0">
                  <a:buNone/>
                </a:pPr>
                <a:r>
                  <a:rPr lang="en-US" dirty="0"/>
                  <a:t>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m:t>
                    </m:r>
                    <m:r>
                      <a:rPr lang="en-US" i="1">
                        <a:latin typeface="Cambria Math" panose="02040503050406030204" pitchFamily="18" charset="0"/>
                      </a:rPr>
                      <m:t>𝑐</m:t>
                    </m:r>
                    <m:sSup>
                      <m:sSupPr>
                        <m:ctrlPr>
                          <a:rPr lang="en-US" i="1">
                            <a:latin typeface="Cambria Math" panose="02040503050406030204" pitchFamily="18" charset="0"/>
                          </a:rPr>
                        </m:ctrlPr>
                      </m:sSupPr>
                      <m:e>
                        <m:r>
                          <a:rPr lang="en-US" i="1">
                            <a:latin typeface="Cambria Math" panose="02040503050406030204" pitchFamily="18" charset="0"/>
                          </a:rPr>
                          <m:t>𝑣</m:t>
                        </m:r>
                      </m:e>
                      <m:sup>
                        <m:r>
                          <a:rPr lang="en-US" i="1">
                            <a:latin typeface="Cambria Math" panose="02040503050406030204" pitchFamily="18" charset="0"/>
                          </a:rPr>
                          <m:t>2</m:t>
                        </m:r>
                      </m:sup>
                    </m:sSup>
                    <m:r>
                      <a:rPr lang="en-US" i="1">
                        <a:latin typeface="Cambria Math" panose="02040503050406030204" pitchFamily="18" charset="0"/>
                      </a:rPr>
                      <m:t>. </m:t>
                    </m:r>
                    <m:r>
                      <a:rPr lang="en-US" i="1">
                        <a:latin typeface="Cambria Math" panose="02040503050406030204" pitchFamily="18" charset="0"/>
                      </a:rPr>
                      <m:t>𝑓</m:t>
                    </m:r>
                  </m:oMath>
                </a14:m>
                <a:endParaRPr lang="en-US" dirty="0"/>
              </a:p>
              <a:p>
                <a:pPr marL="0" indent="0">
                  <a:buNone/>
                </a:pPr>
                <a:r>
                  <a:rPr lang="en-US" dirty="0"/>
                  <a:t> </a:t>
                </a:r>
                <a14:m>
                  <m:oMath xmlns:m="http://schemas.openxmlformats.org/officeDocument/2006/math">
                    <m:r>
                      <a:rPr lang="en-US" i="1">
                        <a:latin typeface="Cambria Math" panose="02040503050406030204" pitchFamily="18" charset="0"/>
                      </a:rPr>
                      <m:t>𝑝</m:t>
                    </m:r>
                    <m:r>
                      <a:rPr lang="en-US" i="1">
                        <a:latin typeface="Cambria Math" panose="02040503050406030204" pitchFamily="18" charset="0"/>
                      </a:rPr>
                      <m:t>=(1/</m:t>
                    </m:r>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𝑘</m:t>
                        </m:r>
                        <m:r>
                          <a:rPr lang="en-US" b="0" i="1" smtClean="0">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 </m:t>
                    </m:r>
                    <m:r>
                      <a:rPr lang="en-US" b="0" i="1" smtClean="0">
                        <a:latin typeface="Cambria Math" panose="02040503050406030204" pitchFamily="18" charset="0"/>
                      </a:rPr>
                      <m:t>𝑘</m:t>
                    </m:r>
                  </m:oMath>
                </a14:m>
                <a:endParaRPr lang="en-US" dirty="0"/>
              </a:p>
              <a:p>
                <a:pPr marL="0" indent="0">
                  <a:buNone/>
                </a:pPr>
                <a:r>
                  <a:rPr lang="en-US" b="0" dirty="0"/>
                  <a:t>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a:rPr lang="en-US" b="0" i="1" smtClean="0">
                            <a:latin typeface="Cambria Math" panose="02040503050406030204" pitchFamily="18" charset="0"/>
                          </a:rPr>
                          <m:t>2</m:t>
                        </m:r>
                      </m:sup>
                    </m:sSup>
                  </m:oMath>
                </a14:m>
                <a:endParaRPr lang="en-US" dirty="0"/>
              </a:p>
              <a:p>
                <a:pPr marL="0" indent="0">
                  <a:buNone/>
                </a:pPr>
                <a:r>
                  <a:rPr lang="en-US" dirty="0"/>
                  <a:t>So, power per transistor decreases.</a:t>
                </a:r>
              </a:p>
              <a:p>
                <a:pPr marL="0" indent="0">
                  <a:buNone/>
                </a:pPr>
                <a:r>
                  <a:rPr lang="en-US" dirty="0"/>
                  <a:t>As a result, switching speed increases while power per unit remains approximately constant.</a:t>
                </a:r>
              </a:p>
              <a:p>
                <a:pPr marL="0" indent="0">
                  <a:buNone/>
                </a:pPr>
                <a:endParaRPr lang="en-US" dirty="0"/>
              </a:p>
            </p:txBody>
          </p:sp>
        </mc:Choice>
        <mc:Fallback xmlns="">
          <p:sp>
            <p:nvSpPr>
              <p:cNvPr id="4" name="Content Placeholder 3">
                <a:extLst>
                  <a:ext uri="{FF2B5EF4-FFF2-40B4-BE49-F238E27FC236}">
                    <a16:creationId xmlns:a16="http://schemas.microsoft.com/office/drawing/2014/main" id="{5A5F8E5A-2731-4ED8-954E-84389BEBD4EA}"/>
                  </a:ext>
                </a:extLst>
              </p:cNvPr>
              <p:cNvSpPr>
                <a:spLocks noGrp="1" noRot="1" noChangeAspect="1" noMove="1" noResize="1" noEditPoints="1" noAdjustHandles="1" noChangeArrowheads="1" noChangeShapeType="1" noTextEdit="1"/>
              </p:cNvSpPr>
              <p:nvPr>
                <p:ph idx="1"/>
              </p:nvPr>
            </p:nvSpPr>
            <p:spPr>
              <a:xfrm>
                <a:off x="838200" y="1825625"/>
                <a:ext cx="6751320" cy="4209415"/>
              </a:xfrm>
              <a:blipFill>
                <a:blip r:embed="rId2"/>
                <a:stretch>
                  <a:fillRect l="-1445" t="-2026"/>
                </a:stretch>
              </a:blipFill>
            </p:spPr>
            <p:txBody>
              <a:bodyPr/>
              <a:lstStyle/>
              <a:p>
                <a:r>
                  <a:rPr lang="en-US">
                    <a:noFill/>
                  </a:rPr>
                  <a:t> </a:t>
                </a:r>
              </a:p>
            </p:txBody>
          </p:sp>
        </mc:Fallback>
      </mc:AlternateContent>
      <p:sp>
        <p:nvSpPr>
          <p:cNvPr id="7" name="Footer Placeholder 6">
            <a:extLst>
              <a:ext uri="{FF2B5EF4-FFF2-40B4-BE49-F238E27FC236}">
                <a16:creationId xmlns:a16="http://schemas.microsoft.com/office/drawing/2014/main" id="{40B06BCD-A102-40F6-9643-5F0CAC1328C8}"/>
              </a:ext>
            </a:extLst>
          </p:cNvPr>
          <p:cNvSpPr>
            <a:spLocks noGrp="1"/>
          </p:cNvSpPr>
          <p:nvPr>
            <p:ph type="ftr" sz="quarter" idx="11"/>
          </p:nvPr>
        </p:nvSpPr>
        <p:spPr/>
        <p:txBody>
          <a:bodyPr/>
          <a:lstStyle/>
          <a:p>
            <a:r>
              <a:rPr lang="en-US"/>
              <a:t>EEE 413</a:t>
            </a:r>
          </a:p>
        </p:txBody>
      </p:sp>
      <p:sp>
        <p:nvSpPr>
          <p:cNvPr id="6" name="Slide Number Placeholder 5">
            <a:extLst>
              <a:ext uri="{FF2B5EF4-FFF2-40B4-BE49-F238E27FC236}">
                <a16:creationId xmlns:a16="http://schemas.microsoft.com/office/drawing/2014/main" id="{67E18B84-9D31-41B5-B9EB-9184608E6302}"/>
              </a:ext>
            </a:extLst>
          </p:cNvPr>
          <p:cNvSpPr>
            <a:spLocks noGrp="1"/>
          </p:cNvSpPr>
          <p:nvPr>
            <p:ph type="sldNum" sz="quarter" idx="12"/>
          </p:nvPr>
        </p:nvSpPr>
        <p:spPr/>
        <p:txBody>
          <a:bodyPr/>
          <a:lstStyle/>
          <a:p>
            <a:fld id="{B7F31ED2-E7D6-4EC4-9705-587D9B1FBC70}" type="slidenum">
              <a:rPr lang="en-US" smtClean="0"/>
              <a:t>12</a:t>
            </a:fld>
            <a:endParaRPr lang="en-US"/>
          </a:p>
        </p:txBody>
      </p:sp>
    </p:spTree>
    <p:extLst>
      <p:ext uri="{BB962C8B-B14F-4D97-AF65-F5344CB8AC3E}">
        <p14:creationId xmlns:p14="http://schemas.microsoft.com/office/powerpoint/2010/main" val="3579370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6B784-4136-4421-9684-8CB7FB17FC7B}"/>
              </a:ext>
            </a:extLst>
          </p:cNvPr>
          <p:cNvSpPr>
            <a:spLocks noGrp="1"/>
          </p:cNvSpPr>
          <p:nvPr>
            <p:ph type="title"/>
          </p:nvPr>
        </p:nvSpPr>
        <p:spPr/>
        <p:txBody>
          <a:bodyPr/>
          <a:lstStyle/>
          <a:p>
            <a:r>
              <a:rPr lang="en-US" dirty="0"/>
              <a:t>Breakdown of Dennard Scaling</a:t>
            </a:r>
          </a:p>
        </p:txBody>
      </p:sp>
      <p:sp>
        <p:nvSpPr>
          <p:cNvPr id="3" name="Content Placeholder 2">
            <a:extLst>
              <a:ext uri="{FF2B5EF4-FFF2-40B4-BE49-F238E27FC236}">
                <a16:creationId xmlns:a16="http://schemas.microsoft.com/office/drawing/2014/main" id="{C7D49D3B-578A-4988-BDBA-91133CF8ECA8}"/>
              </a:ext>
            </a:extLst>
          </p:cNvPr>
          <p:cNvSpPr>
            <a:spLocks noGrp="1"/>
          </p:cNvSpPr>
          <p:nvPr>
            <p:ph idx="1"/>
          </p:nvPr>
        </p:nvSpPr>
        <p:spPr>
          <a:xfrm>
            <a:off x="719328" y="2081657"/>
            <a:ext cx="5480304" cy="3761359"/>
          </a:xfrm>
        </p:spPr>
        <p:txBody>
          <a:bodyPr>
            <a:normAutofit fontScale="70000" lnSpcReduction="20000"/>
          </a:bodyPr>
          <a:lstStyle/>
          <a:p>
            <a:pPr marL="0" indent="0">
              <a:buNone/>
            </a:pPr>
            <a:r>
              <a:rPr lang="en-US" dirty="0"/>
              <a:t>Dennard scaling worked well until the early 2000s.</a:t>
            </a:r>
          </a:p>
          <a:p>
            <a:pPr marL="0" indent="0">
              <a:buNone/>
            </a:pPr>
            <a:endParaRPr lang="en-US" dirty="0"/>
          </a:p>
          <a:p>
            <a:pPr marL="0" indent="0">
              <a:buNone/>
            </a:pPr>
            <a:r>
              <a:rPr lang="en-US" dirty="0"/>
              <a:t>As transistor sizes became extremely small, voltage scaling stopped[5].</a:t>
            </a:r>
          </a:p>
          <a:p>
            <a:pPr marL="0" indent="0">
              <a:buNone/>
            </a:pPr>
            <a:endParaRPr lang="en-US" dirty="0"/>
          </a:p>
          <a:p>
            <a:pPr marL="0" indent="0">
              <a:buNone/>
            </a:pPr>
            <a:r>
              <a:rPr lang="en-US" dirty="0"/>
              <a:t>This caused power density to increase significantly.</a:t>
            </a:r>
          </a:p>
          <a:p>
            <a:pPr marL="0" indent="0">
              <a:buNone/>
            </a:pPr>
            <a:endParaRPr lang="en-US" dirty="0"/>
          </a:p>
          <a:p>
            <a:pPr marL="0" indent="0">
              <a:buNone/>
            </a:pPr>
            <a:r>
              <a:rPr lang="en-US" dirty="0"/>
              <a:t>The industry encountered the "Power Wall“ and "Thermal Limit“[5].</a:t>
            </a:r>
          </a:p>
          <a:p>
            <a:pPr marL="0" indent="0">
              <a:buNone/>
            </a:pPr>
            <a:endParaRPr lang="en-US" dirty="0"/>
          </a:p>
          <a:p>
            <a:pPr marL="0" indent="0">
              <a:buNone/>
            </a:pPr>
            <a:r>
              <a:rPr lang="en-US" dirty="0"/>
              <a:t>As a result, clock frequency growth slowed and processors shifted to multicore architectures.</a:t>
            </a:r>
          </a:p>
        </p:txBody>
      </p:sp>
      <p:sp>
        <p:nvSpPr>
          <p:cNvPr id="8" name="Footer Placeholder 7">
            <a:extLst>
              <a:ext uri="{FF2B5EF4-FFF2-40B4-BE49-F238E27FC236}">
                <a16:creationId xmlns:a16="http://schemas.microsoft.com/office/drawing/2014/main" id="{F4DCF10E-915A-492A-B1F9-B7E04DCB587D}"/>
              </a:ext>
            </a:extLst>
          </p:cNvPr>
          <p:cNvSpPr>
            <a:spLocks noGrp="1"/>
          </p:cNvSpPr>
          <p:nvPr>
            <p:ph type="ftr" sz="quarter" idx="11"/>
          </p:nvPr>
        </p:nvSpPr>
        <p:spPr/>
        <p:txBody>
          <a:bodyPr/>
          <a:lstStyle/>
          <a:p>
            <a:r>
              <a:rPr lang="en-US"/>
              <a:t>EEE 413</a:t>
            </a:r>
          </a:p>
        </p:txBody>
      </p:sp>
      <p:sp>
        <p:nvSpPr>
          <p:cNvPr id="4" name="Slide Number Placeholder 3">
            <a:extLst>
              <a:ext uri="{FF2B5EF4-FFF2-40B4-BE49-F238E27FC236}">
                <a16:creationId xmlns:a16="http://schemas.microsoft.com/office/drawing/2014/main" id="{647131CA-0403-4181-B89D-5B8CDF4D91E9}"/>
              </a:ext>
            </a:extLst>
          </p:cNvPr>
          <p:cNvSpPr>
            <a:spLocks noGrp="1"/>
          </p:cNvSpPr>
          <p:nvPr>
            <p:ph type="sldNum" sz="quarter" idx="12"/>
          </p:nvPr>
        </p:nvSpPr>
        <p:spPr/>
        <p:txBody>
          <a:bodyPr/>
          <a:lstStyle/>
          <a:p>
            <a:fld id="{B7F31ED2-E7D6-4EC4-9705-587D9B1FBC70}" type="slidenum">
              <a:rPr lang="en-US" smtClean="0"/>
              <a:t>13</a:t>
            </a:fld>
            <a:endParaRPr lang="en-US"/>
          </a:p>
        </p:txBody>
      </p:sp>
      <p:pic>
        <p:nvPicPr>
          <p:cNvPr id="7" name="Picture 2" descr="Moore's law and Dennard scaling. The number of transistors on a chip has doubled every other year for 50 years. For the first half of this period, each generation of chips also doubled in speed. That improvement ended around 2005. From Karl Rupp, CC BY 4.0">
            <a:extLst>
              <a:ext uri="{FF2B5EF4-FFF2-40B4-BE49-F238E27FC236}">
                <a16:creationId xmlns:a16="http://schemas.microsoft.com/office/drawing/2014/main" id="{75B2C6EF-E87C-472A-9422-AE95867115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096" y="1921971"/>
            <a:ext cx="5615761" cy="35412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500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7884-58F3-43E6-9481-16FC1238B5B9}"/>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80BE7B83-63B4-4DFF-BEC3-9468E2B4428D}"/>
              </a:ext>
            </a:extLst>
          </p:cNvPr>
          <p:cNvSpPr>
            <a:spLocks noGrp="1"/>
          </p:cNvSpPr>
          <p:nvPr>
            <p:ph idx="1"/>
          </p:nvPr>
        </p:nvSpPr>
        <p:spPr/>
        <p:txBody>
          <a:bodyPr>
            <a:normAutofit fontScale="85000" lnSpcReduction="20000"/>
          </a:bodyPr>
          <a:lstStyle/>
          <a:p>
            <a:pPr marL="0" indent="0">
              <a:buNone/>
            </a:pPr>
            <a:r>
              <a:rPr lang="en-US" dirty="0"/>
              <a:t>Moore’s Law predicted the exponential growth of transistor density in integrated circuits.</a:t>
            </a:r>
          </a:p>
          <a:p>
            <a:pPr marL="0" indent="0">
              <a:buNone/>
            </a:pPr>
            <a:endParaRPr lang="en-US" dirty="0"/>
          </a:p>
          <a:p>
            <a:pPr marL="0" indent="0">
              <a:buNone/>
            </a:pPr>
            <a:r>
              <a:rPr lang="en-US" dirty="0"/>
              <a:t>Dennard’s Law explained how transistor scaling allowed higher performance without increasing power.</a:t>
            </a:r>
          </a:p>
          <a:p>
            <a:pPr marL="0" indent="0">
              <a:buNone/>
            </a:pPr>
            <a:endParaRPr lang="en-US" dirty="0"/>
          </a:p>
          <a:p>
            <a:pPr marL="0" indent="0">
              <a:buNone/>
            </a:pPr>
            <a:r>
              <a:rPr lang="en-US" dirty="0"/>
              <a:t>Moore’s Law enabled decades of rapid technological progress.</a:t>
            </a:r>
          </a:p>
          <a:p>
            <a:pPr marL="0" indent="0">
              <a:buNone/>
            </a:pPr>
            <a:endParaRPr lang="en-US" dirty="0"/>
          </a:p>
          <a:p>
            <a:pPr marL="0" indent="0">
              <a:buNone/>
            </a:pPr>
            <a:r>
              <a:rPr lang="en-US" dirty="0"/>
              <a:t>However, both scaling laws now face physical and economic limitations.</a:t>
            </a:r>
          </a:p>
          <a:p>
            <a:pPr marL="0" indent="0">
              <a:buNone/>
            </a:pPr>
            <a:endParaRPr lang="en-US" dirty="0"/>
          </a:p>
          <a:p>
            <a:pPr marL="0" indent="0">
              <a:buNone/>
            </a:pPr>
            <a:r>
              <a:rPr lang="en-US" dirty="0"/>
              <a:t>Future progress relies on new architectures, materials, and advanced fabrication technologies.</a:t>
            </a:r>
          </a:p>
          <a:p>
            <a:pPr marL="0" indent="0">
              <a:buNone/>
            </a:pPr>
            <a:endParaRPr lang="en-US" dirty="0"/>
          </a:p>
        </p:txBody>
      </p:sp>
      <p:sp>
        <p:nvSpPr>
          <p:cNvPr id="5" name="Footer Placeholder 4">
            <a:extLst>
              <a:ext uri="{FF2B5EF4-FFF2-40B4-BE49-F238E27FC236}">
                <a16:creationId xmlns:a16="http://schemas.microsoft.com/office/drawing/2014/main" id="{F11D1F44-F3A9-43F2-915E-17F0407F16E0}"/>
              </a:ext>
            </a:extLst>
          </p:cNvPr>
          <p:cNvSpPr>
            <a:spLocks noGrp="1"/>
          </p:cNvSpPr>
          <p:nvPr>
            <p:ph type="ftr" sz="quarter" idx="11"/>
          </p:nvPr>
        </p:nvSpPr>
        <p:spPr/>
        <p:txBody>
          <a:bodyPr/>
          <a:lstStyle/>
          <a:p>
            <a:r>
              <a:rPr lang="en-US"/>
              <a:t>EEE 413</a:t>
            </a:r>
          </a:p>
        </p:txBody>
      </p:sp>
      <p:sp>
        <p:nvSpPr>
          <p:cNvPr id="4" name="Slide Number Placeholder 3">
            <a:extLst>
              <a:ext uri="{FF2B5EF4-FFF2-40B4-BE49-F238E27FC236}">
                <a16:creationId xmlns:a16="http://schemas.microsoft.com/office/drawing/2014/main" id="{994441D0-360A-47B8-85C9-7F8D11189F75}"/>
              </a:ext>
            </a:extLst>
          </p:cNvPr>
          <p:cNvSpPr>
            <a:spLocks noGrp="1"/>
          </p:cNvSpPr>
          <p:nvPr>
            <p:ph type="sldNum" sz="quarter" idx="12"/>
          </p:nvPr>
        </p:nvSpPr>
        <p:spPr/>
        <p:txBody>
          <a:bodyPr/>
          <a:lstStyle/>
          <a:p>
            <a:fld id="{B7F31ED2-E7D6-4EC4-9705-587D9B1FBC70}" type="slidenum">
              <a:rPr lang="en-US" smtClean="0"/>
              <a:t>14</a:t>
            </a:fld>
            <a:endParaRPr lang="en-US"/>
          </a:p>
        </p:txBody>
      </p:sp>
    </p:spTree>
    <p:extLst>
      <p:ext uri="{BB962C8B-B14F-4D97-AF65-F5344CB8AC3E}">
        <p14:creationId xmlns:p14="http://schemas.microsoft.com/office/powerpoint/2010/main" val="3244168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EE482-E8E1-43F0-B50E-426C28CC91A5}"/>
              </a:ext>
            </a:extLst>
          </p:cNvPr>
          <p:cNvSpPr>
            <a:spLocks noGrp="1"/>
          </p:cNvSpPr>
          <p:nvPr>
            <p:ph type="title"/>
          </p:nvPr>
        </p:nvSpPr>
        <p:spPr/>
        <p:txBody>
          <a:bodyPr/>
          <a:lstStyle/>
          <a:p>
            <a:r>
              <a:rPr lang="en-US" dirty="0"/>
              <a:t>References </a:t>
            </a:r>
          </a:p>
        </p:txBody>
      </p:sp>
      <p:sp>
        <p:nvSpPr>
          <p:cNvPr id="3" name="Content Placeholder 2">
            <a:extLst>
              <a:ext uri="{FF2B5EF4-FFF2-40B4-BE49-F238E27FC236}">
                <a16:creationId xmlns:a16="http://schemas.microsoft.com/office/drawing/2014/main" id="{7418DBE6-DEFF-40BA-A1A4-DA51C8D4EA2F}"/>
              </a:ext>
            </a:extLst>
          </p:cNvPr>
          <p:cNvSpPr>
            <a:spLocks noGrp="1"/>
          </p:cNvSpPr>
          <p:nvPr>
            <p:ph idx="1"/>
          </p:nvPr>
        </p:nvSpPr>
        <p:spPr/>
        <p:txBody>
          <a:bodyPr>
            <a:normAutofit/>
          </a:bodyPr>
          <a:lstStyle/>
          <a:p>
            <a:pPr marL="0" indent="0">
              <a:buNone/>
            </a:pPr>
            <a:r>
              <a:rPr lang="en-US" sz="1800" dirty="0"/>
              <a:t>[1] Ö. </a:t>
            </a:r>
            <a:r>
              <a:rPr lang="en-US" sz="1800" dirty="0" err="1"/>
              <a:t>Bırak</a:t>
            </a:r>
            <a:r>
              <a:rPr lang="en-US" sz="1800" dirty="0"/>
              <a:t>, “The evolution of processor efficiency: A deep dive into transistor scaling and performance trends,” Medium, Feb. 2024. [Online]. Available: https://</a:t>
            </a:r>
            <a:r>
              <a:rPr lang="en-US" sz="1800" dirty="0">
                <a:hlinkClick r:id="rId2"/>
              </a:rPr>
              <a:t>medium.com</a:t>
            </a:r>
            <a:r>
              <a:rPr lang="en-US" sz="1800" dirty="0"/>
              <a:t>. . [Accessed: Mar. 14, 2026].</a:t>
            </a:r>
          </a:p>
          <a:p>
            <a:pPr marL="0" indent="0">
              <a:buNone/>
            </a:pPr>
            <a:r>
              <a:rPr lang="en-US" sz="1800" dirty="0"/>
              <a:t>[2] G. E. Moore, “Cramming more components onto integrated circuits,” Electronics, vol. 38, no. 8, pp. 114–117, Apr. 19, 1965.</a:t>
            </a:r>
          </a:p>
          <a:p>
            <a:pPr marL="0" indent="0">
              <a:buNone/>
            </a:pPr>
            <a:r>
              <a:rPr lang="en-US" sz="1800" dirty="0"/>
              <a:t>[3] Moore’s Law: The potential limits and breakthroughs,” ResearchGate, Oct. 2023. [Online]. Available: https://</a:t>
            </a:r>
            <a:r>
              <a:rPr lang="en-US" sz="1800" dirty="0">
                <a:hlinkClick r:id="rId3"/>
              </a:rPr>
              <a:t>www.researchgate.net</a:t>
            </a:r>
            <a:r>
              <a:rPr lang="en-US" sz="1800" dirty="0"/>
              <a:t>. . [Accessed: Mar. 14, 2026].</a:t>
            </a:r>
          </a:p>
          <a:p>
            <a:pPr marL="0" indent="0">
              <a:buNone/>
            </a:pPr>
            <a:r>
              <a:rPr lang="en-US" sz="1800" dirty="0"/>
              <a:t>[4] R. H. Dennard, F. H. </a:t>
            </a:r>
            <a:r>
              <a:rPr lang="en-US" sz="1800" dirty="0" err="1"/>
              <a:t>Gaensslen</a:t>
            </a:r>
            <a:r>
              <a:rPr lang="en-US" sz="1800" dirty="0"/>
              <a:t>, H.-N. Yu, V. L. Rideout, E. </a:t>
            </a:r>
            <a:r>
              <a:rPr lang="en-US" sz="1800" dirty="0" err="1"/>
              <a:t>Bassous</a:t>
            </a:r>
            <a:r>
              <a:rPr lang="en-US" sz="1800" dirty="0"/>
              <a:t>, and A. R. LeBlanc, “Design of ion-implanted MOSFET’s with very small physical dimensions,” IEEE Journal of Solid-State Circuits, vol. 9, no. 5, pp. 256–268, Oct. 1974, </a:t>
            </a:r>
            <a:r>
              <a:rPr lang="en-US" sz="1800" dirty="0" err="1"/>
              <a:t>doi</a:t>
            </a:r>
            <a:r>
              <a:rPr lang="en-US" sz="1800" dirty="0"/>
              <a:t>: 10.1109/JSSC.1974.1050511.</a:t>
            </a:r>
          </a:p>
          <a:p>
            <a:pPr marL="0" indent="0">
              <a:buNone/>
            </a:pPr>
            <a:r>
              <a:rPr lang="en-US" sz="1800" dirty="0"/>
              <a:t>[5] V. </a:t>
            </a:r>
            <a:r>
              <a:rPr lang="en-US" sz="1800" dirty="0" err="1"/>
              <a:t>Sekar</a:t>
            </a:r>
            <a:r>
              <a:rPr lang="en-US" sz="1800" dirty="0"/>
              <a:t>, “How Dennard Scaling Allowed Transistors to Shrink,” Vik’s Newsletter, Jan. 13, 2025. [Online]. Available: https://</a:t>
            </a:r>
            <a:r>
              <a:rPr lang="en-US" sz="1800" dirty="0">
                <a:hlinkClick r:id="rId4"/>
              </a:rPr>
              <a:t>www.viksnewsletter.com</a:t>
            </a:r>
            <a:r>
              <a:rPr lang="en-US" sz="1800" dirty="0"/>
              <a:t>. . [Accessed: Mar. 15, 2026].</a:t>
            </a:r>
          </a:p>
        </p:txBody>
      </p:sp>
      <p:sp>
        <p:nvSpPr>
          <p:cNvPr id="5" name="Footer Placeholder 4">
            <a:extLst>
              <a:ext uri="{FF2B5EF4-FFF2-40B4-BE49-F238E27FC236}">
                <a16:creationId xmlns:a16="http://schemas.microsoft.com/office/drawing/2014/main" id="{773A9E25-B219-4F14-966C-D7C12875EC48}"/>
              </a:ext>
            </a:extLst>
          </p:cNvPr>
          <p:cNvSpPr>
            <a:spLocks noGrp="1"/>
          </p:cNvSpPr>
          <p:nvPr>
            <p:ph type="ftr" sz="quarter" idx="11"/>
          </p:nvPr>
        </p:nvSpPr>
        <p:spPr/>
        <p:txBody>
          <a:bodyPr/>
          <a:lstStyle/>
          <a:p>
            <a:r>
              <a:rPr lang="en-US"/>
              <a:t>EEE 413</a:t>
            </a:r>
          </a:p>
        </p:txBody>
      </p:sp>
      <p:sp>
        <p:nvSpPr>
          <p:cNvPr id="4" name="Slide Number Placeholder 3">
            <a:extLst>
              <a:ext uri="{FF2B5EF4-FFF2-40B4-BE49-F238E27FC236}">
                <a16:creationId xmlns:a16="http://schemas.microsoft.com/office/drawing/2014/main" id="{692CE8BE-CBD3-40FF-B1AF-505E5B9C5A01}"/>
              </a:ext>
            </a:extLst>
          </p:cNvPr>
          <p:cNvSpPr>
            <a:spLocks noGrp="1"/>
          </p:cNvSpPr>
          <p:nvPr>
            <p:ph type="sldNum" sz="quarter" idx="12"/>
          </p:nvPr>
        </p:nvSpPr>
        <p:spPr/>
        <p:txBody>
          <a:bodyPr/>
          <a:lstStyle/>
          <a:p>
            <a:fld id="{B7F31ED2-E7D6-4EC4-9705-587D9B1FBC70}" type="slidenum">
              <a:rPr lang="en-US" smtClean="0"/>
              <a:t>15</a:t>
            </a:fld>
            <a:endParaRPr lang="en-US"/>
          </a:p>
        </p:txBody>
      </p:sp>
    </p:spTree>
    <p:extLst>
      <p:ext uri="{BB962C8B-B14F-4D97-AF65-F5344CB8AC3E}">
        <p14:creationId xmlns:p14="http://schemas.microsoft.com/office/powerpoint/2010/main" val="4256172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C723239-B68F-4BE4-A650-6E4FB5862C82}"/>
              </a:ext>
            </a:extLst>
          </p:cNvPr>
          <p:cNvSpPr>
            <a:spLocks noGrp="1"/>
          </p:cNvSpPr>
          <p:nvPr>
            <p:ph type="ftr" sz="quarter" idx="11"/>
          </p:nvPr>
        </p:nvSpPr>
        <p:spPr/>
        <p:txBody>
          <a:bodyPr/>
          <a:lstStyle/>
          <a:p>
            <a:r>
              <a:rPr lang="en-US"/>
              <a:t>EEE 413</a:t>
            </a:r>
          </a:p>
        </p:txBody>
      </p:sp>
      <p:sp>
        <p:nvSpPr>
          <p:cNvPr id="3" name="Slide Number Placeholder 2">
            <a:extLst>
              <a:ext uri="{FF2B5EF4-FFF2-40B4-BE49-F238E27FC236}">
                <a16:creationId xmlns:a16="http://schemas.microsoft.com/office/drawing/2014/main" id="{715A76EF-4C4D-4B28-B1CD-880528EAFF6B}"/>
              </a:ext>
            </a:extLst>
          </p:cNvPr>
          <p:cNvSpPr>
            <a:spLocks noGrp="1"/>
          </p:cNvSpPr>
          <p:nvPr>
            <p:ph type="sldNum" sz="quarter" idx="12"/>
          </p:nvPr>
        </p:nvSpPr>
        <p:spPr/>
        <p:txBody>
          <a:bodyPr/>
          <a:lstStyle/>
          <a:p>
            <a:fld id="{B7F31ED2-E7D6-4EC4-9705-587D9B1FBC70}" type="slidenum">
              <a:rPr lang="en-US" smtClean="0"/>
              <a:t>16</a:t>
            </a:fld>
            <a:endParaRPr lang="en-US"/>
          </a:p>
        </p:txBody>
      </p:sp>
      <p:sp>
        <p:nvSpPr>
          <p:cNvPr id="4" name="TextBox 3">
            <a:extLst>
              <a:ext uri="{FF2B5EF4-FFF2-40B4-BE49-F238E27FC236}">
                <a16:creationId xmlns:a16="http://schemas.microsoft.com/office/drawing/2014/main" id="{BC48908F-14D8-4678-9642-2735FE28AC0B}"/>
              </a:ext>
            </a:extLst>
          </p:cNvPr>
          <p:cNvSpPr txBox="1"/>
          <p:nvPr/>
        </p:nvSpPr>
        <p:spPr>
          <a:xfrm>
            <a:off x="2011680" y="2321004"/>
            <a:ext cx="8366760" cy="2215991"/>
          </a:xfrm>
          <a:prstGeom prst="rect">
            <a:avLst/>
          </a:prstGeom>
          <a:noFill/>
        </p:spPr>
        <p:txBody>
          <a:bodyPr wrap="square" rtlCol="0">
            <a:spAutoFit/>
          </a:bodyPr>
          <a:lstStyle/>
          <a:p>
            <a:r>
              <a:rPr lang="en-US" sz="13800" b="1" dirty="0"/>
              <a:t>Thank You!</a:t>
            </a:r>
          </a:p>
        </p:txBody>
      </p:sp>
    </p:spTree>
    <p:extLst>
      <p:ext uri="{BB962C8B-B14F-4D97-AF65-F5344CB8AC3E}">
        <p14:creationId xmlns:p14="http://schemas.microsoft.com/office/powerpoint/2010/main" val="59935711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2D652952D9C6846A5977B8F3F4A893E" ma:contentTypeVersion="10" ma:contentTypeDescription="Create a new document." ma:contentTypeScope="" ma:versionID="6255e28231222f0c0acd7b465adb408e">
  <xsd:schema xmlns:xsd="http://www.w3.org/2001/XMLSchema" xmlns:xs="http://www.w3.org/2001/XMLSchema" xmlns:p="http://schemas.microsoft.com/office/2006/metadata/properties" xmlns:ns3="077b9d80-1836-41e1-bf0c-b29a7ccbd2f1" targetNamespace="http://schemas.microsoft.com/office/2006/metadata/properties" ma:root="true" ma:fieldsID="96a7d5019f690ca4dc4b816ba777d6f6" ns3:_="">
    <xsd:import namespace="077b9d80-1836-41e1-bf0c-b29a7ccbd2f1"/>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SearchPropertie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7b9d80-1836-41e1-bf0c-b29a7ccbd2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_activity" ma:index="16" nillable="true" ma:displayName="_activity" ma:hidden="true" ma:internalName="_activity">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77b9d80-1836-41e1-bf0c-b29a7ccbd2f1" xsi:nil="true"/>
  </documentManagement>
</p:properties>
</file>

<file path=customXml/itemProps1.xml><?xml version="1.0" encoding="utf-8"?>
<ds:datastoreItem xmlns:ds="http://schemas.openxmlformats.org/officeDocument/2006/customXml" ds:itemID="{CB1C5947-56FF-41A7-9248-71FF22B7E3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7b9d80-1836-41e1-bf0c-b29a7ccbd2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88E204-54DE-488F-95C2-6B2F62007268}">
  <ds:schemaRefs>
    <ds:schemaRef ds:uri="http://schemas.microsoft.com/sharepoint/v3/contenttype/forms"/>
  </ds:schemaRefs>
</ds:datastoreItem>
</file>

<file path=customXml/itemProps3.xml><?xml version="1.0" encoding="utf-8"?>
<ds:datastoreItem xmlns:ds="http://schemas.openxmlformats.org/officeDocument/2006/customXml" ds:itemID="{1DDEC26F-AD85-466B-859A-E7725255529B}">
  <ds:schemaRefs>
    <ds:schemaRef ds:uri="http://schemas.microsoft.com/office/2006/documentManagement/types"/>
    <ds:schemaRef ds:uri="http://purl.org/dc/elements/1.1/"/>
    <ds:schemaRef ds:uri="http://www.w3.org/XML/1998/namespace"/>
    <ds:schemaRef ds:uri="http://purl.org/dc/dcmitype/"/>
    <ds:schemaRef ds:uri="http://schemas.microsoft.com/office/2006/metadata/properties"/>
    <ds:schemaRef ds:uri="http://schemas.microsoft.com/office/infopath/2007/PartnerControls"/>
    <ds:schemaRef ds:uri="http://schemas.openxmlformats.org/package/2006/metadata/core-properties"/>
    <ds:schemaRef ds:uri="077b9d80-1836-41e1-bf0c-b29a7ccbd2f1"/>
    <ds:schemaRef ds:uri="http://purl.org/dc/terms/"/>
  </ds:schemaRefs>
</ds:datastoreItem>
</file>

<file path=docProps/app.xml><?xml version="1.0" encoding="utf-8"?>
<Properties xmlns="http://schemas.openxmlformats.org/officeDocument/2006/extended-properties" xmlns:vt="http://schemas.openxmlformats.org/officeDocument/2006/docPropsVTypes">
  <Template>Retrospect</Template>
  <TotalTime>3399</TotalTime>
  <Words>1247</Words>
  <Application>Microsoft Office PowerPoint</Application>
  <PresentationFormat>Widescreen</PresentationFormat>
  <Paragraphs>178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 Math</vt:lpstr>
      <vt:lpstr>Wingdings</vt:lpstr>
      <vt:lpstr>Office Theme</vt:lpstr>
      <vt:lpstr>PowerPoint Presentation</vt:lpstr>
      <vt:lpstr>Table of Content</vt:lpstr>
      <vt:lpstr>Modern electronic systems rely on Integrated Circuits (ICs)</vt:lpstr>
      <vt:lpstr>The Moore’s Law: </vt:lpstr>
      <vt:lpstr>Moore’s Original Observation (1965)</vt:lpstr>
      <vt:lpstr>Moore’s Law and Transistor count over the years.</vt:lpstr>
      <vt:lpstr>Key Innovations That Sustained Moore’s Law</vt:lpstr>
      <vt:lpstr>Is Moore’s Law Still Valid Today?</vt:lpstr>
      <vt:lpstr>The Challenge of Scaling Transistors</vt:lpstr>
      <vt:lpstr>Dennard’s Law (Dennard Scaling)</vt:lpstr>
      <vt:lpstr>Original Idea Of Dennard Law</vt:lpstr>
      <vt:lpstr>Dennard’s Law Scaling </vt:lpstr>
      <vt:lpstr>Breakdown of Dennard Scaling</vt:lpstr>
      <vt:lpstr>Conclusion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Niaz Morshed Razon</dc:creator>
  <cp:lastModifiedBy>Md. Niaz Morshed Razon</cp:lastModifiedBy>
  <cp:revision>15</cp:revision>
  <dcterms:created xsi:type="dcterms:W3CDTF">2026-03-07T16:01:50Z</dcterms:created>
  <dcterms:modified xsi:type="dcterms:W3CDTF">2026-04-06T19:07:03Z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0x010100F2D652952D9C6846A5977B8F3F4A893E</vt:lpwstr>
  </property>
</Properties>
</file>